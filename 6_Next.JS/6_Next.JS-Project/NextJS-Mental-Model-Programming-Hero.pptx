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not a new tutorial. You already learned the pieces. Today we connect them into one mental model. Keep the six chips on the right in mind: every concept today sits somewhere on that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questions are our lens for the whole session. Every time we meet a new concept, ask: where does it happen, when does it happen, why does Next.js do it this way, and how does it connect to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is a library for building user interfaces. To ship a real product you need a router, server rendering, bundling, image handling and more. With plain React you pick and wire each piece yourself. Next.js is a framework on top of React that bundles good defaults for all of it. It does not replace React: your components are still React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 over configuration: put a file in the right place and it works. Server-first: do the heavy work on the server and send the browser less. Fast by default: performance and developer experience are built in, not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tree top to bottom. The app folder is where routes live. page.tsx makes a route visible. layout.tsx wraps pages. Components are plain reusable pieces that are not routes. public serves static files as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 is the file system. A folder with a page.tsx becomes a URL. Nested folders become nested routes. No route table to maintain. Click through the rows: each file on the left is exactly one URL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normal anchor tag asks the server for a whole new page and the browser reloads everything. The Link component intercepts the click, fetches only what is new, and swaps just the page part. Layouts and state stay. It also prefetches links that are visible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create a dynamic segment. The folder name in brackets is a variable. Any URL that matches the shape is handled by the same page file, and the value arrives as params. In current Next.js, params is a promise, so we await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Layouts nest exactly like the folders. The root layout wraps everything. The dashboard layout wraps only routes inside the dashboard folder. The page is the innermost piece. Then the key point: when you navigate to a sibling page like /dashboard/profile, the layouts stay and keep their state. Only the page swaps.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in the App Router is the Server Component. It runs on the server, can fetch data directly and sends HTML. A Client Component opts in with use client. It runs in the browser too, so it can use state, effects and events, but its JavaScript is shipped to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test: does this component need state, an event handler, or a browser-only API? If yes, it is a Client Component. If not, leave it alone and it stays a Server Component. And keep the client part as small as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go deep. For code splitting, one sentence: without it the browser downloads code for every page up front; with it, each route sends only its own chunk. The message: these are performance chores you would otherwise do by hand. next/image resizes and lazy loads, next/font self-hosts fonts and prevents layout jumps, next/script controls when third-party scripts load, and code splitting sends each route only its own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heart of the session. Everything before this is about structure. From here we ask where and when the page is actually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Rendering means turning your React components into HTML the browser can show. There are two questions: where does it happen, on the server or in the browser, and when, at build time or at request time. CSR, SSR, SSG and ISR are simply the different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sends a nearly empty HTML shell and a JavaScript bundle. The browser runs the JavaScript, fetches data, and builds the UI. Good for private, highly interactive screens. The trade-off is the blank first paint and more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every request the server fetches data, renders the HTML, and sends a complete page. The user sees content immediately. Then JavaScript loads and hydrates the page, which means it attaches interactivity. Great for personalized or frequently changing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Pages are rendered once at build time and saved as HTML files. At request time the server or CDN just hands over a ready-made file, with no rendering work. It is the fastest option, but the content is only as fresh as the last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ISR gives static speed with periodic freshness. The page is built once. After the revalidate window passes, the next visitor still gets the old page instantly, and that visit triggers regeneration in the background. Then later visitors get the new version. No full rebuild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it all on one map. Each cell also says what it is best for. Rows are where, columns are when. Static generation and incremental regeneration live in the build-time area on the server. SSR is server at request time. CSR is the browser at request time. Notice the trade: earlier means faster, later means fresher.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and usually best place to fetch is inside a Server Component. It is close to the data source, secrets stay on the server, and the HTML arrives with the data already in it. Fetch on the client only when the user drives the request: typing, clicking, or live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connection. Rendering and data fetching are not separate features. How your data behaves, how often it changes and whether it is per user, decides what rendering strategy you end up with. Same page, different data needs, different rendering.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Caching means saving the result of expensive work so we do not repeat it. First visit is a miss: go to the slow source, save a copy, respond. Later visits are hits: the saved copy comes back immediately. The timings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travels down through layers, and each layer can answer early. The browser may already have the page. A static or ISR page may already be saved as HTML. The data from a fetch may already be saved. Only if everything misses do we go to the database or API. This is how caching connects to both rendering and data fetching.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dynamic route like products slash id has unknown values. At build time Next.js cannot guess which ids exist. generateStaticParams is how you tell it: return the list of params, and Next.js builds a static page for each. If a visitor asks for an id that was not in the list, it is rendered on first request and then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Suspense, one slow query holds back the whole page. A Suspense boundary marks the slow part and gives a fallback, so everything else can show right away. loading.tsx does the same at the route level, automatically wrapping the page in a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Streaming sends the page in pieces. First the shell with fallbacks, then the fast content, then the slow content replaces its fallback. The total work is similar, but users see something useful sooner. That is perceived performance, and it is progressive rendering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story in one line. Routing picks the page. Components decide server or client. Rendering decides where and when HTML is produced. Data fetching feeds it. Caching saves the results. All of it serves one goal: the user experience. Walk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trace one real request through everything we learned. The URL matches the dynamic route. Layouts wrap it. It is a Server Component that fetches the product. Because of generateStaticParams it was built ahead, and revalidate keeps it fresh. The result is cached. Slow reviews stream in through Suspense. And the add to cart button is a small client island.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takeaway to keep. Six questions, six decisions. When you build a new feature in a real project, walk through them in order. They map to everything we covered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tagline. Encourage students to use the four questions in their next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slideLayout" Target="../slideLayouts/slideLayout1.xml"/><Relationship Id="rId1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1.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jpe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jpe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PH-Full-Logo-Glow.png">    </p:cNvPr>
          <p:cNvPicPr>
            <a:picLocks noChangeAspect="1"/>
          </p:cNvPicPr>
          <p:nvPr/>
        </p:nvPicPr>
        <p:blipFill>
          <a:blip r:embed="rId2"/>
          <a:stretch>
            <a:fillRect/>
          </a:stretch>
        </p:blipFill>
        <p:spPr>
          <a:xfrm>
            <a:off x="502920" y="457200"/>
            <a:ext cx="2651760" cy="847649"/>
          </a:xfrm>
          <a:prstGeom prst="rect">
            <a:avLst/>
          </a:prstGeom>
        </p:spPr>
      </p:pic>
      <p:sp>
        <p:nvSpPr>
          <p:cNvPr id="3" name="Text 0"/>
          <p:cNvSpPr txBox="1"/>
          <p:nvPr/>
        </p:nvSpPr>
        <p:spPr>
          <a:xfrm>
            <a:off x="548640" y="1874520"/>
            <a:ext cx="7315200" cy="274320"/>
          </a:xfrm>
          <a:prstGeom prst="rect">
            <a:avLst/>
          </a:prstGeom>
          <a:noFill/>
          <a:ln/>
        </p:spPr>
        <p:txBody>
          <a:bodyPr wrap="square" lIns="0" tIns="0" rIns="0" bIns="0" rtlCol="0" anchor="t"/>
          <a:lstStyle/>
          <a:p>
            <a:pPr indent="0" marL="0">
              <a:buNone/>
            </a:pPr>
            <a:r>
              <a:rPr lang="en-US" sz="1300" b="1" spc="300" kern="0" dirty="0">
                <a:solidFill>
                  <a:srgbClr val="E64BDA"/>
                </a:solidFill>
                <a:latin typeface="Calibri" pitchFamily="34" charset="0"/>
                <a:ea typeface="Calibri" pitchFamily="34" charset="-122"/>
                <a:cs typeface="Calibri" pitchFamily="34" charset="-120"/>
              </a:rPr>
              <a:t>CONCEPTUAL SESSION  |  NEXT.JS MODULE RECAP</a:t>
            </a:r>
            <a:endParaRPr lang="en-US" sz="1300" dirty="0"/>
          </a:p>
        </p:txBody>
      </p:sp>
      <p:sp>
        <p:nvSpPr>
          <p:cNvPr id="4" name="Text 1"/>
          <p:cNvSpPr txBox="1"/>
          <p:nvPr/>
        </p:nvSpPr>
        <p:spPr>
          <a:xfrm>
            <a:off x="548640" y="2286000"/>
            <a:ext cx="7223760" cy="2103120"/>
          </a:xfrm>
          <a:prstGeom prst="rect">
            <a:avLst/>
          </a:prstGeom>
          <a:noFill/>
          <a:ln/>
        </p:spPr>
        <p:txBody>
          <a:bodyPr wrap="square" lIns="0" tIns="0" rIns="0" bIns="0" rtlCol="0" anchor="t"/>
          <a:lstStyle/>
          <a:p>
            <a:pPr indent="0" marL="0">
              <a:buNone/>
            </a:pPr>
            <a:r>
              <a:rPr lang="en-US" sz="6000" b="1" dirty="0">
                <a:solidFill>
                  <a:srgbClr val="F4F3FF"/>
                </a:solidFill>
                <a:latin typeface="Calibri" pitchFamily="34" charset="0"/>
                <a:ea typeface="Calibri" pitchFamily="34" charset="-122"/>
                <a:cs typeface="Calibri" pitchFamily="34" charset="-120"/>
              </a:rPr>
              <a:t>Next.js,</a:t>
            </a:r>
            <a:endParaRPr lang="en-US" sz="6000" dirty="0"/>
          </a:p>
          <a:p>
            <a:pPr indent="0" marL="0">
              <a:buNone/>
            </a:pPr>
            <a:r>
              <a:rPr lang="en-US" sz="6000" b="1" dirty="0">
                <a:solidFill>
                  <a:srgbClr val="B7AEFF"/>
                </a:solidFill>
                <a:latin typeface="Calibri" pitchFamily="34" charset="0"/>
                <a:ea typeface="Calibri" pitchFamily="34" charset="-122"/>
                <a:cs typeface="Calibri" pitchFamily="34" charset="-120"/>
              </a:rPr>
              <a:t>the mental model</a:t>
            </a:r>
            <a:endParaRPr lang="en-US" sz="6000" dirty="0"/>
          </a:p>
        </p:txBody>
      </p:sp>
      <p:sp>
        <p:nvSpPr>
          <p:cNvPr id="5" name="Text 2"/>
          <p:cNvSpPr txBox="1"/>
          <p:nvPr/>
        </p:nvSpPr>
        <p:spPr>
          <a:xfrm>
            <a:off x="548640" y="4526280"/>
            <a:ext cx="6400800" cy="822960"/>
          </a:xfrm>
          <a:prstGeom prst="rect">
            <a:avLst/>
          </a:prstGeom>
          <a:noFill/>
          <a:ln/>
        </p:spPr>
        <p:txBody>
          <a:bodyPr wrap="square" lIns="0" tIns="0" rIns="0" bIns="0" rtlCol="0" anchor="t"/>
          <a:lstStyle/>
          <a:p>
            <a:pPr indent="0" marL="0">
              <a:buNone/>
            </a:pPr>
            <a:r>
              <a:rPr lang="en-US" sz="2000" dirty="0">
                <a:solidFill>
                  <a:srgbClr val="A8A5D8"/>
                </a:solidFill>
                <a:latin typeface="Calibri" pitchFamily="34" charset="0"/>
                <a:ea typeface="Calibri" pitchFamily="34" charset="-122"/>
                <a:cs typeface="Calibri" pitchFamily="34" charset="-120"/>
              </a:rPr>
              <a:t>How routing, components, rendering, data, caching and streaming fit together into one story.</a:t>
            </a:r>
            <a:endParaRPr lang="en-US" sz="2000" dirty="0"/>
          </a:p>
        </p:txBody>
      </p:sp>
      <p:sp>
        <p:nvSpPr>
          <p:cNvPr id="6" name="Shape 3"/>
          <p:cNvSpPr/>
          <p:nvPr/>
        </p:nvSpPr>
        <p:spPr>
          <a:xfrm>
            <a:off x="8229600" y="1143000"/>
            <a:ext cx="3429000" cy="566928"/>
          </a:xfrm>
          <a:prstGeom prst="roundRect">
            <a:avLst>
              <a:gd name="adj" fmla="val 22581"/>
            </a:avLst>
          </a:prstGeom>
          <a:solidFill>
            <a:srgbClr val="17143F"/>
          </a:solidFill>
          <a:ln w="12700">
            <a:solidFill>
              <a:srgbClr val="8B7CFF"/>
            </a:solidFill>
            <a:prstDash val="solid"/>
          </a:ln>
        </p:spPr>
      </p:sp>
      <p:sp>
        <p:nvSpPr>
          <p:cNvPr id="7" name="Shape 4"/>
          <p:cNvSpPr/>
          <p:nvPr/>
        </p:nvSpPr>
        <p:spPr>
          <a:xfrm>
            <a:off x="8394192" y="1225296"/>
            <a:ext cx="402336" cy="402336"/>
          </a:xfrm>
          <a:prstGeom prst="ellipse">
            <a:avLst/>
          </a:prstGeom>
          <a:solidFill>
            <a:srgbClr val="221E58"/>
          </a:solidFill>
          <a:ln w="15875">
            <a:solidFill>
              <a:srgbClr val="8B7CFF"/>
            </a:solidFill>
            <a:prstDash val="solid"/>
          </a:ln>
        </p:spPr>
      </p:sp>
      <p:pic>
        <p:nvPicPr>
          <p:cNvPr id="8" name="Image 1" descr="preencoded.png">    </p:cNvPr>
          <p:cNvPicPr>
            <a:picLocks noChangeAspect="1"/>
          </p:cNvPicPr>
          <p:nvPr/>
        </p:nvPicPr>
        <p:blipFill>
          <a:blip r:embed="rId3"/>
          <a:stretch>
            <a:fillRect/>
          </a:stretch>
        </p:blipFill>
        <p:spPr>
          <a:xfrm>
            <a:off x="8494776" y="1325880"/>
            <a:ext cx="201168" cy="201168"/>
          </a:xfrm>
          <a:prstGeom prst="rect">
            <a:avLst/>
          </a:prstGeom>
        </p:spPr>
      </p:pic>
      <p:sp>
        <p:nvSpPr>
          <p:cNvPr id="9" name="Text 5"/>
          <p:cNvSpPr txBox="1"/>
          <p:nvPr/>
        </p:nvSpPr>
        <p:spPr>
          <a:xfrm>
            <a:off x="8961120" y="1143000"/>
            <a:ext cx="2651760" cy="566928"/>
          </a:xfrm>
          <a:prstGeom prst="rect">
            <a:avLst/>
          </a:prstGeom>
          <a:noFill/>
          <a:ln/>
        </p:spPr>
        <p:txBody>
          <a:bodyPr wrap="square" lIns="0" tIns="0" rIns="0" bIns="0" rtlCol="0" anchor="ctr"/>
          <a:lstStyle/>
          <a:p>
            <a:pPr indent="0" marL="0">
              <a:buNone/>
            </a:pPr>
            <a:r>
              <a:rPr lang="en-US" sz="1600" b="1" dirty="0">
                <a:solidFill>
                  <a:srgbClr val="F4F3FF"/>
                </a:solidFill>
                <a:latin typeface="Calibri" pitchFamily="34" charset="0"/>
                <a:ea typeface="Calibri" pitchFamily="34" charset="-122"/>
                <a:cs typeface="Calibri" pitchFamily="34" charset="-120"/>
              </a:rPr>
              <a:t>Routing</a:t>
            </a:r>
            <a:endParaRPr lang="en-US" sz="1600" dirty="0"/>
          </a:p>
        </p:txBody>
      </p:sp>
      <p:sp>
        <p:nvSpPr>
          <p:cNvPr id="10" name="Shape 6"/>
          <p:cNvSpPr/>
          <p:nvPr/>
        </p:nvSpPr>
        <p:spPr>
          <a:xfrm>
            <a:off x="8595360" y="1709928"/>
            <a:ext cx="0" cy="182880"/>
          </a:xfrm>
          <a:prstGeom prst="line">
            <a:avLst/>
          </a:prstGeom>
          <a:noFill/>
          <a:ln w="25400">
            <a:solidFill>
              <a:srgbClr val="3A3580"/>
            </a:solidFill>
            <a:prstDash val="solid"/>
          </a:ln>
        </p:spPr>
      </p:sp>
      <p:sp>
        <p:nvSpPr>
          <p:cNvPr id="11" name="Shape 7"/>
          <p:cNvSpPr/>
          <p:nvPr/>
        </p:nvSpPr>
        <p:spPr>
          <a:xfrm>
            <a:off x="8229600" y="1892808"/>
            <a:ext cx="3429000" cy="566928"/>
          </a:xfrm>
          <a:prstGeom prst="roundRect">
            <a:avLst>
              <a:gd name="adj" fmla="val 22581"/>
            </a:avLst>
          </a:prstGeom>
          <a:solidFill>
            <a:srgbClr val="17143F"/>
          </a:solidFill>
          <a:ln w="12700">
            <a:solidFill>
              <a:srgbClr val="8B7CFF"/>
            </a:solidFill>
            <a:prstDash val="solid"/>
          </a:ln>
        </p:spPr>
      </p:sp>
      <p:sp>
        <p:nvSpPr>
          <p:cNvPr id="12" name="Shape 8"/>
          <p:cNvSpPr/>
          <p:nvPr/>
        </p:nvSpPr>
        <p:spPr>
          <a:xfrm>
            <a:off x="8394192" y="1975104"/>
            <a:ext cx="402336" cy="402336"/>
          </a:xfrm>
          <a:prstGeom prst="ellipse">
            <a:avLst/>
          </a:prstGeom>
          <a:solidFill>
            <a:srgbClr val="221E58"/>
          </a:solidFill>
          <a:ln w="15875">
            <a:solidFill>
              <a:srgbClr val="8B7CFF"/>
            </a:solidFill>
            <a:prstDash val="solid"/>
          </a:ln>
        </p:spPr>
      </p:sp>
      <p:pic>
        <p:nvPicPr>
          <p:cNvPr id="13" name="Image 2" descr="preencoded.png">    </p:cNvPr>
          <p:cNvPicPr>
            <a:picLocks noChangeAspect="1"/>
          </p:cNvPicPr>
          <p:nvPr/>
        </p:nvPicPr>
        <p:blipFill>
          <a:blip r:embed="rId4"/>
          <a:stretch>
            <a:fillRect/>
          </a:stretch>
        </p:blipFill>
        <p:spPr>
          <a:xfrm>
            <a:off x="8494776" y="2075688"/>
            <a:ext cx="201168" cy="201168"/>
          </a:xfrm>
          <a:prstGeom prst="rect">
            <a:avLst/>
          </a:prstGeom>
        </p:spPr>
      </p:pic>
      <p:sp>
        <p:nvSpPr>
          <p:cNvPr id="14" name="Text 9"/>
          <p:cNvSpPr txBox="1"/>
          <p:nvPr/>
        </p:nvSpPr>
        <p:spPr>
          <a:xfrm>
            <a:off x="8961120" y="1892808"/>
            <a:ext cx="2651760" cy="566928"/>
          </a:xfrm>
          <a:prstGeom prst="rect">
            <a:avLst/>
          </a:prstGeom>
          <a:noFill/>
          <a:ln/>
        </p:spPr>
        <p:txBody>
          <a:bodyPr wrap="square" lIns="0" tIns="0" rIns="0" bIns="0" rtlCol="0" anchor="ctr"/>
          <a:lstStyle/>
          <a:p>
            <a:pPr indent="0" marL="0">
              <a:buNone/>
            </a:pPr>
            <a:r>
              <a:rPr lang="en-US" sz="1600" b="1" dirty="0">
                <a:solidFill>
                  <a:srgbClr val="F4F3FF"/>
                </a:solidFill>
                <a:latin typeface="Calibri" pitchFamily="34" charset="0"/>
                <a:ea typeface="Calibri" pitchFamily="34" charset="-122"/>
                <a:cs typeface="Calibri" pitchFamily="34" charset="-120"/>
              </a:rPr>
              <a:t>Components</a:t>
            </a:r>
            <a:endParaRPr lang="en-US" sz="1600" dirty="0"/>
          </a:p>
        </p:txBody>
      </p:sp>
      <p:sp>
        <p:nvSpPr>
          <p:cNvPr id="15" name="Shape 10"/>
          <p:cNvSpPr/>
          <p:nvPr/>
        </p:nvSpPr>
        <p:spPr>
          <a:xfrm>
            <a:off x="8595360" y="2459736"/>
            <a:ext cx="0" cy="182880"/>
          </a:xfrm>
          <a:prstGeom prst="line">
            <a:avLst/>
          </a:prstGeom>
          <a:noFill/>
          <a:ln w="25400">
            <a:solidFill>
              <a:srgbClr val="3A3580"/>
            </a:solidFill>
            <a:prstDash val="solid"/>
          </a:ln>
        </p:spPr>
      </p:sp>
      <p:sp>
        <p:nvSpPr>
          <p:cNvPr id="16" name="Shape 11"/>
          <p:cNvSpPr/>
          <p:nvPr/>
        </p:nvSpPr>
        <p:spPr>
          <a:xfrm>
            <a:off x="8229600" y="2642616"/>
            <a:ext cx="3429000" cy="566928"/>
          </a:xfrm>
          <a:prstGeom prst="roundRect">
            <a:avLst>
              <a:gd name="adj" fmla="val 22581"/>
            </a:avLst>
          </a:prstGeom>
          <a:solidFill>
            <a:srgbClr val="17143F"/>
          </a:solidFill>
          <a:ln w="12700">
            <a:solidFill>
              <a:srgbClr val="22D3EE"/>
            </a:solidFill>
            <a:prstDash val="solid"/>
          </a:ln>
        </p:spPr>
      </p:sp>
      <p:sp>
        <p:nvSpPr>
          <p:cNvPr id="17" name="Shape 12"/>
          <p:cNvSpPr/>
          <p:nvPr/>
        </p:nvSpPr>
        <p:spPr>
          <a:xfrm>
            <a:off x="8394192" y="2724912"/>
            <a:ext cx="402336" cy="402336"/>
          </a:xfrm>
          <a:prstGeom prst="ellipse">
            <a:avLst/>
          </a:prstGeom>
          <a:solidFill>
            <a:srgbClr val="221E58"/>
          </a:solidFill>
          <a:ln w="15875">
            <a:solidFill>
              <a:srgbClr val="22D3EE"/>
            </a:solidFill>
            <a:prstDash val="solid"/>
          </a:ln>
        </p:spPr>
      </p:sp>
      <p:pic>
        <p:nvPicPr>
          <p:cNvPr id="18" name="Image 3" descr="preencoded.png">    </p:cNvPr>
          <p:cNvPicPr>
            <a:picLocks noChangeAspect="1"/>
          </p:cNvPicPr>
          <p:nvPr/>
        </p:nvPicPr>
        <p:blipFill>
          <a:blip r:embed="rId5"/>
          <a:stretch>
            <a:fillRect/>
          </a:stretch>
        </p:blipFill>
        <p:spPr>
          <a:xfrm>
            <a:off x="8494776" y="2825496"/>
            <a:ext cx="201168" cy="201168"/>
          </a:xfrm>
          <a:prstGeom prst="rect">
            <a:avLst/>
          </a:prstGeom>
        </p:spPr>
      </p:pic>
      <p:sp>
        <p:nvSpPr>
          <p:cNvPr id="19" name="Text 13"/>
          <p:cNvSpPr txBox="1"/>
          <p:nvPr/>
        </p:nvSpPr>
        <p:spPr>
          <a:xfrm>
            <a:off x="8961120" y="2642616"/>
            <a:ext cx="2651760" cy="566928"/>
          </a:xfrm>
          <a:prstGeom prst="rect">
            <a:avLst/>
          </a:prstGeom>
          <a:noFill/>
          <a:ln/>
        </p:spPr>
        <p:txBody>
          <a:bodyPr wrap="square" lIns="0" tIns="0" rIns="0" bIns="0" rtlCol="0" anchor="ctr"/>
          <a:lstStyle/>
          <a:p>
            <a:pPr indent="0" marL="0">
              <a:buNone/>
            </a:pPr>
            <a:r>
              <a:rPr lang="en-US" sz="1600" b="1" dirty="0">
                <a:solidFill>
                  <a:srgbClr val="F4F3FF"/>
                </a:solidFill>
                <a:latin typeface="Calibri" pitchFamily="34" charset="0"/>
                <a:ea typeface="Calibri" pitchFamily="34" charset="-122"/>
                <a:cs typeface="Calibri" pitchFamily="34" charset="-120"/>
              </a:rPr>
              <a:t>Rendering</a:t>
            </a:r>
            <a:endParaRPr lang="en-US" sz="1600" dirty="0"/>
          </a:p>
        </p:txBody>
      </p:sp>
      <p:sp>
        <p:nvSpPr>
          <p:cNvPr id="20" name="Shape 14"/>
          <p:cNvSpPr/>
          <p:nvPr/>
        </p:nvSpPr>
        <p:spPr>
          <a:xfrm>
            <a:off x="8595360" y="3209544"/>
            <a:ext cx="0" cy="182880"/>
          </a:xfrm>
          <a:prstGeom prst="line">
            <a:avLst/>
          </a:prstGeom>
          <a:noFill/>
          <a:ln w="25400">
            <a:solidFill>
              <a:srgbClr val="3A3580"/>
            </a:solidFill>
            <a:prstDash val="solid"/>
          </a:ln>
        </p:spPr>
      </p:sp>
      <p:sp>
        <p:nvSpPr>
          <p:cNvPr id="21" name="Shape 15"/>
          <p:cNvSpPr/>
          <p:nvPr/>
        </p:nvSpPr>
        <p:spPr>
          <a:xfrm>
            <a:off x="8229600" y="3392424"/>
            <a:ext cx="3429000" cy="566928"/>
          </a:xfrm>
          <a:prstGeom prst="roundRect">
            <a:avLst>
              <a:gd name="adj" fmla="val 22581"/>
            </a:avLst>
          </a:prstGeom>
          <a:solidFill>
            <a:srgbClr val="17143F"/>
          </a:solidFill>
          <a:ln w="12700">
            <a:solidFill>
              <a:srgbClr val="22D3EE"/>
            </a:solidFill>
            <a:prstDash val="solid"/>
          </a:ln>
        </p:spPr>
      </p:sp>
      <p:sp>
        <p:nvSpPr>
          <p:cNvPr id="22" name="Shape 16"/>
          <p:cNvSpPr/>
          <p:nvPr/>
        </p:nvSpPr>
        <p:spPr>
          <a:xfrm>
            <a:off x="8394192" y="3474720"/>
            <a:ext cx="402336" cy="402336"/>
          </a:xfrm>
          <a:prstGeom prst="ellipse">
            <a:avLst/>
          </a:prstGeom>
          <a:solidFill>
            <a:srgbClr val="221E58"/>
          </a:solidFill>
          <a:ln w="15875">
            <a:solidFill>
              <a:srgbClr val="22D3EE"/>
            </a:solidFill>
            <a:prstDash val="solid"/>
          </a:ln>
        </p:spPr>
      </p:sp>
      <p:pic>
        <p:nvPicPr>
          <p:cNvPr id="23" name="Image 4" descr="preencoded.png">    </p:cNvPr>
          <p:cNvPicPr>
            <a:picLocks noChangeAspect="1"/>
          </p:cNvPicPr>
          <p:nvPr/>
        </p:nvPicPr>
        <p:blipFill>
          <a:blip r:embed="rId6"/>
          <a:stretch>
            <a:fillRect/>
          </a:stretch>
        </p:blipFill>
        <p:spPr>
          <a:xfrm>
            <a:off x="8494776" y="3575304"/>
            <a:ext cx="201168" cy="201168"/>
          </a:xfrm>
          <a:prstGeom prst="rect">
            <a:avLst/>
          </a:prstGeom>
        </p:spPr>
      </p:pic>
      <p:sp>
        <p:nvSpPr>
          <p:cNvPr id="24" name="Text 17"/>
          <p:cNvSpPr txBox="1"/>
          <p:nvPr/>
        </p:nvSpPr>
        <p:spPr>
          <a:xfrm>
            <a:off x="8961120" y="3392424"/>
            <a:ext cx="2651760" cy="566928"/>
          </a:xfrm>
          <a:prstGeom prst="rect">
            <a:avLst/>
          </a:prstGeom>
          <a:noFill/>
          <a:ln/>
        </p:spPr>
        <p:txBody>
          <a:bodyPr wrap="square" lIns="0" tIns="0" rIns="0" bIns="0" rtlCol="0" anchor="ctr"/>
          <a:lstStyle/>
          <a:p>
            <a:pPr indent="0" marL="0">
              <a:buNone/>
            </a:pPr>
            <a:r>
              <a:rPr lang="en-US" sz="1600" b="1" dirty="0">
                <a:solidFill>
                  <a:srgbClr val="F4F3FF"/>
                </a:solidFill>
                <a:latin typeface="Calibri" pitchFamily="34" charset="0"/>
                <a:ea typeface="Calibri" pitchFamily="34" charset="-122"/>
                <a:cs typeface="Calibri" pitchFamily="34" charset="-120"/>
              </a:rPr>
              <a:t>Data fetching</a:t>
            </a:r>
            <a:endParaRPr lang="en-US" sz="1600" dirty="0"/>
          </a:p>
        </p:txBody>
      </p:sp>
      <p:sp>
        <p:nvSpPr>
          <p:cNvPr id="25" name="Shape 18"/>
          <p:cNvSpPr/>
          <p:nvPr/>
        </p:nvSpPr>
        <p:spPr>
          <a:xfrm>
            <a:off x="8595360" y="3959352"/>
            <a:ext cx="0" cy="182880"/>
          </a:xfrm>
          <a:prstGeom prst="line">
            <a:avLst/>
          </a:prstGeom>
          <a:noFill/>
          <a:ln w="25400">
            <a:solidFill>
              <a:srgbClr val="3A3580"/>
            </a:solidFill>
            <a:prstDash val="solid"/>
          </a:ln>
        </p:spPr>
      </p:sp>
      <p:sp>
        <p:nvSpPr>
          <p:cNvPr id="26" name="Shape 19"/>
          <p:cNvSpPr/>
          <p:nvPr/>
        </p:nvSpPr>
        <p:spPr>
          <a:xfrm>
            <a:off x="8229600" y="4142232"/>
            <a:ext cx="3429000" cy="566928"/>
          </a:xfrm>
          <a:prstGeom prst="roundRect">
            <a:avLst>
              <a:gd name="adj" fmla="val 22581"/>
            </a:avLst>
          </a:prstGeom>
          <a:solidFill>
            <a:srgbClr val="17143F"/>
          </a:solidFill>
          <a:ln w="12700">
            <a:solidFill>
              <a:srgbClr val="34D399"/>
            </a:solidFill>
            <a:prstDash val="solid"/>
          </a:ln>
        </p:spPr>
      </p:sp>
      <p:sp>
        <p:nvSpPr>
          <p:cNvPr id="27" name="Shape 20"/>
          <p:cNvSpPr/>
          <p:nvPr/>
        </p:nvSpPr>
        <p:spPr>
          <a:xfrm>
            <a:off x="8394192" y="4224528"/>
            <a:ext cx="402336" cy="402336"/>
          </a:xfrm>
          <a:prstGeom prst="ellipse">
            <a:avLst/>
          </a:prstGeom>
          <a:solidFill>
            <a:srgbClr val="221E58"/>
          </a:solidFill>
          <a:ln w="15875">
            <a:solidFill>
              <a:srgbClr val="34D399"/>
            </a:solidFill>
            <a:prstDash val="solid"/>
          </a:ln>
        </p:spPr>
      </p:sp>
      <p:pic>
        <p:nvPicPr>
          <p:cNvPr id="28" name="Image 5" descr="preencoded.png">    </p:cNvPr>
          <p:cNvPicPr>
            <a:picLocks noChangeAspect="1"/>
          </p:cNvPicPr>
          <p:nvPr/>
        </p:nvPicPr>
        <p:blipFill>
          <a:blip r:embed="rId7"/>
          <a:stretch>
            <a:fillRect/>
          </a:stretch>
        </p:blipFill>
        <p:spPr>
          <a:xfrm>
            <a:off x="8494776" y="4325112"/>
            <a:ext cx="201168" cy="201168"/>
          </a:xfrm>
          <a:prstGeom prst="rect">
            <a:avLst/>
          </a:prstGeom>
        </p:spPr>
      </p:pic>
      <p:sp>
        <p:nvSpPr>
          <p:cNvPr id="29" name="Text 21"/>
          <p:cNvSpPr txBox="1"/>
          <p:nvPr/>
        </p:nvSpPr>
        <p:spPr>
          <a:xfrm>
            <a:off x="8961120" y="4142232"/>
            <a:ext cx="2651760" cy="566928"/>
          </a:xfrm>
          <a:prstGeom prst="rect">
            <a:avLst/>
          </a:prstGeom>
          <a:noFill/>
          <a:ln/>
        </p:spPr>
        <p:txBody>
          <a:bodyPr wrap="square" lIns="0" tIns="0" rIns="0" bIns="0" rtlCol="0" anchor="ctr"/>
          <a:lstStyle/>
          <a:p>
            <a:pPr indent="0" marL="0">
              <a:buNone/>
            </a:pPr>
            <a:r>
              <a:rPr lang="en-US" sz="1600" b="1" dirty="0">
                <a:solidFill>
                  <a:srgbClr val="F4F3FF"/>
                </a:solidFill>
                <a:latin typeface="Calibri" pitchFamily="34" charset="0"/>
                <a:ea typeface="Calibri" pitchFamily="34" charset="-122"/>
                <a:cs typeface="Calibri" pitchFamily="34" charset="-120"/>
              </a:rPr>
              <a:t>Caching</a:t>
            </a:r>
            <a:endParaRPr lang="en-US" sz="1600" dirty="0"/>
          </a:p>
        </p:txBody>
      </p:sp>
      <p:sp>
        <p:nvSpPr>
          <p:cNvPr id="30" name="Shape 22"/>
          <p:cNvSpPr/>
          <p:nvPr/>
        </p:nvSpPr>
        <p:spPr>
          <a:xfrm>
            <a:off x="8595360" y="4709160"/>
            <a:ext cx="0" cy="182880"/>
          </a:xfrm>
          <a:prstGeom prst="line">
            <a:avLst/>
          </a:prstGeom>
          <a:noFill/>
          <a:ln w="25400">
            <a:solidFill>
              <a:srgbClr val="3A3580"/>
            </a:solidFill>
            <a:prstDash val="solid"/>
          </a:ln>
        </p:spPr>
      </p:sp>
      <p:sp>
        <p:nvSpPr>
          <p:cNvPr id="31" name="Shape 23"/>
          <p:cNvSpPr/>
          <p:nvPr/>
        </p:nvSpPr>
        <p:spPr>
          <a:xfrm>
            <a:off x="8229600" y="4892040"/>
            <a:ext cx="3429000" cy="566928"/>
          </a:xfrm>
          <a:prstGeom prst="roundRect">
            <a:avLst>
              <a:gd name="adj" fmla="val 22581"/>
            </a:avLst>
          </a:prstGeom>
          <a:solidFill>
            <a:srgbClr val="17143F"/>
          </a:solidFill>
          <a:ln w="12700">
            <a:solidFill>
              <a:srgbClr val="E64BDA"/>
            </a:solidFill>
            <a:prstDash val="solid"/>
          </a:ln>
        </p:spPr>
      </p:sp>
      <p:sp>
        <p:nvSpPr>
          <p:cNvPr id="32" name="Shape 24"/>
          <p:cNvSpPr/>
          <p:nvPr/>
        </p:nvSpPr>
        <p:spPr>
          <a:xfrm>
            <a:off x="8394192" y="4974336"/>
            <a:ext cx="402336" cy="402336"/>
          </a:xfrm>
          <a:prstGeom prst="ellipse">
            <a:avLst/>
          </a:prstGeom>
          <a:solidFill>
            <a:srgbClr val="221E58"/>
          </a:solidFill>
          <a:ln w="15875">
            <a:solidFill>
              <a:srgbClr val="E64BDA"/>
            </a:solidFill>
            <a:prstDash val="solid"/>
          </a:ln>
        </p:spPr>
      </p:sp>
      <p:pic>
        <p:nvPicPr>
          <p:cNvPr id="33" name="Image 6" descr="preencoded.png">    </p:cNvPr>
          <p:cNvPicPr>
            <a:picLocks noChangeAspect="1"/>
          </p:cNvPicPr>
          <p:nvPr/>
        </p:nvPicPr>
        <p:blipFill>
          <a:blip r:embed="rId8"/>
          <a:stretch>
            <a:fillRect/>
          </a:stretch>
        </p:blipFill>
        <p:spPr>
          <a:xfrm>
            <a:off x="8494776" y="5074920"/>
            <a:ext cx="201168" cy="201168"/>
          </a:xfrm>
          <a:prstGeom prst="rect">
            <a:avLst/>
          </a:prstGeom>
        </p:spPr>
      </p:pic>
      <p:sp>
        <p:nvSpPr>
          <p:cNvPr id="34" name="Text 25"/>
          <p:cNvSpPr txBox="1"/>
          <p:nvPr/>
        </p:nvSpPr>
        <p:spPr>
          <a:xfrm>
            <a:off x="8961120" y="4892040"/>
            <a:ext cx="2651760" cy="566928"/>
          </a:xfrm>
          <a:prstGeom prst="rect">
            <a:avLst/>
          </a:prstGeom>
          <a:noFill/>
          <a:ln/>
        </p:spPr>
        <p:txBody>
          <a:bodyPr wrap="square" lIns="0" tIns="0" rIns="0" bIns="0" rtlCol="0" anchor="ctr"/>
          <a:lstStyle/>
          <a:p>
            <a:pPr indent="0" marL="0">
              <a:buNone/>
            </a:pPr>
            <a:r>
              <a:rPr lang="en-US" sz="1600" b="1" dirty="0">
                <a:solidFill>
                  <a:srgbClr val="F4F3FF"/>
                </a:solidFill>
                <a:latin typeface="Calibri" pitchFamily="34" charset="0"/>
                <a:ea typeface="Calibri" pitchFamily="34" charset="-122"/>
                <a:cs typeface="Calibri" pitchFamily="34" charset="-120"/>
              </a:rPr>
              <a:t>User experience</a:t>
            </a:r>
            <a:endParaRPr lang="en-US" sz="16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BEFORE WE START</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One story, four questions</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02</a:t>
            </a:r>
            <a:endParaRPr lang="en-US" sz="1100" dirty="0"/>
          </a:p>
        </p:txBody>
      </p:sp>
      <p:sp>
        <p:nvSpPr>
          <p:cNvPr id="7" name="Shape 3"/>
          <p:cNvSpPr/>
          <p:nvPr/>
        </p:nvSpPr>
        <p:spPr>
          <a:xfrm>
            <a:off x="548640" y="1600200"/>
            <a:ext cx="5468112" cy="1234440"/>
          </a:xfrm>
          <a:prstGeom prst="roundRect">
            <a:avLst>
              <a:gd name="adj" fmla="val 8889"/>
            </a:avLst>
          </a:prstGeom>
          <a:solidFill>
            <a:srgbClr val="17143F"/>
          </a:solidFill>
          <a:ln w="12700">
            <a:solidFill>
              <a:srgbClr val="22D3EE"/>
            </a:solidFill>
            <a:prstDash val="solid"/>
          </a:ln>
        </p:spPr>
      </p:sp>
      <p:sp>
        <p:nvSpPr>
          <p:cNvPr id="8" name="Shape 4"/>
          <p:cNvSpPr/>
          <p:nvPr/>
        </p:nvSpPr>
        <p:spPr>
          <a:xfrm>
            <a:off x="891540" y="1874520"/>
            <a:ext cx="685800" cy="685800"/>
          </a:xfrm>
          <a:prstGeom prst="ellipse">
            <a:avLst/>
          </a:prstGeom>
          <a:solidFill>
            <a:srgbClr val="221E58"/>
          </a:solidFill>
          <a:ln w="15875">
            <a:solidFill>
              <a:srgbClr val="22D3EE"/>
            </a:solidFill>
            <a:prstDash val="solid"/>
          </a:ln>
        </p:spPr>
      </p:sp>
      <p:pic>
        <p:nvPicPr>
          <p:cNvPr id="9" name="Image 1" descr="preencoded.png">    </p:cNvPr>
          <p:cNvPicPr>
            <a:picLocks noChangeAspect="1"/>
          </p:cNvPicPr>
          <p:nvPr/>
        </p:nvPicPr>
        <p:blipFill>
          <a:blip r:embed="rId3"/>
          <a:stretch>
            <a:fillRect/>
          </a:stretch>
        </p:blipFill>
        <p:spPr>
          <a:xfrm>
            <a:off x="1062990" y="2045970"/>
            <a:ext cx="342900" cy="342900"/>
          </a:xfrm>
          <a:prstGeom prst="rect">
            <a:avLst/>
          </a:prstGeom>
        </p:spPr>
      </p:pic>
      <p:sp>
        <p:nvSpPr>
          <p:cNvPr id="10" name="Text 5"/>
          <p:cNvSpPr txBox="1"/>
          <p:nvPr/>
        </p:nvSpPr>
        <p:spPr>
          <a:xfrm>
            <a:off x="1874520" y="1874520"/>
            <a:ext cx="4023360" cy="365760"/>
          </a:xfrm>
          <a:prstGeom prst="rect">
            <a:avLst/>
          </a:prstGeom>
          <a:noFill/>
          <a:ln/>
        </p:spPr>
        <p:txBody>
          <a:bodyPr wrap="square" lIns="0" tIns="0" rIns="0" bIns="0" rtlCol="0" anchor="t"/>
          <a:lstStyle/>
          <a:p>
            <a:pPr indent="0" marL="0">
              <a:buNone/>
            </a:pPr>
            <a:r>
              <a:rPr lang="en-US" sz="2000" b="1" dirty="0">
                <a:solidFill>
                  <a:srgbClr val="F4F3FF"/>
                </a:solidFill>
                <a:latin typeface="Calibri" pitchFamily="34" charset="0"/>
                <a:ea typeface="Calibri" pitchFamily="34" charset="-122"/>
                <a:cs typeface="Calibri" pitchFamily="34" charset="-120"/>
              </a:rPr>
              <a:t>Where does this happen?</a:t>
            </a:r>
            <a:endParaRPr lang="en-US" sz="2000" dirty="0"/>
          </a:p>
        </p:txBody>
      </p:sp>
      <p:sp>
        <p:nvSpPr>
          <p:cNvPr id="11" name="Text 6"/>
          <p:cNvSpPr txBox="1"/>
          <p:nvPr/>
        </p:nvSpPr>
        <p:spPr>
          <a:xfrm>
            <a:off x="1874520" y="2286000"/>
            <a:ext cx="4023360" cy="320040"/>
          </a:xfrm>
          <a:prstGeom prst="rect">
            <a:avLst/>
          </a:prstGeom>
          <a:noFill/>
          <a:ln/>
        </p:spPr>
        <p:txBody>
          <a:bodyPr wrap="square" lIns="0" tIns="0" rIns="0" bIns="0" rtlCol="0" anchor="t"/>
          <a:lstStyle/>
          <a:p>
            <a:pPr indent="0" marL="0">
              <a:buNone/>
            </a:pPr>
            <a:r>
              <a:rPr lang="en-US" sz="1400" dirty="0">
                <a:solidFill>
                  <a:srgbClr val="A8A5D8"/>
                </a:solidFill>
                <a:latin typeface="Calibri" pitchFamily="34" charset="0"/>
                <a:ea typeface="Calibri" pitchFamily="34" charset="-122"/>
                <a:cs typeface="Calibri" pitchFamily="34" charset="-120"/>
              </a:rPr>
              <a:t>Server or browser?</a:t>
            </a:r>
            <a:endParaRPr lang="en-US" sz="1400" dirty="0"/>
          </a:p>
        </p:txBody>
      </p:sp>
      <p:sp>
        <p:nvSpPr>
          <p:cNvPr id="12" name="Shape 7"/>
          <p:cNvSpPr/>
          <p:nvPr/>
        </p:nvSpPr>
        <p:spPr>
          <a:xfrm>
            <a:off x="6172200" y="1600200"/>
            <a:ext cx="5468112" cy="1234440"/>
          </a:xfrm>
          <a:prstGeom prst="roundRect">
            <a:avLst>
              <a:gd name="adj" fmla="val 8889"/>
            </a:avLst>
          </a:prstGeom>
          <a:solidFill>
            <a:srgbClr val="17143F"/>
          </a:solidFill>
          <a:ln w="12700">
            <a:solidFill>
              <a:srgbClr val="FBBF24"/>
            </a:solidFill>
            <a:prstDash val="solid"/>
          </a:ln>
        </p:spPr>
      </p:sp>
      <p:sp>
        <p:nvSpPr>
          <p:cNvPr id="13" name="Shape 8"/>
          <p:cNvSpPr/>
          <p:nvPr/>
        </p:nvSpPr>
        <p:spPr>
          <a:xfrm>
            <a:off x="6515100" y="1874520"/>
            <a:ext cx="685800" cy="685800"/>
          </a:xfrm>
          <a:prstGeom prst="ellipse">
            <a:avLst/>
          </a:prstGeom>
          <a:solidFill>
            <a:srgbClr val="221E58"/>
          </a:solidFill>
          <a:ln w="15875">
            <a:solidFill>
              <a:srgbClr val="FBBF24"/>
            </a:solidFill>
            <a:prstDash val="solid"/>
          </a:ln>
        </p:spPr>
      </p:sp>
      <p:pic>
        <p:nvPicPr>
          <p:cNvPr id="14" name="Image 2" descr="preencoded.png">    </p:cNvPr>
          <p:cNvPicPr>
            <a:picLocks noChangeAspect="1"/>
          </p:cNvPicPr>
          <p:nvPr/>
        </p:nvPicPr>
        <p:blipFill>
          <a:blip r:embed="rId4"/>
          <a:stretch>
            <a:fillRect/>
          </a:stretch>
        </p:blipFill>
        <p:spPr>
          <a:xfrm>
            <a:off x="6686550" y="2045970"/>
            <a:ext cx="342900" cy="342900"/>
          </a:xfrm>
          <a:prstGeom prst="rect">
            <a:avLst/>
          </a:prstGeom>
        </p:spPr>
      </p:pic>
      <p:sp>
        <p:nvSpPr>
          <p:cNvPr id="15" name="Text 9"/>
          <p:cNvSpPr txBox="1"/>
          <p:nvPr/>
        </p:nvSpPr>
        <p:spPr>
          <a:xfrm>
            <a:off x="7498080" y="1874520"/>
            <a:ext cx="4023360" cy="365760"/>
          </a:xfrm>
          <a:prstGeom prst="rect">
            <a:avLst/>
          </a:prstGeom>
          <a:noFill/>
          <a:ln/>
        </p:spPr>
        <p:txBody>
          <a:bodyPr wrap="square" lIns="0" tIns="0" rIns="0" bIns="0" rtlCol="0" anchor="t"/>
          <a:lstStyle/>
          <a:p>
            <a:pPr indent="0" marL="0">
              <a:buNone/>
            </a:pPr>
            <a:r>
              <a:rPr lang="en-US" sz="2000" b="1" dirty="0">
                <a:solidFill>
                  <a:srgbClr val="F4F3FF"/>
                </a:solidFill>
                <a:latin typeface="Calibri" pitchFamily="34" charset="0"/>
                <a:ea typeface="Calibri" pitchFamily="34" charset="-122"/>
                <a:cs typeface="Calibri" pitchFamily="34" charset="-120"/>
              </a:rPr>
              <a:t>When does this happen?</a:t>
            </a:r>
            <a:endParaRPr lang="en-US" sz="2000" dirty="0"/>
          </a:p>
        </p:txBody>
      </p:sp>
      <p:sp>
        <p:nvSpPr>
          <p:cNvPr id="16" name="Text 10"/>
          <p:cNvSpPr txBox="1"/>
          <p:nvPr/>
        </p:nvSpPr>
        <p:spPr>
          <a:xfrm>
            <a:off x="7498080" y="2286000"/>
            <a:ext cx="4023360" cy="320040"/>
          </a:xfrm>
          <a:prstGeom prst="rect">
            <a:avLst/>
          </a:prstGeom>
          <a:noFill/>
          <a:ln/>
        </p:spPr>
        <p:txBody>
          <a:bodyPr wrap="square" lIns="0" tIns="0" rIns="0" bIns="0" rtlCol="0" anchor="t"/>
          <a:lstStyle/>
          <a:p>
            <a:pPr indent="0" marL="0">
              <a:buNone/>
            </a:pPr>
            <a:r>
              <a:rPr lang="en-US" sz="1400" dirty="0">
                <a:solidFill>
                  <a:srgbClr val="A8A5D8"/>
                </a:solidFill>
                <a:latin typeface="Calibri" pitchFamily="34" charset="0"/>
                <a:ea typeface="Calibri" pitchFamily="34" charset="-122"/>
                <a:cs typeface="Calibri" pitchFamily="34" charset="-120"/>
              </a:rPr>
              <a:t>Build time, request time, or later?</a:t>
            </a:r>
            <a:endParaRPr lang="en-US" sz="1400" dirty="0"/>
          </a:p>
        </p:txBody>
      </p:sp>
      <p:sp>
        <p:nvSpPr>
          <p:cNvPr id="17" name="Shape 11"/>
          <p:cNvSpPr/>
          <p:nvPr/>
        </p:nvSpPr>
        <p:spPr>
          <a:xfrm>
            <a:off x="548640" y="3017520"/>
            <a:ext cx="5468112" cy="1234440"/>
          </a:xfrm>
          <a:prstGeom prst="roundRect">
            <a:avLst>
              <a:gd name="adj" fmla="val 8889"/>
            </a:avLst>
          </a:prstGeom>
          <a:solidFill>
            <a:srgbClr val="17143F"/>
          </a:solidFill>
          <a:ln w="12700">
            <a:solidFill>
              <a:srgbClr val="8B7CFF"/>
            </a:solidFill>
            <a:prstDash val="solid"/>
          </a:ln>
        </p:spPr>
      </p:sp>
      <p:sp>
        <p:nvSpPr>
          <p:cNvPr id="18" name="Shape 12"/>
          <p:cNvSpPr/>
          <p:nvPr/>
        </p:nvSpPr>
        <p:spPr>
          <a:xfrm>
            <a:off x="891540" y="3291840"/>
            <a:ext cx="685800" cy="685800"/>
          </a:xfrm>
          <a:prstGeom prst="ellipse">
            <a:avLst/>
          </a:prstGeom>
          <a:solidFill>
            <a:srgbClr val="221E58"/>
          </a:solidFill>
          <a:ln w="15875">
            <a:solidFill>
              <a:srgbClr val="8B7CFF"/>
            </a:solidFill>
            <a:prstDash val="solid"/>
          </a:ln>
        </p:spPr>
      </p:sp>
      <p:pic>
        <p:nvPicPr>
          <p:cNvPr id="19" name="Image 3" descr="preencoded.png">    </p:cNvPr>
          <p:cNvPicPr>
            <a:picLocks noChangeAspect="1"/>
          </p:cNvPicPr>
          <p:nvPr/>
        </p:nvPicPr>
        <p:blipFill>
          <a:blip r:embed="rId5"/>
          <a:stretch>
            <a:fillRect/>
          </a:stretch>
        </p:blipFill>
        <p:spPr>
          <a:xfrm>
            <a:off x="1062990" y="3463290"/>
            <a:ext cx="342900" cy="342900"/>
          </a:xfrm>
          <a:prstGeom prst="rect">
            <a:avLst/>
          </a:prstGeom>
        </p:spPr>
      </p:pic>
      <p:sp>
        <p:nvSpPr>
          <p:cNvPr id="20" name="Text 13"/>
          <p:cNvSpPr txBox="1"/>
          <p:nvPr/>
        </p:nvSpPr>
        <p:spPr>
          <a:xfrm>
            <a:off x="1874520" y="3291840"/>
            <a:ext cx="4023360" cy="365760"/>
          </a:xfrm>
          <a:prstGeom prst="rect">
            <a:avLst/>
          </a:prstGeom>
          <a:noFill/>
          <a:ln/>
        </p:spPr>
        <p:txBody>
          <a:bodyPr wrap="square" lIns="0" tIns="0" rIns="0" bIns="0" rtlCol="0" anchor="t"/>
          <a:lstStyle/>
          <a:p>
            <a:pPr indent="0" marL="0">
              <a:buNone/>
            </a:pPr>
            <a:r>
              <a:rPr lang="en-US" sz="2000" b="1" dirty="0">
                <a:solidFill>
                  <a:srgbClr val="F4F3FF"/>
                </a:solidFill>
                <a:latin typeface="Calibri" pitchFamily="34" charset="0"/>
                <a:ea typeface="Calibri" pitchFamily="34" charset="-122"/>
                <a:cs typeface="Calibri" pitchFamily="34" charset="-120"/>
              </a:rPr>
              <a:t>Why does Next.js do it this way?</a:t>
            </a:r>
            <a:endParaRPr lang="en-US" sz="2000" dirty="0"/>
          </a:p>
        </p:txBody>
      </p:sp>
      <p:sp>
        <p:nvSpPr>
          <p:cNvPr id="21" name="Text 14"/>
          <p:cNvSpPr txBox="1"/>
          <p:nvPr/>
        </p:nvSpPr>
        <p:spPr>
          <a:xfrm>
            <a:off x="1874520" y="3703320"/>
            <a:ext cx="4023360" cy="320040"/>
          </a:xfrm>
          <a:prstGeom prst="rect">
            <a:avLst/>
          </a:prstGeom>
          <a:noFill/>
          <a:ln/>
        </p:spPr>
        <p:txBody>
          <a:bodyPr wrap="square" lIns="0" tIns="0" rIns="0" bIns="0" rtlCol="0" anchor="t"/>
          <a:lstStyle/>
          <a:p>
            <a:pPr indent="0" marL="0">
              <a:buNone/>
            </a:pPr>
            <a:r>
              <a:rPr lang="en-US" sz="1400" dirty="0">
                <a:solidFill>
                  <a:srgbClr val="A8A5D8"/>
                </a:solidFill>
                <a:latin typeface="Calibri" pitchFamily="34" charset="0"/>
                <a:ea typeface="Calibri" pitchFamily="34" charset="-122"/>
                <a:cs typeface="Calibri" pitchFamily="34" charset="-120"/>
              </a:rPr>
              <a:t>What problem does it solve?</a:t>
            </a:r>
            <a:endParaRPr lang="en-US" sz="1400" dirty="0"/>
          </a:p>
        </p:txBody>
      </p:sp>
      <p:sp>
        <p:nvSpPr>
          <p:cNvPr id="22" name="Shape 15"/>
          <p:cNvSpPr/>
          <p:nvPr/>
        </p:nvSpPr>
        <p:spPr>
          <a:xfrm>
            <a:off x="6172200" y="3017520"/>
            <a:ext cx="5468112" cy="1234440"/>
          </a:xfrm>
          <a:prstGeom prst="roundRect">
            <a:avLst>
              <a:gd name="adj" fmla="val 8889"/>
            </a:avLst>
          </a:prstGeom>
          <a:solidFill>
            <a:srgbClr val="17143F"/>
          </a:solidFill>
          <a:ln w="12700">
            <a:solidFill>
              <a:srgbClr val="E64BDA"/>
            </a:solidFill>
            <a:prstDash val="solid"/>
          </a:ln>
        </p:spPr>
      </p:sp>
      <p:sp>
        <p:nvSpPr>
          <p:cNvPr id="23" name="Shape 16"/>
          <p:cNvSpPr/>
          <p:nvPr/>
        </p:nvSpPr>
        <p:spPr>
          <a:xfrm>
            <a:off x="6515100" y="3291840"/>
            <a:ext cx="685800" cy="685800"/>
          </a:xfrm>
          <a:prstGeom prst="ellipse">
            <a:avLst/>
          </a:prstGeom>
          <a:solidFill>
            <a:srgbClr val="221E58"/>
          </a:solidFill>
          <a:ln w="15875">
            <a:solidFill>
              <a:srgbClr val="E64BDA"/>
            </a:solidFill>
            <a:prstDash val="solid"/>
          </a:ln>
        </p:spPr>
      </p:sp>
      <p:pic>
        <p:nvPicPr>
          <p:cNvPr id="24" name="Image 4" descr="preencoded.png">    </p:cNvPr>
          <p:cNvPicPr>
            <a:picLocks noChangeAspect="1"/>
          </p:cNvPicPr>
          <p:nvPr/>
        </p:nvPicPr>
        <p:blipFill>
          <a:blip r:embed="rId6"/>
          <a:stretch>
            <a:fillRect/>
          </a:stretch>
        </p:blipFill>
        <p:spPr>
          <a:xfrm>
            <a:off x="6686550" y="3463290"/>
            <a:ext cx="342900" cy="342900"/>
          </a:xfrm>
          <a:prstGeom prst="rect">
            <a:avLst/>
          </a:prstGeom>
        </p:spPr>
      </p:pic>
      <p:sp>
        <p:nvSpPr>
          <p:cNvPr id="25" name="Text 17"/>
          <p:cNvSpPr txBox="1"/>
          <p:nvPr/>
        </p:nvSpPr>
        <p:spPr>
          <a:xfrm>
            <a:off x="7498080" y="3291840"/>
            <a:ext cx="4023360" cy="365760"/>
          </a:xfrm>
          <a:prstGeom prst="rect">
            <a:avLst/>
          </a:prstGeom>
          <a:noFill/>
          <a:ln/>
        </p:spPr>
        <p:txBody>
          <a:bodyPr wrap="square" lIns="0" tIns="0" rIns="0" bIns="0" rtlCol="0" anchor="t"/>
          <a:lstStyle/>
          <a:p>
            <a:pPr indent="0" marL="0">
              <a:buNone/>
            </a:pPr>
            <a:r>
              <a:rPr lang="en-US" sz="2000" b="1" dirty="0">
                <a:solidFill>
                  <a:srgbClr val="F4F3FF"/>
                </a:solidFill>
                <a:latin typeface="Calibri" pitchFamily="34" charset="0"/>
                <a:ea typeface="Calibri" pitchFamily="34" charset="-122"/>
                <a:cs typeface="Calibri" pitchFamily="34" charset="-120"/>
              </a:rPr>
              <a:t>How does it connect?</a:t>
            </a:r>
            <a:endParaRPr lang="en-US" sz="2000" dirty="0"/>
          </a:p>
        </p:txBody>
      </p:sp>
      <p:sp>
        <p:nvSpPr>
          <p:cNvPr id="26" name="Text 18"/>
          <p:cNvSpPr txBox="1"/>
          <p:nvPr/>
        </p:nvSpPr>
        <p:spPr>
          <a:xfrm>
            <a:off x="7498080" y="3703320"/>
            <a:ext cx="4023360" cy="320040"/>
          </a:xfrm>
          <a:prstGeom prst="rect">
            <a:avLst/>
          </a:prstGeom>
          <a:noFill/>
          <a:ln/>
        </p:spPr>
        <p:txBody>
          <a:bodyPr wrap="square" lIns="0" tIns="0" rIns="0" bIns="0" rtlCol="0" anchor="t"/>
          <a:lstStyle/>
          <a:p>
            <a:pPr indent="0" marL="0">
              <a:buNone/>
            </a:pPr>
            <a:r>
              <a:rPr lang="en-US" sz="1400" dirty="0">
                <a:solidFill>
                  <a:srgbClr val="A8A5D8"/>
                </a:solidFill>
                <a:latin typeface="Calibri" pitchFamily="34" charset="0"/>
                <a:ea typeface="Calibri" pitchFamily="34" charset="-122"/>
                <a:cs typeface="Calibri" pitchFamily="34" charset="-120"/>
              </a:rPr>
              <a:t>What comes before and after it?</a:t>
            </a:r>
            <a:endParaRPr lang="en-US" sz="1400" dirty="0"/>
          </a:p>
        </p:txBody>
      </p:sp>
      <p:sp>
        <p:nvSpPr>
          <p:cNvPr id="27" name="Text 19"/>
          <p:cNvSpPr txBox="1"/>
          <p:nvPr/>
        </p:nvSpPr>
        <p:spPr>
          <a:xfrm>
            <a:off x="548640" y="4572000"/>
            <a:ext cx="3657600" cy="274320"/>
          </a:xfrm>
          <a:prstGeom prst="rect">
            <a:avLst/>
          </a:prstGeom>
          <a:noFill/>
          <a:ln/>
        </p:spPr>
        <p:txBody>
          <a:bodyPr wrap="square" lIns="0" tIns="0" rIns="0" bIns="0" rtlCol="0" anchor="t"/>
          <a:lstStyle/>
          <a:p>
            <a:pPr indent="0" marL="0">
              <a:buNone/>
            </a:pPr>
            <a:r>
              <a:rPr lang="en-US" sz="1100" b="1" spc="300" kern="0" dirty="0">
                <a:solidFill>
                  <a:srgbClr val="A8A5D8"/>
                </a:solidFill>
                <a:latin typeface="Calibri" pitchFamily="34" charset="0"/>
                <a:ea typeface="Calibri" pitchFamily="34" charset="-122"/>
                <a:cs typeface="Calibri" pitchFamily="34" charset="-120"/>
              </a:rPr>
              <a:t>OUR JOURNEY</a:t>
            </a:r>
            <a:endParaRPr lang="en-US" sz="1100" dirty="0"/>
          </a:p>
        </p:txBody>
      </p:sp>
      <p:sp>
        <p:nvSpPr>
          <p:cNvPr id="28" name="Text 20"/>
          <p:cNvSpPr txBox="1"/>
          <p:nvPr/>
        </p:nvSpPr>
        <p:spPr>
          <a:xfrm>
            <a:off x="548640" y="4937760"/>
            <a:ext cx="1024128" cy="868680"/>
          </a:xfrm>
          <a:prstGeom prst="roundRect">
            <a:avLst>
              <a:gd name="adj" fmla="val 10526"/>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1600" b="1" dirty="0">
                <a:solidFill>
                  <a:srgbClr val="E64BDA"/>
                </a:solidFill>
                <a:latin typeface="Calibri" pitchFamily="34" charset="0"/>
                <a:ea typeface="Calibri" pitchFamily="34" charset="-122"/>
                <a:cs typeface="Calibri" pitchFamily="34" charset="-120"/>
              </a:rPr>
              <a:t>1</a:t>
            </a:r>
            <a:endParaRPr lang="en-US" sz="1300" dirty="0"/>
          </a:p>
          <a:p>
            <a:pPr algn="ctr" indent="0" marL="0">
              <a:buNone/>
            </a:pPr>
            <a:r>
              <a:rPr lang="en-US" sz="1100" b="1" dirty="0">
                <a:solidFill>
                  <a:srgbClr val="F4F3FF"/>
                </a:solidFill>
                <a:latin typeface="Calibri" pitchFamily="34" charset="0"/>
                <a:ea typeface="Calibri" pitchFamily="34" charset="-122"/>
                <a:cs typeface="Calibri" pitchFamily="34" charset="-120"/>
              </a:rPr>
              <a:t>Foundation</a:t>
            </a:r>
            <a:endParaRPr lang="en-US" sz="1300" dirty="0"/>
          </a:p>
        </p:txBody>
      </p:sp>
      <p:sp>
        <p:nvSpPr>
          <p:cNvPr id="29" name="Text 21"/>
          <p:cNvSpPr txBox="1"/>
          <p:nvPr/>
        </p:nvSpPr>
        <p:spPr>
          <a:xfrm>
            <a:off x="1666951" y="4937760"/>
            <a:ext cx="1024128" cy="868680"/>
          </a:xfrm>
          <a:prstGeom prst="roundRect">
            <a:avLst>
              <a:gd name="adj" fmla="val 10526"/>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1600" b="1" dirty="0">
                <a:solidFill>
                  <a:srgbClr val="E64BDA"/>
                </a:solidFill>
                <a:latin typeface="Calibri" pitchFamily="34" charset="0"/>
                <a:ea typeface="Calibri" pitchFamily="34" charset="-122"/>
                <a:cs typeface="Calibri" pitchFamily="34" charset="-120"/>
              </a:rPr>
              <a:t>2</a:t>
            </a:r>
            <a:endParaRPr lang="en-US" sz="1300" dirty="0"/>
          </a:p>
          <a:p>
            <a:pPr algn="ctr" indent="0" marL="0">
              <a:buNone/>
            </a:pPr>
            <a:r>
              <a:rPr lang="en-US" sz="1100" b="1" dirty="0">
                <a:solidFill>
                  <a:srgbClr val="F4F3FF"/>
                </a:solidFill>
                <a:latin typeface="Calibri" pitchFamily="34" charset="0"/>
                <a:ea typeface="Calibri" pitchFamily="34" charset="-122"/>
                <a:cs typeface="Calibri" pitchFamily="34" charset="-120"/>
              </a:rPr>
              <a:t>Structure</a:t>
            </a:r>
            <a:endParaRPr lang="en-US" sz="1300" dirty="0"/>
          </a:p>
        </p:txBody>
      </p:sp>
      <p:sp>
        <p:nvSpPr>
          <p:cNvPr id="30" name="Text 22"/>
          <p:cNvSpPr txBox="1"/>
          <p:nvPr/>
        </p:nvSpPr>
        <p:spPr>
          <a:xfrm>
            <a:off x="2785262" y="4937760"/>
            <a:ext cx="1024128" cy="868680"/>
          </a:xfrm>
          <a:prstGeom prst="roundRect">
            <a:avLst>
              <a:gd name="adj" fmla="val 10526"/>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1600" b="1" dirty="0">
                <a:solidFill>
                  <a:srgbClr val="E64BDA"/>
                </a:solidFill>
                <a:latin typeface="Calibri" pitchFamily="34" charset="0"/>
                <a:ea typeface="Calibri" pitchFamily="34" charset="-122"/>
                <a:cs typeface="Calibri" pitchFamily="34" charset="-120"/>
              </a:rPr>
              <a:t>3</a:t>
            </a:r>
            <a:endParaRPr lang="en-US" sz="1300" dirty="0"/>
          </a:p>
          <a:p>
            <a:pPr algn="ctr" indent="0" marL="0">
              <a:buNone/>
            </a:pPr>
            <a:r>
              <a:rPr lang="en-US" sz="1100" b="1" dirty="0">
                <a:solidFill>
                  <a:srgbClr val="F4F3FF"/>
                </a:solidFill>
                <a:latin typeface="Calibri" pitchFamily="34" charset="0"/>
                <a:ea typeface="Calibri" pitchFamily="34" charset="-122"/>
                <a:cs typeface="Calibri" pitchFamily="34" charset="-120"/>
              </a:rPr>
              <a:t>Routing</a:t>
            </a:r>
            <a:endParaRPr lang="en-US" sz="1300" dirty="0"/>
          </a:p>
        </p:txBody>
      </p:sp>
      <p:sp>
        <p:nvSpPr>
          <p:cNvPr id="31" name="Text 23"/>
          <p:cNvSpPr txBox="1"/>
          <p:nvPr/>
        </p:nvSpPr>
        <p:spPr>
          <a:xfrm>
            <a:off x="3903574" y="4937760"/>
            <a:ext cx="1024128" cy="868680"/>
          </a:xfrm>
          <a:prstGeom prst="roundRect">
            <a:avLst>
              <a:gd name="adj" fmla="val 10526"/>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1600" b="1" dirty="0">
                <a:solidFill>
                  <a:srgbClr val="E64BDA"/>
                </a:solidFill>
                <a:latin typeface="Calibri" pitchFamily="34" charset="0"/>
                <a:ea typeface="Calibri" pitchFamily="34" charset="-122"/>
                <a:cs typeface="Calibri" pitchFamily="34" charset="-120"/>
              </a:rPr>
              <a:t>4</a:t>
            </a:r>
            <a:endParaRPr lang="en-US" sz="1300" dirty="0"/>
          </a:p>
          <a:p>
            <a:pPr algn="ctr" indent="0" marL="0">
              <a:buNone/>
            </a:pPr>
            <a:r>
              <a:rPr lang="en-US" sz="1100" b="1" dirty="0">
                <a:solidFill>
                  <a:srgbClr val="F4F3FF"/>
                </a:solidFill>
                <a:latin typeface="Calibri" pitchFamily="34" charset="0"/>
                <a:ea typeface="Calibri" pitchFamily="34" charset="-122"/>
                <a:cs typeface="Calibri" pitchFamily="34" charset="-120"/>
              </a:rPr>
              <a:t>Components</a:t>
            </a:r>
            <a:endParaRPr lang="en-US" sz="1300" dirty="0"/>
          </a:p>
        </p:txBody>
      </p:sp>
      <p:sp>
        <p:nvSpPr>
          <p:cNvPr id="32" name="Text 24"/>
          <p:cNvSpPr txBox="1"/>
          <p:nvPr/>
        </p:nvSpPr>
        <p:spPr>
          <a:xfrm>
            <a:off x="5021885" y="4937760"/>
            <a:ext cx="1024128" cy="868680"/>
          </a:xfrm>
          <a:prstGeom prst="roundRect">
            <a:avLst>
              <a:gd name="adj" fmla="val 10526"/>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1600" b="1" dirty="0">
                <a:solidFill>
                  <a:srgbClr val="E64BDA"/>
                </a:solidFill>
                <a:latin typeface="Calibri" pitchFamily="34" charset="0"/>
                <a:ea typeface="Calibri" pitchFamily="34" charset="-122"/>
                <a:cs typeface="Calibri" pitchFamily="34" charset="-120"/>
              </a:rPr>
              <a:t>5</a:t>
            </a:r>
            <a:endParaRPr lang="en-US" sz="1300" dirty="0"/>
          </a:p>
          <a:p>
            <a:pPr algn="ctr" indent="0" marL="0">
              <a:buNone/>
            </a:pPr>
            <a:r>
              <a:rPr lang="en-US" sz="1100" b="1" dirty="0">
                <a:solidFill>
                  <a:srgbClr val="F4F3FF"/>
                </a:solidFill>
                <a:latin typeface="Calibri" pitchFamily="34" charset="0"/>
                <a:ea typeface="Calibri" pitchFamily="34" charset="-122"/>
                <a:cs typeface="Calibri" pitchFamily="34" charset="-120"/>
              </a:rPr>
              <a:t>Optimize</a:t>
            </a:r>
            <a:endParaRPr lang="en-US" sz="1300" dirty="0"/>
          </a:p>
        </p:txBody>
      </p:sp>
      <p:sp>
        <p:nvSpPr>
          <p:cNvPr id="33" name="Text 25"/>
          <p:cNvSpPr txBox="1"/>
          <p:nvPr/>
        </p:nvSpPr>
        <p:spPr>
          <a:xfrm>
            <a:off x="6140196" y="4937760"/>
            <a:ext cx="1024128" cy="868680"/>
          </a:xfrm>
          <a:prstGeom prst="roundRect">
            <a:avLst>
              <a:gd name="adj" fmla="val 10526"/>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1600" b="1" dirty="0">
                <a:solidFill>
                  <a:srgbClr val="E64BDA"/>
                </a:solidFill>
                <a:latin typeface="Calibri" pitchFamily="34" charset="0"/>
                <a:ea typeface="Calibri" pitchFamily="34" charset="-122"/>
                <a:cs typeface="Calibri" pitchFamily="34" charset="-120"/>
              </a:rPr>
              <a:t>6</a:t>
            </a:r>
            <a:endParaRPr lang="en-US" sz="1300" dirty="0"/>
          </a:p>
          <a:p>
            <a:pPr algn="ctr" indent="0" marL="0">
              <a:buNone/>
            </a:pPr>
            <a:r>
              <a:rPr lang="en-US" sz="1100" b="1" dirty="0">
                <a:solidFill>
                  <a:srgbClr val="F4F3FF"/>
                </a:solidFill>
                <a:latin typeface="Calibri" pitchFamily="34" charset="0"/>
                <a:ea typeface="Calibri" pitchFamily="34" charset="-122"/>
                <a:cs typeface="Calibri" pitchFamily="34" charset="-120"/>
              </a:rPr>
              <a:t>Rendering</a:t>
            </a:r>
            <a:endParaRPr lang="en-US" sz="1300" dirty="0"/>
          </a:p>
        </p:txBody>
      </p:sp>
      <p:sp>
        <p:nvSpPr>
          <p:cNvPr id="34" name="Text 26"/>
          <p:cNvSpPr txBox="1"/>
          <p:nvPr/>
        </p:nvSpPr>
        <p:spPr>
          <a:xfrm>
            <a:off x="7258507" y="4937760"/>
            <a:ext cx="1024128" cy="868680"/>
          </a:xfrm>
          <a:prstGeom prst="roundRect">
            <a:avLst>
              <a:gd name="adj" fmla="val 10526"/>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1600" b="1" dirty="0">
                <a:solidFill>
                  <a:srgbClr val="E64BDA"/>
                </a:solidFill>
                <a:latin typeface="Calibri" pitchFamily="34" charset="0"/>
                <a:ea typeface="Calibri" pitchFamily="34" charset="-122"/>
                <a:cs typeface="Calibri" pitchFamily="34" charset="-120"/>
              </a:rPr>
              <a:t>7</a:t>
            </a:r>
            <a:endParaRPr lang="en-US" sz="1300" dirty="0"/>
          </a:p>
          <a:p>
            <a:pPr algn="ctr" indent="0" marL="0">
              <a:buNone/>
            </a:pPr>
            <a:r>
              <a:rPr lang="en-US" sz="1100" b="1" dirty="0">
                <a:solidFill>
                  <a:srgbClr val="F4F3FF"/>
                </a:solidFill>
                <a:latin typeface="Calibri" pitchFamily="34" charset="0"/>
                <a:ea typeface="Calibri" pitchFamily="34" charset="-122"/>
                <a:cs typeface="Calibri" pitchFamily="34" charset="-120"/>
              </a:rPr>
              <a:t>Data</a:t>
            </a:r>
            <a:endParaRPr lang="en-US" sz="1300" dirty="0"/>
          </a:p>
        </p:txBody>
      </p:sp>
      <p:sp>
        <p:nvSpPr>
          <p:cNvPr id="35" name="Text 27"/>
          <p:cNvSpPr txBox="1"/>
          <p:nvPr/>
        </p:nvSpPr>
        <p:spPr>
          <a:xfrm>
            <a:off x="8376818" y="4937760"/>
            <a:ext cx="1024128" cy="868680"/>
          </a:xfrm>
          <a:prstGeom prst="roundRect">
            <a:avLst>
              <a:gd name="adj" fmla="val 10526"/>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1600" b="1" dirty="0">
                <a:solidFill>
                  <a:srgbClr val="E64BDA"/>
                </a:solidFill>
                <a:latin typeface="Calibri" pitchFamily="34" charset="0"/>
                <a:ea typeface="Calibri" pitchFamily="34" charset="-122"/>
                <a:cs typeface="Calibri" pitchFamily="34" charset="-120"/>
              </a:rPr>
              <a:t>8</a:t>
            </a:r>
            <a:endParaRPr lang="en-US" sz="1300" dirty="0"/>
          </a:p>
          <a:p>
            <a:pPr algn="ctr" indent="0" marL="0">
              <a:buNone/>
            </a:pPr>
            <a:r>
              <a:rPr lang="en-US" sz="1100" b="1" dirty="0">
                <a:solidFill>
                  <a:srgbClr val="F4F3FF"/>
                </a:solidFill>
                <a:latin typeface="Calibri" pitchFamily="34" charset="0"/>
                <a:ea typeface="Calibri" pitchFamily="34" charset="-122"/>
                <a:cs typeface="Calibri" pitchFamily="34" charset="-120"/>
              </a:rPr>
              <a:t>Caching</a:t>
            </a:r>
            <a:endParaRPr lang="en-US" sz="1300" dirty="0"/>
          </a:p>
        </p:txBody>
      </p:sp>
      <p:sp>
        <p:nvSpPr>
          <p:cNvPr id="36" name="Text 28"/>
          <p:cNvSpPr txBox="1"/>
          <p:nvPr/>
        </p:nvSpPr>
        <p:spPr>
          <a:xfrm>
            <a:off x="9495130" y="4937760"/>
            <a:ext cx="1024128" cy="868680"/>
          </a:xfrm>
          <a:prstGeom prst="roundRect">
            <a:avLst>
              <a:gd name="adj" fmla="val 10526"/>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1600" b="1" dirty="0">
                <a:solidFill>
                  <a:srgbClr val="E64BDA"/>
                </a:solidFill>
                <a:latin typeface="Calibri" pitchFamily="34" charset="0"/>
                <a:ea typeface="Calibri" pitchFamily="34" charset="-122"/>
                <a:cs typeface="Calibri" pitchFamily="34" charset="-120"/>
              </a:rPr>
              <a:t>9</a:t>
            </a:r>
            <a:endParaRPr lang="en-US" sz="1300" dirty="0"/>
          </a:p>
          <a:p>
            <a:pPr algn="ctr" indent="0" marL="0">
              <a:buNone/>
            </a:pPr>
            <a:r>
              <a:rPr lang="en-US" sz="1100" b="1" dirty="0">
                <a:solidFill>
                  <a:srgbClr val="F4F3FF"/>
                </a:solidFill>
                <a:latin typeface="Calibri" pitchFamily="34" charset="0"/>
                <a:ea typeface="Calibri" pitchFamily="34" charset="-122"/>
                <a:cs typeface="Calibri" pitchFamily="34" charset="-120"/>
              </a:rPr>
              <a:t>Static gen</a:t>
            </a:r>
            <a:endParaRPr lang="en-US" sz="1300" dirty="0"/>
          </a:p>
        </p:txBody>
      </p:sp>
      <p:sp>
        <p:nvSpPr>
          <p:cNvPr id="37" name="Text 29"/>
          <p:cNvSpPr txBox="1"/>
          <p:nvPr/>
        </p:nvSpPr>
        <p:spPr>
          <a:xfrm>
            <a:off x="10613441" y="4937760"/>
            <a:ext cx="1024128" cy="868680"/>
          </a:xfrm>
          <a:prstGeom prst="roundRect">
            <a:avLst>
              <a:gd name="adj" fmla="val 10526"/>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1600" b="1" dirty="0">
                <a:solidFill>
                  <a:srgbClr val="E64BDA"/>
                </a:solidFill>
                <a:latin typeface="Calibri" pitchFamily="34" charset="0"/>
                <a:ea typeface="Calibri" pitchFamily="34" charset="-122"/>
                <a:cs typeface="Calibri" pitchFamily="34" charset="-120"/>
              </a:rPr>
              <a:t>10</a:t>
            </a:r>
            <a:endParaRPr lang="en-US" sz="1300" dirty="0"/>
          </a:p>
          <a:p>
            <a:pPr algn="ctr" indent="0" marL="0">
              <a:buNone/>
            </a:pPr>
            <a:r>
              <a:rPr lang="en-US" sz="1100" b="1" dirty="0">
                <a:solidFill>
                  <a:srgbClr val="F4F3FF"/>
                </a:solidFill>
                <a:latin typeface="Calibri" pitchFamily="34" charset="0"/>
                <a:ea typeface="Calibri" pitchFamily="34" charset="-122"/>
                <a:cs typeface="Calibri" pitchFamily="34" charset="-120"/>
              </a:rPr>
              <a:t>Streaming</a:t>
            </a:r>
            <a:endParaRPr lang="en-US" sz="1300" dirty="0"/>
          </a:p>
        </p:txBody>
      </p:sp>
      <p:sp>
        <p:nvSpPr>
          <p:cNvPr id="38" name="Shape 30"/>
          <p:cNvSpPr/>
          <p:nvPr/>
        </p:nvSpPr>
        <p:spPr>
          <a:xfrm>
            <a:off x="1572768" y="5372100"/>
            <a:ext cx="94183" cy="0"/>
          </a:xfrm>
          <a:prstGeom prst="line">
            <a:avLst/>
          </a:prstGeom>
          <a:noFill/>
          <a:ln w="25400">
            <a:solidFill>
              <a:srgbClr val="3A3580"/>
            </a:solidFill>
            <a:prstDash val="solid"/>
          </a:ln>
        </p:spPr>
      </p:sp>
      <p:sp>
        <p:nvSpPr>
          <p:cNvPr id="39" name="Shape 31"/>
          <p:cNvSpPr/>
          <p:nvPr/>
        </p:nvSpPr>
        <p:spPr>
          <a:xfrm>
            <a:off x="2691079" y="5372100"/>
            <a:ext cx="94183" cy="0"/>
          </a:xfrm>
          <a:prstGeom prst="line">
            <a:avLst/>
          </a:prstGeom>
          <a:noFill/>
          <a:ln w="25400">
            <a:solidFill>
              <a:srgbClr val="3A3580"/>
            </a:solidFill>
            <a:prstDash val="solid"/>
          </a:ln>
        </p:spPr>
      </p:sp>
      <p:sp>
        <p:nvSpPr>
          <p:cNvPr id="40" name="Shape 32"/>
          <p:cNvSpPr/>
          <p:nvPr/>
        </p:nvSpPr>
        <p:spPr>
          <a:xfrm>
            <a:off x="3809390" y="5372100"/>
            <a:ext cx="94183" cy="0"/>
          </a:xfrm>
          <a:prstGeom prst="line">
            <a:avLst/>
          </a:prstGeom>
          <a:noFill/>
          <a:ln w="25400">
            <a:solidFill>
              <a:srgbClr val="3A3580"/>
            </a:solidFill>
            <a:prstDash val="solid"/>
          </a:ln>
        </p:spPr>
      </p:sp>
      <p:sp>
        <p:nvSpPr>
          <p:cNvPr id="41" name="Shape 33"/>
          <p:cNvSpPr/>
          <p:nvPr/>
        </p:nvSpPr>
        <p:spPr>
          <a:xfrm>
            <a:off x="4927702" y="5372100"/>
            <a:ext cx="94183" cy="0"/>
          </a:xfrm>
          <a:prstGeom prst="line">
            <a:avLst/>
          </a:prstGeom>
          <a:noFill/>
          <a:ln w="25400">
            <a:solidFill>
              <a:srgbClr val="3A3580"/>
            </a:solidFill>
            <a:prstDash val="solid"/>
          </a:ln>
        </p:spPr>
      </p:sp>
      <p:sp>
        <p:nvSpPr>
          <p:cNvPr id="42" name="Shape 34"/>
          <p:cNvSpPr/>
          <p:nvPr/>
        </p:nvSpPr>
        <p:spPr>
          <a:xfrm>
            <a:off x="6046013" y="5372100"/>
            <a:ext cx="94183" cy="0"/>
          </a:xfrm>
          <a:prstGeom prst="line">
            <a:avLst/>
          </a:prstGeom>
          <a:noFill/>
          <a:ln w="25400">
            <a:solidFill>
              <a:srgbClr val="3A3580"/>
            </a:solidFill>
            <a:prstDash val="solid"/>
          </a:ln>
        </p:spPr>
      </p:sp>
      <p:sp>
        <p:nvSpPr>
          <p:cNvPr id="43" name="Shape 35"/>
          <p:cNvSpPr/>
          <p:nvPr/>
        </p:nvSpPr>
        <p:spPr>
          <a:xfrm>
            <a:off x="7164324" y="5372100"/>
            <a:ext cx="94183" cy="0"/>
          </a:xfrm>
          <a:prstGeom prst="line">
            <a:avLst/>
          </a:prstGeom>
          <a:noFill/>
          <a:ln w="25400">
            <a:solidFill>
              <a:srgbClr val="3A3580"/>
            </a:solidFill>
            <a:prstDash val="solid"/>
          </a:ln>
        </p:spPr>
      </p:sp>
      <p:sp>
        <p:nvSpPr>
          <p:cNvPr id="44" name="Shape 36"/>
          <p:cNvSpPr/>
          <p:nvPr/>
        </p:nvSpPr>
        <p:spPr>
          <a:xfrm>
            <a:off x="8282635" y="5372100"/>
            <a:ext cx="94183" cy="0"/>
          </a:xfrm>
          <a:prstGeom prst="line">
            <a:avLst/>
          </a:prstGeom>
          <a:noFill/>
          <a:ln w="25400">
            <a:solidFill>
              <a:srgbClr val="3A3580"/>
            </a:solidFill>
            <a:prstDash val="solid"/>
          </a:ln>
        </p:spPr>
      </p:sp>
      <p:sp>
        <p:nvSpPr>
          <p:cNvPr id="45" name="Shape 37"/>
          <p:cNvSpPr/>
          <p:nvPr/>
        </p:nvSpPr>
        <p:spPr>
          <a:xfrm>
            <a:off x="9400946" y="5372100"/>
            <a:ext cx="94183" cy="0"/>
          </a:xfrm>
          <a:prstGeom prst="line">
            <a:avLst/>
          </a:prstGeom>
          <a:noFill/>
          <a:ln w="25400">
            <a:solidFill>
              <a:srgbClr val="3A3580"/>
            </a:solidFill>
            <a:prstDash val="solid"/>
          </a:ln>
        </p:spPr>
      </p:sp>
      <p:sp>
        <p:nvSpPr>
          <p:cNvPr id="46" name="Shape 38"/>
          <p:cNvSpPr/>
          <p:nvPr/>
        </p:nvSpPr>
        <p:spPr>
          <a:xfrm>
            <a:off x="10519258" y="5372100"/>
            <a:ext cx="94183" cy="0"/>
          </a:xfrm>
          <a:prstGeom prst="line">
            <a:avLst/>
          </a:prstGeom>
          <a:noFill/>
          <a:ln w="25400">
            <a:solidFill>
              <a:srgbClr val="3A3580"/>
            </a:solidFill>
            <a:prstDash val="solid"/>
          </a:ln>
        </p:spPr>
      </p:sp>
      <p:sp>
        <p:nvSpPr>
          <p:cNvPr id="47" name="Text 39"/>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300" b="1" dirty="0">
                <a:solidFill>
                  <a:srgbClr val="8B7CFF"/>
                </a:solidFill>
                <a:latin typeface="Calibri" pitchFamily="34" charset="0"/>
                <a:ea typeface="Calibri" pitchFamily="34" charset="-122"/>
                <a:cs typeface="Calibri" pitchFamily="34" charset="-120"/>
              </a:rPr>
              <a:t>Routing → Component → Rendering → Data fetching → Caching → User experience</a:t>
            </a:r>
            <a:endParaRPr lang="en-US" sz="13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NEXT.JS FUNDAMENTALS</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React gives you the UI. Next.js gives you the app.</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03</a:t>
            </a:r>
            <a:endParaRPr lang="en-US" sz="1100" dirty="0"/>
          </a:p>
        </p:txBody>
      </p:sp>
      <p:sp>
        <p:nvSpPr>
          <p:cNvPr id="7" name="Shape 3"/>
          <p:cNvSpPr/>
          <p:nvPr/>
        </p:nvSpPr>
        <p:spPr>
          <a:xfrm>
            <a:off x="548640" y="1600200"/>
            <a:ext cx="5212080" cy="3886200"/>
          </a:xfrm>
          <a:prstGeom prst="roundRect">
            <a:avLst>
              <a:gd name="adj" fmla="val 2824"/>
            </a:avLst>
          </a:prstGeom>
          <a:solidFill>
            <a:srgbClr val="17143F"/>
          </a:solidFill>
          <a:ln w="12700">
            <a:solidFill>
              <a:srgbClr val="3A3580"/>
            </a:solidFill>
            <a:prstDash val="solid"/>
          </a:ln>
        </p:spPr>
      </p:sp>
      <p:sp>
        <p:nvSpPr>
          <p:cNvPr id="8" name="Text 4"/>
          <p:cNvSpPr txBox="1"/>
          <p:nvPr/>
        </p:nvSpPr>
        <p:spPr>
          <a:xfrm>
            <a:off x="868680" y="1737360"/>
            <a:ext cx="3657600" cy="365760"/>
          </a:xfrm>
          <a:prstGeom prst="rect">
            <a:avLst/>
          </a:prstGeom>
          <a:noFill/>
          <a:ln/>
        </p:spPr>
        <p:txBody>
          <a:bodyPr wrap="square" lIns="0" tIns="0" rIns="0" bIns="0" rtlCol="0" anchor="t"/>
          <a:lstStyle/>
          <a:p>
            <a:pPr indent="0" marL="0">
              <a:buNone/>
            </a:pPr>
            <a:r>
              <a:rPr lang="en-US" sz="2200" b="1" dirty="0">
                <a:solidFill>
                  <a:srgbClr val="F4F3FF"/>
                </a:solidFill>
                <a:latin typeface="Calibri" pitchFamily="34" charset="0"/>
                <a:ea typeface="Calibri" pitchFamily="34" charset="-122"/>
                <a:cs typeface="Calibri" pitchFamily="34" charset="-120"/>
              </a:rPr>
              <a:t>React alone</a:t>
            </a:r>
            <a:endParaRPr lang="en-US" sz="2200" dirty="0"/>
          </a:p>
        </p:txBody>
      </p:sp>
      <p:sp>
        <p:nvSpPr>
          <p:cNvPr id="9" name="Text 5"/>
          <p:cNvSpPr txBox="1"/>
          <p:nvPr/>
        </p:nvSpPr>
        <p:spPr>
          <a:xfrm>
            <a:off x="868680" y="2121408"/>
            <a:ext cx="4572000" cy="3200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A library. You choose, install and wire every piece.</a:t>
            </a:r>
            <a:endParaRPr lang="en-US" sz="1300" dirty="0"/>
          </a:p>
        </p:txBody>
      </p:sp>
      <p:sp>
        <p:nvSpPr>
          <p:cNvPr id="10" name="Text 6"/>
          <p:cNvSpPr txBox="1"/>
          <p:nvPr/>
        </p:nvSpPr>
        <p:spPr>
          <a:xfrm>
            <a:off x="868680" y="2651760"/>
            <a:ext cx="2240280" cy="731520"/>
          </a:xfrm>
          <a:prstGeom prst="roundRect">
            <a:avLst>
              <a:gd name="adj" fmla="val 12500"/>
            </a:avLst>
          </a:prstGeom>
          <a:solidFill>
            <a:srgbClr val="0C0A20"/>
          </a:solidFill>
          <a:ln w="12700">
            <a:solidFill>
              <a:srgbClr val="A8A5D8"/>
            </a:solidFill>
            <a:prstDash val="dash"/>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Routing</a:t>
            </a:r>
            <a:endParaRPr lang="en-US" sz="1300" dirty="0"/>
          </a:p>
          <a:p>
            <a:pPr algn="ctr" indent="0" marL="0">
              <a:buNone/>
            </a:pPr>
            <a:r>
              <a:rPr lang="en-US" sz="1000" dirty="0">
                <a:solidFill>
                  <a:srgbClr val="A8A5D8"/>
                </a:solidFill>
                <a:latin typeface="Calibri" pitchFamily="34" charset="0"/>
                <a:ea typeface="Calibri" pitchFamily="34" charset="-122"/>
                <a:cs typeface="Calibri" pitchFamily="34" charset="-120"/>
              </a:rPr>
              <a:t>you decide</a:t>
            </a:r>
            <a:endParaRPr lang="en-US" sz="1300" dirty="0"/>
          </a:p>
        </p:txBody>
      </p:sp>
      <p:sp>
        <p:nvSpPr>
          <p:cNvPr id="11" name="Text 7"/>
          <p:cNvSpPr txBox="1"/>
          <p:nvPr/>
        </p:nvSpPr>
        <p:spPr>
          <a:xfrm>
            <a:off x="3246120" y="2651760"/>
            <a:ext cx="2240280" cy="731520"/>
          </a:xfrm>
          <a:prstGeom prst="roundRect">
            <a:avLst>
              <a:gd name="adj" fmla="val 12500"/>
            </a:avLst>
          </a:prstGeom>
          <a:solidFill>
            <a:srgbClr val="0C0A20"/>
          </a:solidFill>
          <a:ln w="12700">
            <a:solidFill>
              <a:srgbClr val="A8A5D8"/>
            </a:solidFill>
            <a:prstDash val="dash"/>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Server rendering</a:t>
            </a:r>
            <a:endParaRPr lang="en-US" sz="1300" dirty="0"/>
          </a:p>
          <a:p>
            <a:pPr algn="ctr" indent="0" marL="0">
              <a:buNone/>
            </a:pPr>
            <a:r>
              <a:rPr lang="en-US" sz="1000" dirty="0">
                <a:solidFill>
                  <a:srgbClr val="A8A5D8"/>
                </a:solidFill>
                <a:latin typeface="Calibri" pitchFamily="34" charset="0"/>
                <a:ea typeface="Calibri" pitchFamily="34" charset="-122"/>
                <a:cs typeface="Calibri" pitchFamily="34" charset="-120"/>
              </a:rPr>
              <a:t>you decide</a:t>
            </a:r>
            <a:endParaRPr lang="en-US" sz="1300" dirty="0"/>
          </a:p>
        </p:txBody>
      </p:sp>
      <p:sp>
        <p:nvSpPr>
          <p:cNvPr id="12" name="Text 8"/>
          <p:cNvSpPr txBox="1"/>
          <p:nvPr/>
        </p:nvSpPr>
        <p:spPr>
          <a:xfrm>
            <a:off x="868680" y="3520440"/>
            <a:ext cx="2240280" cy="731520"/>
          </a:xfrm>
          <a:prstGeom prst="roundRect">
            <a:avLst>
              <a:gd name="adj" fmla="val 12500"/>
            </a:avLst>
          </a:prstGeom>
          <a:solidFill>
            <a:srgbClr val="0C0A20"/>
          </a:solidFill>
          <a:ln w="12700">
            <a:solidFill>
              <a:srgbClr val="A8A5D8"/>
            </a:solidFill>
            <a:prstDash val="dash"/>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Bundling &amp; code splitting</a:t>
            </a:r>
            <a:endParaRPr lang="en-US" sz="1300" dirty="0"/>
          </a:p>
          <a:p>
            <a:pPr algn="ctr" indent="0" marL="0">
              <a:buNone/>
            </a:pPr>
            <a:r>
              <a:rPr lang="en-US" sz="1000" dirty="0">
                <a:solidFill>
                  <a:srgbClr val="A8A5D8"/>
                </a:solidFill>
                <a:latin typeface="Calibri" pitchFamily="34" charset="0"/>
                <a:ea typeface="Calibri" pitchFamily="34" charset="-122"/>
                <a:cs typeface="Calibri" pitchFamily="34" charset="-120"/>
              </a:rPr>
              <a:t>you decide</a:t>
            </a:r>
            <a:endParaRPr lang="en-US" sz="1300" dirty="0"/>
          </a:p>
        </p:txBody>
      </p:sp>
      <p:sp>
        <p:nvSpPr>
          <p:cNvPr id="13" name="Text 9"/>
          <p:cNvSpPr txBox="1"/>
          <p:nvPr/>
        </p:nvSpPr>
        <p:spPr>
          <a:xfrm>
            <a:off x="3246120" y="3520440"/>
            <a:ext cx="2240280" cy="731520"/>
          </a:xfrm>
          <a:prstGeom prst="roundRect">
            <a:avLst>
              <a:gd name="adj" fmla="val 12500"/>
            </a:avLst>
          </a:prstGeom>
          <a:solidFill>
            <a:srgbClr val="0C0A20"/>
          </a:solidFill>
          <a:ln w="12700">
            <a:solidFill>
              <a:srgbClr val="A8A5D8"/>
            </a:solidFill>
            <a:prstDash val="dash"/>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Image handling</a:t>
            </a:r>
            <a:endParaRPr lang="en-US" sz="1300" dirty="0"/>
          </a:p>
          <a:p>
            <a:pPr algn="ctr" indent="0" marL="0">
              <a:buNone/>
            </a:pPr>
            <a:r>
              <a:rPr lang="en-US" sz="1000" dirty="0">
                <a:solidFill>
                  <a:srgbClr val="A8A5D8"/>
                </a:solidFill>
                <a:latin typeface="Calibri" pitchFamily="34" charset="0"/>
                <a:ea typeface="Calibri" pitchFamily="34" charset="-122"/>
                <a:cs typeface="Calibri" pitchFamily="34" charset="-120"/>
              </a:rPr>
              <a:t>you decide</a:t>
            </a:r>
            <a:endParaRPr lang="en-US" sz="1300" dirty="0"/>
          </a:p>
        </p:txBody>
      </p:sp>
      <p:sp>
        <p:nvSpPr>
          <p:cNvPr id="14" name="Text 10"/>
          <p:cNvSpPr txBox="1"/>
          <p:nvPr/>
        </p:nvSpPr>
        <p:spPr>
          <a:xfrm>
            <a:off x="868680" y="4389120"/>
            <a:ext cx="2240280" cy="731520"/>
          </a:xfrm>
          <a:prstGeom prst="roundRect">
            <a:avLst>
              <a:gd name="adj" fmla="val 12500"/>
            </a:avLst>
          </a:prstGeom>
          <a:solidFill>
            <a:srgbClr val="0C0A20"/>
          </a:solidFill>
          <a:ln w="12700">
            <a:solidFill>
              <a:srgbClr val="A8A5D8"/>
            </a:solidFill>
            <a:prstDash val="dash"/>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Data loading pattern</a:t>
            </a:r>
            <a:endParaRPr lang="en-US" sz="1300" dirty="0"/>
          </a:p>
          <a:p>
            <a:pPr algn="ctr" indent="0" marL="0">
              <a:buNone/>
            </a:pPr>
            <a:r>
              <a:rPr lang="en-US" sz="1000" dirty="0">
                <a:solidFill>
                  <a:srgbClr val="A8A5D8"/>
                </a:solidFill>
                <a:latin typeface="Calibri" pitchFamily="34" charset="0"/>
                <a:ea typeface="Calibri" pitchFamily="34" charset="-122"/>
                <a:cs typeface="Calibri" pitchFamily="34" charset="-120"/>
              </a:rPr>
              <a:t>you decide</a:t>
            </a:r>
            <a:endParaRPr lang="en-US" sz="1300" dirty="0"/>
          </a:p>
        </p:txBody>
      </p:sp>
      <p:sp>
        <p:nvSpPr>
          <p:cNvPr id="15" name="Text 11"/>
          <p:cNvSpPr txBox="1"/>
          <p:nvPr/>
        </p:nvSpPr>
        <p:spPr>
          <a:xfrm>
            <a:off x="3246120" y="4389120"/>
            <a:ext cx="2240280" cy="731520"/>
          </a:xfrm>
          <a:prstGeom prst="roundRect">
            <a:avLst>
              <a:gd name="adj" fmla="val 12500"/>
            </a:avLst>
          </a:prstGeom>
          <a:solidFill>
            <a:srgbClr val="0C0A20"/>
          </a:solidFill>
          <a:ln w="12700">
            <a:solidFill>
              <a:srgbClr val="A8A5D8"/>
            </a:solidFill>
            <a:prstDash val="dash"/>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SEO &amp; metadata</a:t>
            </a:r>
            <a:endParaRPr lang="en-US" sz="1300" dirty="0"/>
          </a:p>
          <a:p>
            <a:pPr algn="ctr" indent="0" marL="0">
              <a:buNone/>
            </a:pPr>
            <a:r>
              <a:rPr lang="en-US" sz="1000" dirty="0">
                <a:solidFill>
                  <a:srgbClr val="A8A5D8"/>
                </a:solidFill>
                <a:latin typeface="Calibri" pitchFamily="34" charset="0"/>
                <a:ea typeface="Calibri" pitchFamily="34" charset="-122"/>
                <a:cs typeface="Calibri" pitchFamily="34" charset="-120"/>
              </a:rPr>
              <a:t>you decide</a:t>
            </a:r>
            <a:endParaRPr lang="en-US" sz="1300" dirty="0"/>
          </a:p>
        </p:txBody>
      </p:sp>
      <p:sp>
        <p:nvSpPr>
          <p:cNvPr id="16" name="Shape 12"/>
          <p:cNvSpPr/>
          <p:nvPr/>
        </p:nvSpPr>
        <p:spPr>
          <a:xfrm>
            <a:off x="5897880" y="3520440"/>
            <a:ext cx="548640" cy="0"/>
          </a:xfrm>
          <a:prstGeom prst="line">
            <a:avLst/>
          </a:prstGeom>
          <a:noFill/>
          <a:ln w="38100">
            <a:solidFill>
              <a:srgbClr val="E64BDA"/>
            </a:solidFill>
            <a:prstDash val="solid"/>
            <a:tailEnd type="triangle"/>
          </a:ln>
        </p:spPr>
      </p:sp>
      <p:sp>
        <p:nvSpPr>
          <p:cNvPr id="17" name="Shape 13"/>
          <p:cNvSpPr/>
          <p:nvPr/>
        </p:nvSpPr>
        <p:spPr>
          <a:xfrm>
            <a:off x="6583680" y="1600200"/>
            <a:ext cx="5056632" cy="3886200"/>
          </a:xfrm>
          <a:prstGeom prst="roundRect">
            <a:avLst>
              <a:gd name="adj" fmla="val 2824"/>
            </a:avLst>
          </a:prstGeom>
          <a:solidFill>
            <a:srgbClr val="17143F"/>
          </a:solidFill>
          <a:ln w="19050">
            <a:solidFill>
              <a:srgbClr val="8B7CFF"/>
            </a:solidFill>
            <a:prstDash val="solid"/>
          </a:ln>
        </p:spPr>
      </p:sp>
      <p:sp>
        <p:nvSpPr>
          <p:cNvPr id="18" name="Text 14"/>
          <p:cNvSpPr txBox="1"/>
          <p:nvPr/>
        </p:nvSpPr>
        <p:spPr>
          <a:xfrm>
            <a:off x="6903720" y="1737360"/>
            <a:ext cx="3657600" cy="365760"/>
          </a:xfrm>
          <a:prstGeom prst="rect">
            <a:avLst/>
          </a:prstGeom>
          <a:noFill/>
          <a:ln/>
        </p:spPr>
        <p:txBody>
          <a:bodyPr wrap="square" lIns="0" tIns="0" rIns="0" bIns="0" rtlCol="0" anchor="t"/>
          <a:lstStyle/>
          <a:p>
            <a:pPr indent="0" marL="0">
              <a:buNone/>
            </a:pPr>
            <a:r>
              <a:rPr lang="en-US" sz="2200" b="1" dirty="0">
                <a:solidFill>
                  <a:srgbClr val="F4F3FF"/>
                </a:solidFill>
                <a:latin typeface="Calibri" pitchFamily="34" charset="0"/>
                <a:ea typeface="Calibri" pitchFamily="34" charset="-122"/>
                <a:cs typeface="Calibri" pitchFamily="34" charset="-120"/>
              </a:rPr>
              <a:t>Next.js</a:t>
            </a:r>
            <a:endParaRPr lang="en-US" sz="2200" dirty="0"/>
          </a:p>
        </p:txBody>
      </p:sp>
      <p:sp>
        <p:nvSpPr>
          <p:cNvPr id="19" name="Text 15"/>
          <p:cNvSpPr txBox="1"/>
          <p:nvPr/>
        </p:nvSpPr>
        <p:spPr>
          <a:xfrm>
            <a:off x="6903720" y="2121408"/>
            <a:ext cx="4572000" cy="3200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A framework on top of React, with defaults built in.</a:t>
            </a:r>
            <a:endParaRPr lang="en-US" sz="1300" dirty="0"/>
          </a:p>
        </p:txBody>
      </p:sp>
      <p:sp>
        <p:nvSpPr>
          <p:cNvPr id="20" name="Text 16"/>
          <p:cNvSpPr txBox="1"/>
          <p:nvPr/>
        </p:nvSpPr>
        <p:spPr>
          <a:xfrm>
            <a:off x="6903720" y="2606040"/>
            <a:ext cx="4434840" cy="493776"/>
          </a:xfrm>
          <a:prstGeom prst="roundRect">
            <a:avLst>
              <a:gd name="adj" fmla="val 18519"/>
            </a:avLst>
          </a:prstGeom>
          <a:solidFill>
            <a:srgbClr val="221E58"/>
          </a:solidFill>
          <a:ln w="12700">
            <a:solidFill>
              <a:srgbClr val="34D399"/>
            </a:solidFill>
            <a:prstDash val="solid"/>
          </a:ln>
        </p:spPr>
        <p:txBody>
          <a:bodyPr wrap="square" lIns="101600" tIns="101600" rIns="101600" bIns="101600" rtlCol="0" anchor="ctr"/>
          <a:lstStyle/>
          <a:p>
            <a:pPr algn="l" indent="0" marL="0">
              <a:buNone/>
            </a:pPr>
            <a:r>
              <a:rPr lang="en-US" sz="1400" b="1" dirty="0">
                <a:solidFill>
                  <a:srgbClr val="F4F3FF"/>
                </a:solidFill>
                <a:latin typeface="Calibri" pitchFamily="34" charset="0"/>
                <a:ea typeface="Calibri" pitchFamily="34" charset="-122"/>
                <a:cs typeface="Calibri" pitchFamily="34" charset="-120"/>
              </a:rPr>
              <a:t>Optimizations  </a:t>
            </a:r>
            <a:pPr algn="l" indent="0" marL="0">
              <a:buNone/>
            </a:pPr>
            <a:r>
              <a:rPr lang="en-US" sz="1100" dirty="0">
                <a:solidFill>
                  <a:srgbClr val="A8A5D8"/>
                </a:solidFill>
                <a:latin typeface="Calibri" pitchFamily="34" charset="0"/>
                <a:ea typeface="Calibri" pitchFamily="34" charset="-122"/>
                <a:cs typeface="Calibri" pitchFamily="34" charset="-120"/>
              </a:rPr>
              <a:t>image, font, script, splitting</a:t>
            </a:r>
            <a:endParaRPr lang="en-US" sz="1300" dirty="0"/>
          </a:p>
        </p:txBody>
      </p:sp>
      <p:sp>
        <p:nvSpPr>
          <p:cNvPr id="21" name="Text 17"/>
          <p:cNvSpPr txBox="1"/>
          <p:nvPr/>
        </p:nvSpPr>
        <p:spPr>
          <a:xfrm>
            <a:off x="6903720" y="3172968"/>
            <a:ext cx="4434840" cy="493776"/>
          </a:xfrm>
          <a:prstGeom prst="roundRect">
            <a:avLst>
              <a:gd name="adj" fmla="val 18519"/>
            </a:avLst>
          </a:prstGeom>
          <a:solidFill>
            <a:srgbClr val="221E58"/>
          </a:solidFill>
          <a:ln w="12700">
            <a:solidFill>
              <a:srgbClr val="22D3EE"/>
            </a:solidFill>
            <a:prstDash val="solid"/>
          </a:ln>
        </p:spPr>
        <p:txBody>
          <a:bodyPr wrap="square" lIns="101600" tIns="101600" rIns="101600" bIns="101600" rtlCol="0" anchor="ctr"/>
          <a:lstStyle/>
          <a:p>
            <a:pPr algn="l" indent="0" marL="0">
              <a:buNone/>
            </a:pPr>
            <a:r>
              <a:rPr lang="en-US" sz="1400" b="1" dirty="0">
                <a:solidFill>
                  <a:srgbClr val="F4F3FF"/>
                </a:solidFill>
                <a:latin typeface="Calibri" pitchFamily="34" charset="0"/>
                <a:ea typeface="Calibri" pitchFamily="34" charset="-122"/>
                <a:cs typeface="Calibri" pitchFamily="34" charset="-120"/>
              </a:rPr>
              <a:t>Data fetching &amp; caching  </a:t>
            </a:r>
            <a:pPr algn="l" indent="0" marL="0">
              <a:buNone/>
            </a:pPr>
            <a:r>
              <a:rPr lang="en-US" sz="1100" dirty="0">
                <a:solidFill>
                  <a:srgbClr val="A8A5D8"/>
                </a:solidFill>
                <a:latin typeface="Calibri" pitchFamily="34" charset="0"/>
                <a:ea typeface="Calibri" pitchFamily="34" charset="-122"/>
                <a:cs typeface="Calibri" pitchFamily="34" charset="-120"/>
              </a:rPr>
              <a:t>on the server, by default</a:t>
            </a:r>
            <a:endParaRPr lang="en-US" sz="1300" dirty="0"/>
          </a:p>
        </p:txBody>
      </p:sp>
      <p:sp>
        <p:nvSpPr>
          <p:cNvPr id="22" name="Text 18"/>
          <p:cNvSpPr txBox="1"/>
          <p:nvPr/>
        </p:nvSpPr>
        <p:spPr>
          <a:xfrm>
            <a:off x="6903720" y="3739896"/>
            <a:ext cx="4434840" cy="493776"/>
          </a:xfrm>
          <a:prstGeom prst="roundRect">
            <a:avLst>
              <a:gd name="adj" fmla="val 18519"/>
            </a:avLst>
          </a:prstGeom>
          <a:solidFill>
            <a:srgbClr val="221E58"/>
          </a:solidFill>
          <a:ln w="12700">
            <a:solidFill>
              <a:srgbClr val="22D3EE"/>
            </a:solidFill>
            <a:prstDash val="solid"/>
          </a:ln>
        </p:spPr>
        <p:txBody>
          <a:bodyPr wrap="square" lIns="101600" tIns="101600" rIns="101600" bIns="101600" rtlCol="0" anchor="ctr"/>
          <a:lstStyle/>
          <a:p>
            <a:pPr algn="l" indent="0" marL="0">
              <a:buNone/>
            </a:pPr>
            <a:r>
              <a:rPr lang="en-US" sz="1400" b="1" dirty="0">
                <a:solidFill>
                  <a:srgbClr val="F4F3FF"/>
                </a:solidFill>
                <a:latin typeface="Calibri" pitchFamily="34" charset="0"/>
                <a:ea typeface="Calibri" pitchFamily="34" charset="-122"/>
                <a:cs typeface="Calibri" pitchFamily="34" charset="-120"/>
              </a:rPr>
              <a:t>Rendering  </a:t>
            </a:r>
            <a:pPr algn="l" indent="0" marL="0">
              <a:buNone/>
            </a:pPr>
            <a:r>
              <a:rPr lang="en-US" sz="1100" dirty="0">
                <a:solidFill>
                  <a:srgbClr val="A8A5D8"/>
                </a:solidFill>
                <a:latin typeface="Calibri" pitchFamily="34" charset="0"/>
                <a:ea typeface="Calibri" pitchFamily="34" charset="-122"/>
                <a:cs typeface="Calibri" pitchFamily="34" charset="-120"/>
              </a:rPr>
              <a:t>server, static or client, per page</a:t>
            </a:r>
            <a:endParaRPr lang="en-US" sz="1300" dirty="0"/>
          </a:p>
        </p:txBody>
      </p:sp>
      <p:sp>
        <p:nvSpPr>
          <p:cNvPr id="23" name="Text 19"/>
          <p:cNvSpPr txBox="1"/>
          <p:nvPr/>
        </p:nvSpPr>
        <p:spPr>
          <a:xfrm>
            <a:off x="6903720" y="4306824"/>
            <a:ext cx="4434840" cy="493776"/>
          </a:xfrm>
          <a:prstGeom prst="roundRect">
            <a:avLst>
              <a:gd name="adj" fmla="val 18519"/>
            </a:avLst>
          </a:prstGeom>
          <a:solidFill>
            <a:srgbClr val="221E58"/>
          </a:solidFill>
          <a:ln w="12700">
            <a:solidFill>
              <a:srgbClr val="8B7CFF"/>
            </a:solidFill>
            <a:prstDash val="solid"/>
          </a:ln>
        </p:spPr>
        <p:txBody>
          <a:bodyPr wrap="square" lIns="101600" tIns="101600" rIns="101600" bIns="101600" rtlCol="0" anchor="ctr"/>
          <a:lstStyle/>
          <a:p>
            <a:pPr algn="l" indent="0" marL="0">
              <a:buNone/>
            </a:pPr>
            <a:r>
              <a:rPr lang="en-US" sz="1400" b="1" dirty="0">
                <a:solidFill>
                  <a:srgbClr val="F4F3FF"/>
                </a:solidFill>
                <a:latin typeface="Calibri" pitchFamily="34" charset="0"/>
                <a:ea typeface="Calibri" pitchFamily="34" charset="-122"/>
                <a:cs typeface="Calibri" pitchFamily="34" charset="-120"/>
              </a:rPr>
              <a:t>Routing &amp; layouts  </a:t>
            </a:r>
            <a:pPr algn="l" indent="0" marL="0">
              <a:buNone/>
            </a:pPr>
            <a:r>
              <a:rPr lang="en-US" sz="1100" dirty="0">
                <a:solidFill>
                  <a:srgbClr val="A8A5D8"/>
                </a:solidFill>
                <a:latin typeface="Calibri" pitchFamily="34" charset="0"/>
                <a:ea typeface="Calibri" pitchFamily="34" charset="-122"/>
                <a:cs typeface="Calibri" pitchFamily="34" charset="-120"/>
              </a:rPr>
              <a:t>from your folders</a:t>
            </a:r>
            <a:endParaRPr lang="en-US" sz="1300" dirty="0"/>
          </a:p>
        </p:txBody>
      </p:sp>
      <p:sp>
        <p:nvSpPr>
          <p:cNvPr id="24" name="Text 20"/>
          <p:cNvSpPr txBox="1"/>
          <p:nvPr/>
        </p:nvSpPr>
        <p:spPr>
          <a:xfrm>
            <a:off x="6903720" y="4873752"/>
            <a:ext cx="4434840" cy="493776"/>
          </a:xfrm>
          <a:prstGeom prst="roundRect">
            <a:avLst>
              <a:gd name="adj" fmla="val 18519"/>
            </a:avLst>
          </a:prstGeom>
          <a:solidFill>
            <a:srgbClr val="221E58"/>
          </a:solidFill>
          <a:ln w="12700">
            <a:solidFill>
              <a:srgbClr val="E64BDA"/>
            </a:solidFill>
            <a:prstDash val="solid"/>
          </a:ln>
        </p:spPr>
        <p:txBody>
          <a:bodyPr wrap="square" lIns="101600" tIns="101600" rIns="101600" bIns="101600" rtlCol="0" anchor="ctr"/>
          <a:lstStyle/>
          <a:p>
            <a:pPr algn="l" indent="0" marL="0">
              <a:buNone/>
            </a:pPr>
            <a:r>
              <a:rPr lang="en-US" sz="1400" b="1" dirty="0">
                <a:solidFill>
                  <a:srgbClr val="F4F3FF"/>
                </a:solidFill>
                <a:latin typeface="Calibri" pitchFamily="34" charset="0"/>
                <a:ea typeface="Calibri" pitchFamily="34" charset="-122"/>
                <a:cs typeface="Calibri" pitchFamily="34" charset="-120"/>
              </a:rPr>
              <a:t>React  </a:t>
            </a:r>
            <a:pPr algn="l" indent="0" marL="0">
              <a:buNone/>
            </a:pPr>
            <a:r>
              <a:rPr lang="en-US" sz="1100" dirty="0">
                <a:solidFill>
                  <a:srgbClr val="A8A5D8"/>
                </a:solidFill>
                <a:latin typeface="Calibri" pitchFamily="34" charset="0"/>
                <a:ea typeface="Calibri" pitchFamily="34" charset="-122"/>
                <a:cs typeface="Calibri" pitchFamily="34" charset="-120"/>
              </a:rPr>
              <a:t>components, JSX, state</a:t>
            </a:r>
            <a:endParaRPr lang="en-US" sz="1300" dirty="0"/>
          </a:p>
        </p:txBody>
      </p:sp>
      <p:sp>
        <p:nvSpPr>
          <p:cNvPr id="25" name="Shape 21"/>
          <p:cNvSpPr/>
          <p:nvPr/>
        </p:nvSpPr>
        <p:spPr>
          <a:xfrm>
            <a:off x="548640" y="5669280"/>
            <a:ext cx="11091672" cy="502920"/>
          </a:xfrm>
          <a:prstGeom prst="roundRect">
            <a:avLst>
              <a:gd name="adj" fmla="val 21818"/>
            </a:avLst>
          </a:prstGeom>
          <a:solidFill>
            <a:srgbClr val="221E58"/>
          </a:solidFill>
          <a:ln w="12700">
            <a:solidFill>
              <a:srgbClr val="8B7CFF"/>
            </a:solidFill>
            <a:prstDash val="solid"/>
          </a:ln>
        </p:spPr>
      </p:sp>
      <p:pic>
        <p:nvPicPr>
          <p:cNvPr id="26" name="Image 1" descr="preencoded.png">    </p:cNvPr>
          <p:cNvPicPr>
            <a:picLocks noChangeAspect="1"/>
          </p:cNvPicPr>
          <p:nvPr/>
        </p:nvPicPr>
        <p:blipFill>
          <a:blip r:embed="rId3"/>
          <a:stretch>
            <a:fillRect/>
          </a:stretch>
        </p:blipFill>
        <p:spPr>
          <a:xfrm>
            <a:off x="777240" y="5779008"/>
            <a:ext cx="274320" cy="274320"/>
          </a:xfrm>
          <a:prstGeom prst="rect">
            <a:avLst/>
          </a:prstGeom>
        </p:spPr>
      </p:pic>
      <p:sp>
        <p:nvSpPr>
          <p:cNvPr id="27" name="Text 22"/>
          <p:cNvSpPr txBox="1"/>
          <p:nvPr/>
        </p:nvSpPr>
        <p:spPr>
          <a:xfrm>
            <a:off x="1188720" y="5669280"/>
            <a:ext cx="10058400" cy="502920"/>
          </a:xfrm>
          <a:prstGeom prst="rect">
            <a:avLst/>
          </a:prstGeom>
          <a:noFill/>
          <a:ln/>
        </p:spPr>
        <p:txBody>
          <a:bodyPr wrap="square" lIns="0" tIns="0" rIns="0" bIns="0" rtlCol="0" anchor="ctr"/>
          <a:lstStyle/>
          <a:p>
            <a:pPr indent="0" marL="0">
              <a:buNone/>
            </a:pPr>
            <a:r>
              <a:rPr lang="en-US" sz="1500" b="1" dirty="0">
                <a:solidFill>
                  <a:srgbClr val="F4F3FF"/>
                </a:solidFill>
                <a:latin typeface="Calibri" pitchFamily="34" charset="0"/>
                <a:ea typeface="Calibri" pitchFamily="34" charset="-122"/>
                <a:cs typeface="Calibri" pitchFamily="34" charset="-120"/>
              </a:rPr>
              <a:t>Next.js does not replace React. Your components are still React components.</a:t>
            </a:r>
            <a:endParaRPr lang="en-US" sz="15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NEXT.JS FUNDAMENTALS</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Why choose Next.js? Three ideas</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04</a:t>
            </a:r>
            <a:endParaRPr lang="en-US" sz="1100" dirty="0"/>
          </a:p>
        </p:txBody>
      </p:sp>
      <p:sp>
        <p:nvSpPr>
          <p:cNvPr id="7" name="Shape 3"/>
          <p:cNvSpPr/>
          <p:nvPr/>
        </p:nvSpPr>
        <p:spPr>
          <a:xfrm>
            <a:off x="548640" y="1600200"/>
            <a:ext cx="3593592" cy="4526280"/>
          </a:xfrm>
          <a:prstGeom prst="roundRect">
            <a:avLst>
              <a:gd name="adj" fmla="val 3053"/>
            </a:avLst>
          </a:prstGeom>
          <a:solidFill>
            <a:srgbClr val="17143F"/>
          </a:solidFill>
          <a:ln w="12700">
            <a:solidFill>
              <a:srgbClr val="8B7CFF"/>
            </a:solidFill>
            <a:prstDash val="solid"/>
          </a:ln>
        </p:spPr>
      </p:sp>
      <p:sp>
        <p:nvSpPr>
          <p:cNvPr id="8" name="Shape 4"/>
          <p:cNvSpPr/>
          <p:nvPr/>
        </p:nvSpPr>
        <p:spPr>
          <a:xfrm>
            <a:off x="822960" y="1920240"/>
            <a:ext cx="822960" cy="822960"/>
          </a:xfrm>
          <a:prstGeom prst="ellipse">
            <a:avLst/>
          </a:prstGeom>
          <a:solidFill>
            <a:srgbClr val="221E58"/>
          </a:solidFill>
          <a:ln w="15875">
            <a:solidFill>
              <a:srgbClr val="8B7CFF"/>
            </a:solidFill>
            <a:prstDash val="solid"/>
          </a:ln>
        </p:spPr>
      </p:sp>
      <p:pic>
        <p:nvPicPr>
          <p:cNvPr id="9" name="Image 1" descr="preencoded.png">    </p:cNvPr>
          <p:cNvPicPr>
            <a:picLocks noChangeAspect="1"/>
          </p:cNvPicPr>
          <p:nvPr/>
        </p:nvPicPr>
        <p:blipFill>
          <a:blip r:embed="rId3"/>
          <a:stretch>
            <a:fillRect/>
          </a:stretch>
        </p:blipFill>
        <p:spPr>
          <a:xfrm>
            <a:off x="1028700" y="2125980"/>
            <a:ext cx="411480" cy="411480"/>
          </a:xfrm>
          <a:prstGeom prst="rect">
            <a:avLst/>
          </a:prstGeom>
        </p:spPr>
      </p:pic>
      <p:sp>
        <p:nvSpPr>
          <p:cNvPr id="10" name="Text 5"/>
          <p:cNvSpPr txBox="1"/>
          <p:nvPr/>
        </p:nvSpPr>
        <p:spPr>
          <a:xfrm>
            <a:off x="822960" y="2971800"/>
            <a:ext cx="3108960" cy="731520"/>
          </a:xfrm>
          <a:prstGeom prst="rect">
            <a:avLst/>
          </a:prstGeom>
          <a:noFill/>
          <a:ln/>
        </p:spPr>
        <p:txBody>
          <a:bodyPr wrap="square" lIns="0" tIns="0" rIns="0" bIns="0" rtlCol="0" anchor="t"/>
          <a:lstStyle/>
          <a:p>
            <a:pPr indent="0" marL="0">
              <a:buNone/>
            </a:pPr>
            <a:r>
              <a:rPr lang="en-US" sz="2000" b="1" dirty="0">
                <a:solidFill>
                  <a:srgbClr val="F4F3FF"/>
                </a:solidFill>
                <a:latin typeface="Calibri" pitchFamily="34" charset="0"/>
                <a:ea typeface="Calibri" pitchFamily="34" charset="-122"/>
                <a:cs typeface="Calibri" pitchFamily="34" charset="-120"/>
              </a:rPr>
              <a:t>Convention over configuration</a:t>
            </a:r>
            <a:endParaRPr lang="en-US" sz="2000" dirty="0"/>
          </a:p>
        </p:txBody>
      </p:sp>
      <p:sp>
        <p:nvSpPr>
          <p:cNvPr id="11" name="Text 6"/>
          <p:cNvSpPr txBox="1"/>
          <p:nvPr/>
        </p:nvSpPr>
        <p:spPr>
          <a:xfrm>
            <a:off x="822960" y="3703320"/>
            <a:ext cx="3063240" cy="91440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Put a file in the right place and it just works. No routing config to write.</a:t>
            </a:r>
            <a:endParaRPr lang="en-US" sz="1300" dirty="0"/>
          </a:p>
        </p:txBody>
      </p:sp>
      <p:sp>
        <p:nvSpPr>
          <p:cNvPr id="12" name="Text 7"/>
          <p:cNvSpPr txBox="1"/>
          <p:nvPr/>
        </p:nvSpPr>
        <p:spPr>
          <a:xfrm>
            <a:off x="822960" y="4709160"/>
            <a:ext cx="3044952" cy="640080"/>
          </a:xfrm>
          <a:prstGeom prst="roundRect">
            <a:avLst>
              <a:gd name="adj" fmla="val 14286"/>
            </a:avLst>
          </a:prstGeom>
          <a:solidFill>
            <a:srgbClr val="08071A"/>
          </a:solidFill>
          <a:ln w="12700">
            <a:solidFill>
              <a:srgbClr val="3A3580"/>
            </a:solidFill>
            <a:prstDash val="solid"/>
          </a:ln>
        </p:spPr>
        <p:txBody>
          <a:bodyPr wrap="square" lIns="50800" tIns="50800" rIns="50800" bIns="50800" rtlCol="0" anchor="ctr"/>
          <a:lstStyle/>
          <a:p>
            <a:pPr algn="ctr" indent="0" marL="0">
              <a:buNone/>
            </a:pPr>
            <a:r>
              <a:rPr lang="en-US" sz="1100" dirty="0">
                <a:solidFill>
                  <a:srgbClr val="F4F3FF"/>
                </a:solidFill>
                <a:latin typeface="Courier New" pitchFamily="34" charset="0"/>
                <a:ea typeface="Courier New" pitchFamily="34" charset="-122"/>
                <a:cs typeface="Courier New" pitchFamily="34" charset="-120"/>
              </a:rPr>
              <a:t>app/about/page.tsx</a:t>
            </a:r>
            <a:endParaRPr lang="en-US" sz="1300" dirty="0"/>
          </a:p>
          <a:p>
            <a:pPr algn="ctr" indent="0" marL="0">
              <a:buNone/>
            </a:pPr>
            <a:r>
              <a:rPr lang="en-US" sz="1100" dirty="0">
                <a:solidFill>
                  <a:srgbClr val="8B7CFF"/>
                </a:solidFill>
                <a:latin typeface="Courier New" pitchFamily="34" charset="0"/>
                <a:ea typeface="Courier New" pitchFamily="34" charset="-122"/>
                <a:cs typeface="Courier New" pitchFamily="34" charset="-120"/>
              </a:rPr>
              <a:t>→ /about</a:t>
            </a:r>
            <a:endParaRPr lang="en-US" sz="1300" dirty="0"/>
          </a:p>
        </p:txBody>
      </p:sp>
      <p:sp>
        <p:nvSpPr>
          <p:cNvPr id="13" name="Text 8"/>
          <p:cNvSpPr txBox="1"/>
          <p:nvPr/>
        </p:nvSpPr>
        <p:spPr>
          <a:xfrm>
            <a:off x="822960" y="5532120"/>
            <a:ext cx="3108960" cy="365760"/>
          </a:xfrm>
          <a:prstGeom prst="rect">
            <a:avLst/>
          </a:prstGeom>
          <a:noFill/>
          <a:ln/>
        </p:spPr>
        <p:txBody>
          <a:bodyPr wrap="square" lIns="0" tIns="0" rIns="0" bIns="0" rtlCol="0" anchor="t"/>
          <a:lstStyle/>
          <a:p>
            <a:pPr indent="0" marL="0">
              <a:buNone/>
            </a:pPr>
            <a:r>
              <a:rPr lang="en-US" sz="1200" b="1" dirty="0">
                <a:solidFill>
                  <a:srgbClr val="8B7CFF"/>
                </a:solidFill>
                <a:latin typeface="Calibri" pitchFamily="34" charset="0"/>
                <a:ea typeface="Calibri" pitchFamily="34" charset="-122"/>
                <a:cs typeface="Calibri" pitchFamily="34" charset="-120"/>
              </a:rPr>
              <a:t>Why? Less setup, more building.</a:t>
            </a:r>
            <a:endParaRPr lang="en-US" sz="1200" dirty="0"/>
          </a:p>
        </p:txBody>
      </p:sp>
      <p:sp>
        <p:nvSpPr>
          <p:cNvPr id="14" name="Shape 9"/>
          <p:cNvSpPr/>
          <p:nvPr/>
        </p:nvSpPr>
        <p:spPr>
          <a:xfrm>
            <a:off x="4297680" y="1600200"/>
            <a:ext cx="3593592" cy="4526280"/>
          </a:xfrm>
          <a:prstGeom prst="roundRect">
            <a:avLst>
              <a:gd name="adj" fmla="val 3053"/>
            </a:avLst>
          </a:prstGeom>
          <a:solidFill>
            <a:srgbClr val="17143F"/>
          </a:solidFill>
          <a:ln w="12700">
            <a:solidFill>
              <a:srgbClr val="22D3EE"/>
            </a:solidFill>
            <a:prstDash val="solid"/>
          </a:ln>
        </p:spPr>
      </p:sp>
      <p:sp>
        <p:nvSpPr>
          <p:cNvPr id="15" name="Shape 10"/>
          <p:cNvSpPr/>
          <p:nvPr/>
        </p:nvSpPr>
        <p:spPr>
          <a:xfrm>
            <a:off x="4572000" y="1920240"/>
            <a:ext cx="822960" cy="822960"/>
          </a:xfrm>
          <a:prstGeom prst="ellipse">
            <a:avLst/>
          </a:prstGeom>
          <a:solidFill>
            <a:srgbClr val="221E58"/>
          </a:solidFill>
          <a:ln w="15875">
            <a:solidFill>
              <a:srgbClr val="22D3EE"/>
            </a:solidFill>
            <a:prstDash val="solid"/>
          </a:ln>
        </p:spPr>
      </p:sp>
      <p:pic>
        <p:nvPicPr>
          <p:cNvPr id="16" name="Image 2" descr="preencoded.png">    </p:cNvPr>
          <p:cNvPicPr>
            <a:picLocks noChangeAspect="1"/>
          </p:cNvPicPr>
          <p:nvPr/>
        </p:nvPicPr>
        <p:blipFill>
          <a:blip r:embed="rId4"/>
          <a:stretch>
            <a:fillRect/>
          </a:stretch>
        </p:blipFill>
        <p:spPr>
          <a:xfrm>
            <a:off x="4777740" y="2125980"/>
            <a:ext cx="411480" cy="411480"/>
          </a:xfrm>
          <a:prstGeom prst="rect">
            <a:avLst/>
          </a:prstGeom>
        </p:spPr>
      </p:pic>
      <p:sp>
        <p:nvSpPr>
          <p:cNvPr id="17" name="Text 11"/>
          <p:cNvSpPr txBox="1"/>
          <p:nvPr/>
        </p:nvSpPr>
        <p:spPr>
          <a:xfrm>
            <a:off x="4572000" y="2971800"/>
            <a:ext cx="3108960" cy="731520"/>
          </a:xfrm>
          <a:prstGeom prst="rect">
            <a:avLst/>
          </a:prstGeom>
          <a:noFill/>
          <a:ln/>
        </p:spPr>
        <p:txBody>
          <a:bodyPr wrap="square" lIns="0" tIns="0" rIns="0" bIns="0" rtlCol="0" anchor="t"/>
          <a:lstStyle/>
          <a:p>
            <a:pPr indent="0" marL="0">
              <a:buNone/>
            </a:pPr>
            <a:r>
              <a:rPr lang="en-US" sz="2000" b="1" dirty="0">
                <a:solidFill>
                  <a:srgbClr val="F4F3FF"/>
                </a:solidFill>
                <a:latin typeface="Calibri" pitchFamily="34" charset="0"/>
                <a:ea typeface="Calibri" pitchFamily="34" charset="-122"/>
                <a:cs typeface="Calibri" pitchFamily="34" charset="-120"/>
              </a:rPr>
              <a:t>Server-first</a:t>
            </a:r>
            <a:endParaRPr lang="en-US" sz="2000" dirty="0"/>
          </a:p>
        </p:txBody>
      </p:sp>
      <p:sp>
        <p:nvSpPr>
          <p:cNvPr id="18" name="Text 12"/>
          <p:cNvSpPr txBox="1"/>
          <p:nvPr/>
        </p:nvSpPr>
        <p:spPr>
          <a:xfrm>
            <a:off x="4572000" y="3703320"/>
            <a:ext cx="3063240" cy="91440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Do the heavy work on the server. Send the browser finished HTML and less JavaScript.</a:t>
            </a:r>
            <a:endParaRPr lang="en-US" sz="1300" dirty="0"/>
          </a:p>
        </p:txBody>
      </p:sp>
      <p:sp>
        <p:nvSpPr>
          <p:cNvPr id="19" name="Text 13"/>
          <p:cNvSpPr txBox="1"/>
          <p:nvPr/>
        </p:nvSpPr>
        <p:spPr>
          <a:xfrm>
            <a:off x="4572000" y="4709160"/>
            <a:ext cx="3044952" cy="640080"/>
          </a:xfrm>
          <a:prstGeom prst="roundRect">
            <a:avLst>
              <a:gd name="adj" fmla="val 14286"/>
            </a:avLst>
          </a:prstGeom>
          <a:solidFill>
            <a:srgbClr val="08071A"/>
          </a:solidFill>
          <a:ln w="12700">
            <a:solidFill>
              <a:srgbClr val="3A3580"/>
            </a:solidFill>
            <a:prstDash val="solid"/>
          </a:ln>
        </p:spPr>
        <p:txBody>
          <a:bodyPr wrap="square" lIns="50800" tIns="50800" rIns="50800" bIns="50800" rtlCol="0" anchor="ctr"/>
          <a:lstStyle/>
          <a:p>
            <a:pPr algn="ctr" indent="0" marL="0">
              <a:buNone/>
            </a:pPr>
            <a:r>
              <a:rPr lang="en-US" sz="1100" dirty="0">
                <a:solidFill>
                  <a:srgbClr val="F4F3FF"/>
                </a:solidFill>
                <a:latin typeface="Courier New" pitchFamily="34" charset="0"/>
                <a:ea typeface="Courier New" pitchFamily="34" charset="-122"/>
                <a:cs typeface="Courier New" pitchFamily="34" charset="-120"/>
              </a:rPr>
              <a:t>Server Component</a:t>
            </a:r>
            <a:endParaRPr lang="en-US" sz="1300" dirty="0"/>
          </a:p>
          <a:p>
            <a:pPr algn="ctr" indent="0" marL="0">
              <a:buNone/>
            </a:pPr>
            <a:r>
              <a:rPr lang="en-US" sz="1100" dirty="0">
                <a:solidFill>
                  <a:srgbClr val="22D3EE"/>
                </a:solidFill>
                <a:latin typeface="Courier New" pitchFamily="34" charset="0"/>
                <a:ea typeface="Courier New" pitchFamily="34" charset="-122"/>
                <a:cs typeface="Courier New" pitchFamily="34" charset="-120"/>
              </a:rPr>
              <a:t>is the default</a:t>
            </a:r>
            <a:endParaRPr lang="en-US" sz="1300" dirty="0"/>
          </a:p>
        </p:txBody>
      </p:sp>
      <p:sp>
        <p:nvSpPr>
          <p:cNvPr id="20" name="Text 14"/>
          <p:cNvSpPr txBox="1"/>
          <p:nvPr/>
        </p:nvSpPr>
        <p:spPr>
          <a:xfrm>
            <a:off x="4572000" y="5532120"/>
            <a:ext cx="3108960" cy="365760"/>
          </a:xfrm>
          <a:prstGeom prst="rect">
            <a:avLst/>
          </a:prstGeom>
          <a:noFill/>
          <a:ln/>
        </p:spPr>
        <p:txBody>
          <a:bodyPr wrap="square" lIns="0" tIns="0" rIns="0" bIns="0" rtlCol="0" anchor="t"/>
          <a:lstStyle/>
          <a:p>
            <a:pPr indent="0" marL="0">
              <a:buNone/>
            </a:pPr>
            <a:r>
              <a:rPr lang="en-US" sz="1200" b="1" dirty="0">
                <a:solidFill>
                  <a:srgbClr val="22D3EE"/>
                </a:solidFill>
                <a:latin typeface="Calibri" pitchFamily="34" charset="0"/>
                <a:ea typeface="Calibri" pitchFamily="34" charset="-122"/>
                <a:cs typeface="Calibri" pitchFamily="34" charset="-120"/>
              </a:rPr>
              <a:t>Why? Faster loads, safer secrets.</a:t>
            </a:r>
            <a:endParaRPr lang="en-US" sz="1200" dirty="0"/>
          </a:p>
        </p:txBody>
      </p:sp>
      <p:sp>
        <p:nvSpPr>
          <p:cNvPr id="21" name="Shape 15"/>
          <p:cNvSpPr/>
          <p:nvPr/>
        </p:nvSpPr>
        <p:spPr>
          <a:xfrm>
            <a:off x="8046720" y="1600200"/>
            <a:ext cx="3593592" cy="4526280"/>
          </a:xfrm>
          <a:prstGeom prst="roundRect">
            <a:avLst>
              <a:gd name="adj" fmla="val 3053"/>
            </a:avLst>
          </a:prstGeom>
          <a:solidFill>
            <a:srgbClr val="17143F"/>
          </a:solidFill>
          <a:ln w="12700">
            <a:solidFill>
              <a:srgbClr val="34D399"/>
            </a:solidFill>
            <a:prstDash val="solid"/>
          </a:ln>
        </p:spPr>
      </p:sp>
      <p:sp>
        <p:nvSpPr>
          <p:cNvPr id="22" name="Shape 16"/>
          <p:cNvSpPr/>
          <p:nvPr/>
        </p:nvSpPr>
        <p:spPr>
          <a:xfrm>
            <a:off x="8321040" y="1920240"/>
            <a:ext cx="822960" cy="822960"/>
          </a:xfrm>
          <a:prstGeom prst="ellipse">
            <a:avLst/>
          </a:prstGeom>
          <a:solidFill>
            <a:srgbClr val="221E58"/>
          </a:solidFill>
          <a:ln w="15875">
            <a:solidFill>
              <a:srgbClr val="34D399"/>
            </a:solidFill>
            <a:prstDash val="solid"/>
          </a:ln>
        </p:spPr>
      </p:sp>
      <p:pic>
        <p:nvPicPr>
          <p:cNvPr id="23" name="Image 3" descr="preencoded.png">    </p:cNvPr>
          <p:cNvPicPr>
            <a:picLocks noChangeAspect="1"/>
          </p:cNvPicPr>
          <p:nvPr/>
        </p:nvPicPr>
        <p:blipFill>
          <a:blip r:embed="rId5"/>
          <a:stretch>
            <a:fillRect/>
          </a:stretch>
        </p:blipFill>
        <p:spPr>
          <a:xfrm>
            <a:off x="8526780" y="2125980"/>
            <a:ext cx="411480" cy="411480"/>
          </a:xfrm>
          <a:prstGeom prst="rect">
            <a:avLst/>
          </a:prstGeom>
        </p:spPr>
      </p:pic>
      <p:sp>
        <p:nvSpPr>
          <p:cNvPr id="24" name="Text 17"/>
          <p:cNvSpPr txBox="1"/>
          <p:nvPr/>
        </p:nvSpPr>
        <p:spPr>
          <a:xfrm>
            <a:off x="8321040" y="2971800"/>
            <a:ext cx="3108960" cy="731520"/>
          </a:xfrm>
          <a:prstGeom prst="rect">
            <a:avLst/>
          </a:prstGeom>
          <a:noFill/>
          <a:ln/>
        </p:spPr>
        <p:txBody>
          <a:bodyPr wrap="square" lIns="0" tIns="0" rIns="0" bIns="0" rtlCol="0" anchor="t"/>
          <a:lstStyle/>
          <a:p>
            <a:pPr indent="0" marL="0">
              <a:buNone/>
            </a:pPr>
            <a:r>
              <a:rPr lang="en-US" sz="2000" b="1" dirty="0">
                <a:solidFill>
                  <a:srgbClr val="F4F3FF"/>
                </a:solidFill>
                <a:latin typeface="Calibri" pitchFamily="34" charset="0"/>
                <a:ea typeface="Calibri" pitchFamily="34" charset="-122"/>
                <a:cs typeface="Calibri" pitchFamily="34" charset="-120"/>
              </a:rPr>
              <a:t>Fast by default</a:t>
            </a:r>
            <a:endParaRPr lang="en-US" sz="2000" dirty="0"/>
          </a:p>
        </p:txBody>
      </p:sp>
      <p:sp>
        <p:nvSpPr>
          <p:cNvPr id="25" name="Text 18"/>
          <p:cNvSpPr txBox="1"/>
          <p:nvPr/>
        </p:nvSpPr>
        <p:spPr>
          <a:xfrm>
            <a:off x="8321040" y="3703320"/>
            <a:ext cx="3063240" cy="91440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Images, fonts, scripts and code splitting are handled for you.</a:t>
            </a:r>
            <a:endParaRPr lang="en-US" sz="1300" dirty="0"/>
          </a:p>
        </p:txBody>
      </p:sp>
      <p:sp>
        <p:nvSpPr>
          <p:cNvPr id="26" name="Text 19"/>
          <p:cNvSpPr txBox="1"/>
          <p:nvPr/>
        </p:nvSpPr>
        <p:spPr>
          <a:xfrm>
            <a:off x="8321040" y="4709160"/>
            <a:ext cx="3044952" cy="640080"/>
          </a:xfrm>
          <a:prstGeom prst="roundRect">
            <a:avLst>
              <a:gd name="adj" fmla="val 14286"/>
            </a:avLst>
          </a:prstGeom>
          <a:solidFill>
            <a:srgbClr val="08071A"/>
          </a:solidFill>
          <a:ln w="12700">
            <a:solidFill>
              <a:srgbClr val="3A3580"/>
            </a:solidFill>
            <a:prstDash val="solid"/>
          </a:ln>
        </p:spPr>
        <p:txBody>
          <a:bodyPr wrap="square" lIns="50800" tIns="50800" rIns="50800" bIns="50800" rtlCol="0" anchor="ctr"/>
          <a:lstStyle/>
          <a:p>
            <a:pPr algn="ctr" indent="0" marL="0">
              <a:buNone/>
            </a:pPr>
            <a:r>
              <a:rPr lang="en-US" sz="1100" dirty="0">
                <a:solidFill>
                  <a:srgbClr val="F4F3FF"/>
                </a:solidFill>
                <a:latin typeface="Courier New" pitchFamily="34" charset="0"/>
                <a:ea typeface="Courier New" pitchFamily="34" charset="-122"/>
                <a:cs typeface="Courier New" pitchFamily="34" charset="-120"/>
              </a:rPr>
              <a:t>&lt;Image src=... /&gt;</a:t>
            </a:r>
            <a:endParaRPr lang="en-US" sz="1300" dirty="0"/>
          </a:p>
          <a:p>
            <a:pPr algn="ctr" indent="0" marL="0">
              <a:buNone/>
            </a:pPr>
            <a:r>
              <a:rPr lang="en-US" sz="1100" dirty="0">
                <a:solidFill>
                  <a:srgbClr val="34D399"/>
                </a:solidFill>
                <a:latin typeface="Courier New" pitchFamily="34" charset="0"/>
                <a:ea typeface="Courier New" pitchFamily="34" charset="-122"/>
                <a:cs typeface="Courier New" pitchFamily="34" charset="-120"/>
              </a:rPr>
              <a:t>optimized for you</a:t>
            </a:r>
            <a:endParaRPr lang="en-US" sz="1300" dirty="0"/>
          </a:p>
        </p:txBody>
      </p:sp>
      <p:sp>
        <p:nvSpPr>
          <p:cNvPr id="27" name="Text 20"/>
          <p:cNvSpPr txBox="1"/>
          <p:nvPr/>
        </p:nvSpPr>
        <p:spPr>
          <a:xfrm>
            <a:off x="8321040" y="5532120"/>
            <a:ext cx="3108960" cy="365760"/>
          </a:xfrm>
          <a:prstGeom prst="rect">
            <a:avLst/>
          </a:prstGeom>
          <a:noFill/>
          <a:ln/>
        </p:spPr>
        <p:txBody>
          <a:bodyPr wrap="square" lIns="0" tIns="0" rIns="0" bIns="0" rtlCol="0" anchor="t"/>
          <a:lstStyle/>
          <a:p>
            <a:pPr indent="0" marL="0">
              <a:buNone/>
            </a:pPr>
            <a:r>
              <a:rPr lang="en-US" sz="1200" b="1" dirty="0">
                <a:solidFill>
                  <a:srgbClr val="34D399"/>
                </a:solidFill>
                <a:latin typeface="Calibri" pitchFamily="34" charset="0"/>
                <a:ea typeface="Calibri" pitchFamily="34" charset="-122"/>
                <a:cs typeface="Calibri" pitchFamily="34" charset="-120"/>
              </a:rPr>
              <a:t>Why? Speed without extra effort.</a:t>
            </a:r>
            <a:endParaRPr lang="en-US" sz="12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PROJECT STRUCTURE</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A Next.js project, file by file</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05</a:t>
            </a:r>
            <a:endParaRPr lang="en-US" sz="1100" dirty="0"/>
          </a:p>
        </p:txBody>
      </p:sp>
      <p:sp>
        <p:nvSpPr>
          <p:cNvPr id="7" name="Text 3"/>
          <p:cNvSpPr txBox="1"/>
          <p:nvPr/>
        </p:nvSpPr>
        <p:spPr>
          <a:xfrm>
            <a:off x="548640" y="1600200"/>
            <a:ext cx="5212080" cy="4526280"/>
          </a:xfrm>
          <a:prstGeom prst="roundRect">
            <a:avLst>
              <a:gd name="adj" fmla="val 2020"/>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500" b="1" dirty="0">
                <a:solidFill>
                  <a:srgbClr val="F4F3FF"/>
                </a:solidFill>
                <a:latin typeface="Courier New" pitchFamily="34" charset="0"/>
                <a:ea typeface="Courier New" pitchFamily="34" charset="-122"/>
                <a:cs typeface="Courier New" pitchFamily="34" charset="-120"/>
              </a:rPr>
              <a:t>my-app/</a:t>
            </a:r>
            <a:endParaRPr lang="en-US" sz="1500" dirty="0"/>
          </a:p>
          <a:p>
            <a:pPr algn="l" indent="0" marL="0">
              <a:buNone/>
            </a:pPr>
            <a:r>
              <a:rPr lang="en-US" sz="1500" dirty="0">
                <a:solidFill>
                  <a:srgbClr val="A8A5D8"/>
                </a:solidFill>
                <a:latin typeface="Courier New" pitchFamily="34" charset="0"/>
                <a:ea typeface="Courier New" pitchFamily="34" charset="-122"/>
                <a:cs typeface="Courier New" pitchFamily="34" charset="-120"/>
              </a:rPr>
              <a:t>├── </a:t>
            </a:r>
            <a:pPr algn="l" indent="0" marL="0">
              <a:buNone/>
            </a:pPr>
            <a:r>
              <a:rPr lang="en-US" sz="1500" b="1" dirty="0">
                <a:solidFill>
                  <a:srgbClr val="8B7CFF"/>
                </a:solidFill>
                <a:latin typeface="Courier New" pitchFamily="34" charset="0"/>
                <a:ea typeface="Courier New" pitchFamily="34" charset="-122"/>
                <a:cs typeface="Courier New" pitchFamily="34" charset="-120"/>
              </a:rPr>
              <a:t>app/</a:t>
            </a:r>
            <a:endParaRPr lang="en-US" sz="1500" dirty="0"/>
          </a:p>
          <a:p>
            <a:pPr algn="l" indent="0" marL="0">
              <a:buNone/>
            </a:pPr>
            <a:r>
              <a:rPr lang="en-US" sz="1500" dirty="0">
                <a:solidFill>
                  <a:srgbClr val="A8A5D8"/>
                </a:solidFill>
                <a:latin typeface="Courier New" pitchFamily="34" charset="0"/>
                <a:ea typeface="Courier New" pitchFamily="34" charset="-122"/>
                <a:cs typeface="Courier New" pitchFamily="34" charset="-120"/>
              </a:rPr>
              <a:t>│   ├── </a:t>
            </a:r>
            <a:pPr algn="l" indent="0" marL="0">
              <a:buNone/>
            </a:pPr>
            <a:r>
              <a:rPr lang="en-US" sz="1500" b="1" dirty="0">
                <a:solidFill>
                  <a:srgbClr val="E64BDA"/>
                </a:solidFill>
                <a:latin typeface="Courier New" pitchFamily="34" charset="0"/>
                <a:ea typeface="Courier New" pitchFamily="34" charset="-122"/>
                <a:cs typeface="Courier New" pitchFamily="34" charset="-120"/>
              </a:rPr>
              <a:t>layout.tsx</a:t>
            </a:r>
            <a:endParaRPr lang="en-US" sz="1500" dirty="0"/>
          </a:p>
          <a:p>
            <a:pPr algn="l" indent="0" marL="0">
              <a:buNone/>
            </a:pPr>
            <a:r>
              <a:rPr lang="en-US" sz="1500" dirty="0">
                <a:solidFill>
                  <a:srgbClr val="A8A5D8"/>
                </a:solidFill>
                <a:latin typeface="Courier New" pitchFamily="34" charset="0"/>
                <a:ea typeface="Courier New" pitchFamily="34" charset="-122"/>
                <a:cs typeface="Courier New" pitchFamily="34" charset="-120"/>
              </a:rPr>
              <a:t>│   ├── </a:t>
            </a:r>
            <a:pPr algn="l" indent="0" marL="0">
              <a:buNone/>
            </a:pPr>
            <a:r>
              <a:rPr lang="en-US" sz="1500" b="1" dirty="0">
                <a:solidFill>
                  <a:srgbClr val="22D3EE"/>
                </a:solidFill>
                <a:latin typeface="Courier New" pitchFamily="34" charset="0"/>
                <a:ea typeface="Courier New" pitchFamily="34" charset="-122"/>
                <a:cs typeface="Courier New" pitchFamily="34" charset="-120"/>
              </a:rPr>
              <a:t>page.tsx</a:t>
            </a:r>
            <a:endParaRPr lang="en-US" sz="1500" dirty="0"/>
          </a:p>
          <a:p>
            <a:pPr algn="l" indent="0" marL="0">
              <a:buNone/>
            </a:pPr>
            <a:r>
              <a:rPr lang="en-US" sz="1500" dirty="0">
                <a:solidFill>
                  <a:srgbClr val="A8A5D8"/>
                </a:solidFill>
                <a:latin typeface="Courier New" pitchFamily="34" charset="0"/>
                <a:ea typeface="Courier New" pitchFamily="34" charset="-122"/>
                <a:cs typeface="Courier New" pitchFamily="34" charset="-120"/>
              </a:rPr>
              <a:t>│   ├── </a:t>
            </a:r>
            <a:pPr algn="l" indent="0" marL="0">
              <a:buNone/>
            </a:pPr>
            <a:r>
              <a:rPr lang="en-US" sz="1500" dirty="0">
                <a:solidFill>
                  <a:srgbClr val="F4F3FF"/>
                </a:solidFill>
                <a:latin typeface="Courier New" pitchFamily="34" charset="0"/>
                <a:ea typeface="Courier New" pitchFamily="34" charset="-122"/>
                <a:cs typeface="Courier New" pitchFamily="34" charset="-120"/>
              </a:rPr>
              <a:t>globals.css</a:t>
            </a:r>
            <a:endParaRPr lang="en-US" sz="1500" dirty="0"/>
          </a:p>
          <a:p>
            <a:pPr algn="l" indent="0" marL="0">
              <a:buNone/>
            </a:pPr>
            <a:r>
              <a:rPr lang="en-US" sz="1500" dirty="0">
                <a:solidFill>
                  <a:srgbClr val="A8A5D8"/>
                </a:solidFill>
                <a:latin typeface="Courier New" pitchFamily="34" charset="0"/>
                <a:ea typeface="Courier New" pitchFamily="34" charset="-122"/>
                <a:cs typeface="Courier New" pitchFamily="34" charset="-120"/>
              </a:rPr>
              <a:t>│   └── </a:t>
            </a:r>
            <a:pPr algn="l" indent="0" marL="0">
              <a:buNone/>
            </a:pPr>
            <a:r>
              <a:rPr lang="en-US" sz="1500" dirty="0">
                <a:solidFill>
                  <a:srgbClr val="8B7CFF"/>
                </a:solidFill>
                <a:latin typeface="Courier New" pitchFamily="34" charset="0"/>
                <a:ea typeface="Courier New" pitchFamily="34" charset="-122"/>
                <a:cs typeface="Courier New" pitchFamily="34" charset="-120"/>
              </a:rPr>
              <a:t>products/</a:t>
            </a:r>
            <a:endParaRPr lang="en-US" sz="1500" dirty="0"/>
          </a:p>
          <a:p>
            <a:pPr algn="l" indent="0" marL="0">
              <a:buNone/>
            </a:pPr>
            <a:r>
              <a:rPr lang="en-US" sz="1500" dirty="0">
                <a:solidFill>
                  <a:srgbClr val="A8A5D8"/>
                </a:solidFill>
                <a:latin typeface="Courier New" pitchFamily="34" charset="0"/>
                <a:ea typeface="Courier New" pitchFamily="34" charset="-122"/>
                <a:cs typeface="Courier New" pitchFamily="34" charset="-120"/>
              </a:rPr>
              <a:t>│       └── </a:t>
            </a:r>
            <a:pPr algn="l" indent="0" marL="0">
              <a:buNone/>
            </a:pPr>
            <a:r>
              <a:rPr lang="en-US" sz="1500" dirty="0">
                <a:solidFill>
                  <a:srgbClr val="FBBF24"/>
                </a:solidFill>
                <a:latin typeface="Courier New" pitchFamily="34" charset="0"/>
                <a:ea typeface="Courier New" pitchFamily="34" charset="-122"/>
                <a:cs typeface="Courier New" pitchFamily="34" charset="-120"/>
              </a:rPr>
              <a:t>[id]/</a:t>
            </a:r>
            <a:endParaRPr lang="en-US" sz="1500" dirty="0"/>
          </a:p>
          <a:p>
            <a:pPr algn="l" indent="0" marL="0">
              <a:buNone/>
            </a:pPr>
            <a:r>
              <a:rPr lang="en-US" sz="1500" dirty="0">
                <a:solidFill>
                  <a:srgbClr val="A8A5D8"/>
                </a:solidFill>
                <a:latin typeface="Courier New" pitchFamily="34" charset="0"/>
                <a:ea typeface="Courier New" pitchFamily="34" charset="-122"/>
                <a:cs typeface="Courier New" pitchFamily="34" charset="-120"/>
              </a:rPr>
              <a:t>│           └── </a:t>
            </a:r>
            <a:pPr algn="l" indent="0" marL="0">
              <a:buNone/>
            </a:pPr>
            <a:r>
              <a:rPr lang="en-US" sz="1500" b="1" dirty="0">
                <a:solidFill>
                  <a:srgbClr val="22D3EE"/>
                </a:solidFill>
                <a:latin typeface="Courier New" pitchFamily="34" charset="0"/>
                <a:ea typeface="Courier New" pitchFamily="34" charset="-122"/>
                <a:cs typeface="Courier New" pitchFamily="34" charset="-120"/>
              </a:rPr>
              <a:t>page.tsx</a:t>
            </a:r>
            <a:endParaRPr lang="en-US" sz="1500" dirty="0"/>
          </a:p>
          <a:p>
            <a:pPr algn="l" indent="0" marL="0">
              <a:buNone/>
            </a:pPr>
            <a:r>
              <a:rPr lang="en-US" sz="1500" dirty="0">
                <a:solidFill>
                  <a:srgbClr val="A8A5D8"/>
                </a:solidFill>
                <a:latin typeface="Courier New" pitchFamily="34" charset="0"/>
                <a:ea typeface="Courier New" pitchFamily="34" charset="-122"/>
                <a:cs typeface="Courier New" pitchFamily="34" charset="-120"/>
              </a:rPr>
              <a:t>├── </a:t>
            </a:r>
            <a:pPr algn="l" indent="0" marL="0">
              <a:buNone/>
            </a:pPr>
            <a:r>
              <a:rPr lang="en-US" sz="1500" b="1" dirty="0">
                <a:solidFill>
                  <a:srgbClr val="34D399"/>
                </a:solidFill>
                <a:latin typeface="Courier New" pitchFamily="34" charset="0"/>
                <a:ea typeface="Courier New" pitchFamily="34" charset="-122"/>
                <a:cs typeface="Courier New" pitchFamily="34" charset="-120"/>
              </a:rPr>
              <a:t>components/</a:t>
            </a:r>
            <a:endParaRPr lang="en-US" sz="1500" dirty="0"/>
          </a:p>
          <a:p>
            <a:pPr algn="l" indent="0" marL="0">
              <a:buNone/>
            </a:pPr>
            <a:r>
              <a:rPr lang="en-US" sz="1500" dirty="0">
                <a:solidFill>
                  <a:srgbClr val="A8A5D8"/>
                </a:solidFill>
                <a:latin typeface="Courier New" pitchFamily="34" charset="0"/>
                <a:ea typeface="Courier New" pitchFamily="34" charset="-122"/>
                <a:cs typeface="Courier New" pitchFamily="34" charset="-120"/>
              </a:rPr>
              <a:t>│   └── </a:t>
            </a:r>
            <a:pPr algn="l" indent="0" marL="0">
              <a:buNone/>
            </a:pPr>
            <a:r>
              <a:rPr lang="en-US" sz="1500" dirty="0">
                <a:solidFill>
                  <a:srgbClr val="F4F3FF"/>
                </a:solidFill>
                <a:latin typeface="Courier New" pitchFamily="34" charset="0"/>
                <a:ea typeface="Courier New" pitchFamily="34" charset="-122"/>
                <a:cs typeface="Courier New" pitchFamily="34" charset="-120"/>
              </a:rPr>
              <a:t>ProductCard.tsx</a:t>
            </a:r>
            <a:endParaRPr lang="en-US" sz="1500" dirty="0"/>
          </a:p>
          <a:p>
            <a:pPr algn="l" indent="0" marL="0">
              <a:buNone/>
            </a:pPr>
            <a:r>
              <a:rPr lang="en-US" sz="1500" dirty="0">
                <a:solidFill>
                  <a:srgbClr val="A8A5D8"/>
                </a:solidFill>
                <a:latin typeface="Courier New" pitchFamily="34" charset="0"/>
                <a:ea typeface="Courier New" pitchFamily="34" charset="-122"/>
                <a:cs typeface="Courier New" pitchFamily="34" charset="-120"/>
              </a:rPr>
              <a:t>├── </a:t>
            </a:r>
            <a:pPr algn="l" indent="0" marL="0">
              <a:buNone/>
            </a:pPr>
            <a:r>
              <a:rPr lang="en-US" sz="1500" b="1" dirty="0">
                <a:solidFill>
                  <a:srgbClr val="FBBF24"/>
                </a:solidFill>
                <a:latin typeface="Courier New" pitchFamily="34" charset="0"/>
                <a:ea typeface="Courier New" pitchFamily="34" charset="-122"/>
                <a:cs typeface="Courier New" pitchFamily="34" charset="-120"/>
              </a:rPr>
              <a:t>public/</a:t>
            </a:r>
            <a:endParaRPr lang="en-US" sz="1500" dirty="0"/>
          </a:p>
          <a:p>
            <a:pPr algn="l" indent="0" marL="0">
              <a:buNone/>
            </a:pPr>
            <a:r>
              <a:rPr lang="en-US" sz="1500" dirty="0">
                <a:solidFill>
                  <a:srgbClr val="A8A5D8"/>
                </a:solidFill>
                <a:latin typeface="Courier New" pitchFamily="34" charset="0"/>
                <a:ea typeface="Courier New" pitchFamily="34" charset="-122"/>
                <a:cs typeface="Courier New" pitchFamily="34" charset="-120"/>
              </a:rPr>
              <a:t>│   └── </a:t>
            </a:r>
            <a:pPr algn="l" indent="0" marL="0">
              <a:buNone/>
            </a:pPr>
            <a:r>
              <a:rPr lang="en-US" sz="1500" dirty="0">
                <a:solidFill>
                  <a:srgbClr val="F4F3FF"/>
                </a:solidFill>
                <a:latin typeface="Courier New" pitchFamily="34" charset="0"/>
                <a:ea typeface="Courier New" pitchFamily="34" charset="-122"/>
                <a:cs typeface="Courier New" pitchFamily="34" charset="-120"/>
              </a:rPr>
              <a:t>logo.png</a:t>
            </a:r>
            <a:endParaRPr lang="en-US" sz="1500" dirty="0"/>
          </a:p>
          <a:p>
            <a:pPr algn="l" indent="0" marL="0">
              <a:buNone/>
            </a:pPr>
            <a:r>
              <a:rPr lang="en-US" sz="1500" dirty="0">
                <a:solidFill>
                  <a:srgbClr val="A8A5D8"/>
                </a:solidFill>
                <a:latin typeface="Courier New" pitchFamily="34" charset="0"/>
                <a:ea typeface="Courier New" pitchFamily="34" charset="-122"/>
                <a:cs typeface="Courier New" pitchFamily="34" charset="-120"/>
              </a:rPr>
              <a:t>└── </a:t>
            </a:r>
            <a:pPr algn="l" indent="0" marL="0">
              <a:buNone/>
            </a:pPr>
            <a:r>
              <a:rPr lang="en-US" sz="1500" dirty="0">
                <a:solidFill>
                  <a:srgbClr val="F4F3FF"/>
                </a:solidFill>
                <a:latin typeface="Courier New" pitchFamily="34" charset="0"/>
                <a:ea typeface="Courier New" pitchFamily="34" charset="-122"/>
                <a:cs typeface="Courier New" pitchFamily="34" charset="-120"/>
              </a:rPr>
              <a:t>next.config.ts</a:t>
            </a:r>
            <a:endParaRPr lang="en-US" sz="1500" dirty="0"/>
          </a:p>
        </p:txBody>
      </p:sp>
      <p:sp>
        <p:nvSpPr>
          <p:cNvPr id="8" name="A1_c"/>
          <p:cNvSpPr/>
          <p:nvPr/>
        </p:nvSpPr>
        <p:spPr>
          <a:xfrm>
            <a:off x="6035040" y="1600200"/>
            <a:ext cx="5605272" cy="777240"/>
          </a:xfrm>
          <a:prstGeom prst="roundRect">
            <a:avLst>
              <a:gd name="adj" fmla="val 14118"/>
            </a:avLst>
          </a:prstGeom>
          <a:solidFill>
            <a:srgbClr val="17143F"/>
          </a:solidFill>
          <a:ln w="12700">
            <a:solidFill>
              <a:srgbClr val="8B7CFF"/>
            </a:solidFill>
            <a:prstDash val="solid"/>
          </a:ln>
        </p:spPr>
      </p:sp>
      <p:sp>
        <p:nvSpPr>
          <p:cNvPr id="9" name="A1_bdg"/>
          <p:cNvSpPr/>
          <p:nvPr/>
        </p:nvSpPr>
        <p:spPr>
          <a:xfrm>
            <a:off x="6286500" y="1737360"/>
            <a:ext cx="502920" cy="502920"/>
          </a:xfrm>
          <a:prstGeom prst="ellipse">
            <a:avLst/>
          </a:prstGeom>
          <a:solidFill>
            <a:srgbClr val="221E58"/>
          </a:solidFill>
          <a:ln w="15875">
            <a:solidFill>
              <a:srgbClr val="8B7CFF"/>
            </a:solidFill>
            <a:prstDash val="solid"/>
          </a:ln>
        </p:spPr>
      </p:sp>
      <p:pic>
        <p:nvPicPr>
          <p:cNvPr id="10" name="A1_bico" descr="preencoded.png">    </p:cNvPr>
          <p:cNvPicPr>
            <a:picLocks noChangeAspect="1"/>
          </p:cNvPicPr>
          <p:nvPr/>
        </p:nvPicPr>
        <p:blipFill>
          <a:blip r:embed="rId3"/>
          <a:stretch>
            <a:fillRect/>
          </a:stretch>
        </p:blipFill>
        <p:spPr>
          <a:xfrm>
            <a:off x="6412230" y="1863090"/>
            <a:ext cx="251460" cy="251460"/>
          </a:xfrm>
          <a:prstGeom prst="rect">
            <a:avLst/>
          </a:prstGeom>
        </p:spPr>
      </p:pic>
      <p:sp>
        <p:nvSpPr>
          <p:cNvPr id="11" name="A1_t"/>
          <p:cNvSpPr txBox="1"/>
          <p:nvPr/>
        </p:nvSpPr>
        <p:spPr>
          <a:xfrm>
            <a:off x="6995160" y="1691640"/>
            <a:ext cx="4480560" cy="320040"/>
          </a:xfrm>
          <a:prstGeom prst="rect">
            <a:avLst/>
          </a:prstGeom>
          <a:noFill/>
          <a:ln/>
        </p:spPr>
        <p:txBody>
          <a:bodyPr wrap="square" lIns="0" tIns="0" rIns="0" bIns="0" rtlCol="0" anchor="t"/>
          <a:lstStyle/>
          <a:p>
            <a:pPr indent="0" marL="0">
              <a:buNone/>
            </a:pPr>
            <a:r>
              <a:rPr lang="en-US" sz="1600" b="1" dirty="0">
                <a:solidFill>
                  <a:srgbClr val="8B7CFF"/>
                </a:solidFill>
                <a:latin typeface="Courier New" pitchFamily="34" charset="0"/>
                <a:ea typeface="Courier New" pitchFamily="34" charset="-122"/>
                <a:cs typeface="Courier New" pitchFamily="34" charset="-120"/>
              </a:rPr>
              <a:t>app/</a:t>
            </a:r>
            <a:endParaRPr lang="en-US" sz="1600" dirty="0"/>
          </a:p>
        </p:txBody>
      </p:sp>
      <p:sp>
        <p:nvSpPr>
          <p:cNvPr id="12" name="A1_d"/>
          <p:cNvSpPr txBox="1"/>
          <p:nvPr/>
        </p:nvSpPr>
        <p:spPr>
          <a:xfrm>
            <a:off x="6995160" y="2011680"/>
            <a:ext cx="4480560" cy="3200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Routes live here. Folders become URLs.</a:t>
            </a:r>
            <a:endParaRPr lang="en-US" sz="1300" dirty="0"/>
          </a:p>
        </p:txBody>
      </p:sp>
      <p:sp>
        <p:nvSpPr>
          <p:cNvPr id="13" name="A2_c"/>
          <p:cNvSpPr/>
          <p:nvPr/>
        </p:nvSpPr>
        <p:spPr>
          <a:xfrm>
            <a:off x="6035040" y="2514600"/>
            <a:ext cx="5605272" cy="777240"/>
          </a:xfrm>
          <a:prstGeom prst="roundRect">
            <a:avLst>
              <a:gd name="adj" fmla="val 14118"/>
            </a:avLst>
          </a:prstGeom>
          <a:solidFill>
            <a:srgbClr val="17143F"/>
          </a:solidFill>
          <a:ln w="12700">
            <a:solidFill>
              <a:srgbClr val="22D3EE"/>
            </a:solidFill>
            <a:prstDash val="solid"/>
          </a:ln>
        </p:spPr>
      </p:sp>
      <p:sp>
        <p:nvSpPr>
          <p:cNvPr id="14" name="A2_bdg"/>
          <p:cNvSpPr/>
          <p:nvPr/>
        </p:nvSpPr>
        <p:spPr>
          <a:xfrm>
            <a:off x="6286500" y="2651760"/>
            <a:ext cx="502920" cy="502920"/>
          </a:xfrm>
          <a:prstGeom prst="ellipse">
            <a:avLst/>
          </a:prstGeom>
          <a:solidFill>
            <a:srgbClr val="221E58"/>
          </a:solidFill>
          <a:ln w="15875">
            <a:solidFill>
              <a:srgbClr val="22D3EE"/>
            </a:solidFill>
            <a:prstDash val="solid"/>
          </a:ln>
        </p:spPr>
      </p:sp>
      <p:pic>
        <p:nvPicPr>
          <p:cNvPr id="15" name="A2_bico" descr="preencoded.png">    </p:cNvPr>
          <p:cNvPicPr>
            <a:picLocks noChangeAspect="1"/>
          </p:cNvPicPr>
          <p:nvPr/>
        </p:nvPicPr>
        <p:blipFill>
          <a:blip r:embed="rId4"/>
          <a:stretch>
            <a:fillRect/>
          </a:stretch>
        </p:blipFill>
        <p:spPr>
          <a:xfrm>
            <a:off x="6412230" y="2777490"/>
            <a:ext cx="251460" cy="251460"/>
          </a:xfrm>
          <a:prstGeom prst="rect">
            <a:avLst/>
          </a:prstGeom>
        </p:spPr>
      </p:pic>
      <p:sp>
        <p:nvSpPr>
          <p:cNvPr id="16" name="A2_t"/>
          <p:cNvSpPr txBox="1"/>
          <p:nvPr/>
        </p:nvSpPr>
        <p:spPr>
          <a:xfrm>
            <a:off x="6995160" y="2606040"/>
            <a:ext cx="4480560" cy="320040"/>
          </a:xfrm>
          <a:prstGeom prst="rect">
            <a:avLst/>
          </a:prstGeom>
          <a:noFill/>
          <a:ln/>
        </p:spPr>
        <p:txBody>
          <a:bodyPr wrap="square" lIns="0" tIns="0" rIns="0" bIns="0" rtlCol="0" anchor="t"/>
          <a:lstStyle/>
          <a:p>
            <a:pPr indent="0" marL="0">
              <a:buNone/>
            </a:pPr>
            <a:r>
              <a:rPr lang="en-US" sz="1600" b="1" dirty="0">
                <a:solidFill>
                  <a:srgbClr val="22D3EE"/>
                </a:solidFill>
                <a:latin typeface="Courier New" pitchFamily="34" charset="0"/>
                <a:ea typeface="Courier New" pitchFamily="34" charset="-122"/>
                <a:cs typeface="Courier New" pitchFamily="34" charset="-120"/>
              </a:rPr>
              <a:t>page.tsx</a:t>
            </a:r>
            <a:endParaRPr lang="en-US" sz="1600" dirty="0"/>
          </a:p>
        </p:txBody>
      </p:sp>
      <p:sp>
        <p:nvSpPr>
          <p:cNvPr id="17" name="A2_d"/>
          <p:cNvSpPr txBox="1"/>
          <p:nvPr/>
        </p:nvSpPr>
        <p:spPr>
          <a:xfrm>
            <a:off x="6995160" y="2926080"/>
            <a:ext cx="4480560" cy="3200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The unique UI of one route.</a:t>
            </a:r>
            <a:endParaRPr lang="en-US" sz="1300" dirty="0"/>
          </a:p>
        </p:txBody>
      </p:sp>
      <p:sp>
        <p:nvSpPr>
          <p:cNvPr id="18" name="A3_c"/>
          <p:cNvSpPr/>
          <p:nvPr/>
        </p:nvSpPr>
        <p:spPr>
          <a:xfrm>
            <a:off x="6035040" y="3429000"/>
            <a:ext cx="5605272" cy="777240"/>
          </a:xfrm>
          <a:prstGeom prst="roundRect">
            <a:avLst>
              <a:gd name="adj" fmla="val 14118"/>
            </a:avLst>
          </a:prstGeom>
          <a:solidFill>
            <a:srgbClr val="17143F"/>
          </a:solidFill>
          <a:ln w="12700">
            <a:solidFill>
              <a:srgbClr val="E64BDA"/>
            </a:solidFill>
            <a:prstDash val="solid"/>
          </a:ln>
        </p:spPr>
      </p:sp>
      <p:sp>
        <p:nvSpPr>
          <p:cNvPr id="19" name="A3_bdg"/>
          <p:cNvSpPr/>
          <p:nvPr/>
        </p:nvSpPr>
        <p:spPr>
          <a:xfrm>
            <a:off x="6286500" y="3566160"/>
            <a:ext cx="502920" cy="502920"/>
          </a:xfrm>
          <a:prstGeom prst="ellipse">
            <a:avLst/>
          </a:prstGeom>
          <a:solidFill>
            <a:srgbClr val="221E58"/>
          </a:solidFill>
          <a:ln w="15875">
            <a:solidFill>
              <a:srgbClr val="E64BDA"/>
            </a:solidFill>
            <a:prstDash val="solid"/>
          </a:ln>
        </p:spPr>
      </p:sp>
      <p:pic>
        <p:nvPicPr>
          <p:cNvPr id="20" name="A3_bico" descr="preencoded.png">    </p:cNvPr>
          <p:cNvPicPr>
            <a:picLocks noChangeAspect="1"/>
          </p:cNvPicPr>
          <p:nvPr/>
        </p:nvPicPr>
        <p:blipFill>
          <a:blip r:embed="rId5"/>
          <a:stretch>
            <a:fillRect/>
          </a:stretch>
        </p:blipFill>
        <p:spPr>
          <a:xfrm>
            <a:off x="6412230" y="3691890"/>
            <a:ext cx="251460" cy="251460"/>
          </a:xfrm>
          <a:prstGeom prst="rect">
            <a:avLst/>
          </a:prstGeom>
        </p:spPr>
      </p:pic>
      <p:sp>
        <p:nvSpPr>
          <p:cNvPr id="21" name="A3_t"/>
          <p:cNvSpPr txBox="1"/>
          <p:nvPr/>
        </p:nvSpPr>
        <p:spPr>
          <a:xfrm>
            <a:off x="6995160" y="3520440"/>
            <a:ext cx="4480560" cy="320040"/>
          </a:xfrm>
          <a:prstGeom prst="rect">
            <a:avLst/>
          </a:prstGeom>
          <a:noFill/>
          <a:ln/>
        </p:spPr>
        <p:txBody>
          <a:bodyPr wrap="square" lIns="0" tIns="0" rIns="0" bIns="0" rtlCol="0" anchor="t"/>
          <a:lstStyle/>
          <a:p>
            <a:pPr indent="0" marL="0">
              <a:buNone/>
            </a:pPr>
            <a:r>
              <a:rPr lang="en-US" sz="1600" b="1" dirty="0">
                <a:solidFill>
                  <a:srgbClr val="E64BDA"/>
                </a:solidFill>
                <a:latin typeface="Courier New" pitchFamily="34" charset="0"/>
                <a:ea typeface="Courier New" pitchFamily="34" charset="-122"/>
                <a:cs typeface="Courier New" pitchFamily="34" charset="-120"/>
              </a:rPr>
              <a:t>layout.tsx</a:t>
            </a:r>
            <a:endParaRPr lang="en-US" sz="1600" dirty="0"/>
          </a:p>
        </p:txBody>
      </p:sp>
      <p:sp>
        <p:nvSpPr>
          <p:cNvPr id="22" name="A3_d"/>
          <p:cNvSpPr txBox="1"/>
          <p:nvPr/>
        </p:nvSpPr>
        <p:spPr>
          <a:xfrm>
            <a:off x="6995160" y="3840480"/>
            <a:ext cx="4480560" cy="3200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Shared UI that wraps pages.</a:t>
            </a:r>
            <a:endParaRPr lang="en-US" sz="1300" dirty="0"/>
          </a:p>
        </p:txBody>
      </p:sp>
      <p:sp>
        <p:nvSpPr>
          <p:cNvPr id="23" name="A4_c"/>
          <p:cNvSpPr/>
          <p:nvPr/>
        </p:nvSpPr>
        <p:spPr>
          <a:xfrm>
            <a:off x="6035040" y="4343400"/>
            <a:ext cx="5605272" cy="777240"/>
          </a:xfrm>
          <a:prstGeom prst="roundRect">
            <a:avLst>
              <a:gd name="adj" fmla="val 14118"/>
            </a:avLst>
          </a:prstGeom>
          <a:solidFill>
            <a:srgbClr val="17143F"/>
          </a:solidFill>
          <a:ln w="12700">
            <a:solidFill>
              <a:srgbClr val="34D399"/>
            </a:solidFill>
            <a:prstDash val="solid"/>
          </a:ln>
        </p:spPr>
      </p:sp>
      <p:sp>
        <p:nvSpPr>
          <p:cNvPr id="24" name="A4_bdg"/>
          <p:cNvSpPr/>
          <p:nvPr/>
        </p:nvSpPr>
        <p:spPr>
          <a:xfrm>
            <a:off x="6286500" y="4480560"/>
            <a:ext cx="502920" cy="502920"/>
          </a:xfrm>
          <a:prstGeom prst="ellipse">
            <a:avLst/>
          </a:prstGeom>
          <a:solidFill>
            <a:srgbClr val="221E58"/>
          </a:solidFill>
          <a:ln w="15875">
            <a:solidFill>
              <a:srgbClr val="34D399"/>
            </a:solidFill>
            <a:prstDash val="solid"/>
          </a:ln>
        </p:spPr>
      </p:sp>
      <p:pic>
        <p:nvPicPr>
          <p:cNvPr id="25" name="A4_bico" descr="preencoded.png">    </p:cNvPr>
          <p:cNvPicPr>
            <a:picLocks noChangeAspect="1"/>
          </p:cNvPicPr>
          <p:nvPr/>
        </p:nvPicPr>
        <p:blipFill>
          <a:blip r:embed="rId6"/>
          <a:stretch>
            <a:fillRect/>
          </a:stretch>
        </p:blipFill>
        <p:spPr>
          <a:xfrm>
            <a:off x="6412230" y="4606290"/>
            <a:ext cx="251460" cy="251460"/>
          </a:xfrm>
          <a:prstGeom prst="rect">
            <a:avLst/>
          </a:prstGeom>
        </p:spPr>
      </p:pic>
      <p:sp>
        <p:nvSpPr>
          <p:cNvPr id="26" name="A4_t"/>
          <p:cNvSpPr txBox="1"/>
          <p:nvPr/>
        </p:nvSpPr>
        <p:spPr>
          <a:xfrm>
            <a:off x="6995160" y="4434840"/>
            <a:ext cx="4480560" cy="320040"/>
          </a:xfrm>
          <a:prstGeom prst="rect">
            <a:avLst/>
          </a:prstGeom>
          <a:noFill/>
          <a:ln/>
        </p:spPr>
        <p:txBody>
          <a:bodyPr wrap="square" lIns="0" tIns="0" rIns="0" bIns="0" rtlCol="0" anchor="t"/>
          <a:lstStyle/>
          <a:p>
            <a:pPr indent="0" marL="0">
              <a:buNone/>
            </a:pPr>
            <a:r>
              <a:rPr lang="en-US" sz="1600" b="1" dirty="0">
                <a:solidFill>
                  <a:srgbClr val="34D399"/>
                </a:solidFill>
                <a:latin typeface="Courier New" pitchFamily="34" charset="0"/>
                <a:ea typeface="Courier New" pitchFamily="34" charset="-122"/>
                <a:cs typeface="Courier New" pitchFamily="34" charset="-120"/>
              </a:rPr>
              <a:t>components/</a:t>
            </a:r>
            <a:endParaRPr lang="en-US" sz="1600" dirty="0"/>
          </a:p>
        </p:txBody>
      </p:sp>
      <p:sp>
        <p:nvSpPr>
          <p:cNvPr id="27" name="A4_d"/>
          <p:cNvSpPr txBox="1"/>
          <p:nvPr/>
        </p:nvSpPr>
        <p:spPr>
          <a:xfrm>
            <a:off x="6995160" y="4754880"/>
            <a:ext cx="4480560" cy="3200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Reusable pieces. Not routes.</a:t>
            </a:r>
            <a:endParaRPr lang="en-US" sz="1300" dirty="0"/>
          </a:p>
        </p:txBody>
      </p:sp>
      <p:sp>
        <p:nvSpPr>
          <p:cNvPr id="28" name="A5_c"/>
          <p:cNvSpPr/>
          <p:nvPr/>
        </p:nvSpPr>
        <p:spPr>
          <a:xfrm>
            <a:off x="6035040" y="5257800"/>
            <a:ext cx="5605272" cy="777240"/>
          </a:xfrm>
          <a:prstGeom prst="roundRect">
            <a:avLst>
              <a:gd name="adj" fmla="val 14118"/>
            </a:avLst>
          </a:prstGeom>
          <a:solidFill>
            <a:srgbClr val="17143F"/>
          </a:solidFill>
          <a:ln w="12700">
            <a:solidFill>
              <a:srgbClr val="FBBF24"/>
            </a:solidFill>
            <a:prstDash val="solid"/>
          </a:ln>
        </p:spPr>
      </p:sp>
      <p:sp>
        <p:nvSpPr>
          <p:cNvPr id="29" name="A5_bdg"/>
          <p:cNvSpPr/>
          <p:nvPr/>
        </p:nvSpPr>
        <p:spPr>
          <a:xfrm>
            <a:off x="6286500" y="5394960"/>
            <a:ext cx="502920" cy="502920"/>
          </a:xfrm>
          <a:prstGeom prst="ellipse">
            <a:avLst/>
          </a:prstGeom>
          <a:solidFill>
            <a:srgbClr val="221E58"/>
          </a:solidFill>
          <a:ln w="15875">
            <a:solidFill>
              <a:srgbClr val="FBBF24"/>
            </a:solidFill>
            <a:prstDash val="solid"/>
          </a:ln>
        </p:spPr>
      </p:sp>
      <p:pic>
        <p:nvPicPr>
          <p:cNvPr id="30" name="A5_bico" descr="preencoded.png">    </p:cNvPr>
          <p:cNvPicPr>
            <a:picLocks noChangeAspect="1"/>
          </p:cNvPicPr>
          <p:nvPr/>
        </p:nvPicPr>
        <p:blipFill>
          <a:blip r:embed="rId7"/>
          <a:stretch>
            <a:fillRect/>
          </a:stretch>
        </p:blipFill>
        <p:spPr>
          <a:xfrm>
            <a:off x="6412230" y="5520690"/>
            <a:ext cx="251460" cy="251460"/>
          </a:xfrm>
          <a:prstGeom prst="rect">
            <a:avLst/>
          </a:prstGeom>
        </p:spPr>
      </p:pic>
      <p:sp>
        <p:nvSpPr>
          <p:cNvPr id="31" name="A5_t"/>
          <p:cNvSpPr txBox="1"/>
          <p:nvPr/>
        </p:nvSpPr>
        <p:spPr>
          <a:xfrm>
            <a:off x="6995160" y="5349240"/>
            <a:ext cx="4480560" cy="320040"/>
          </a:xfrm>
          <a:prstGeom prst="rect">
            <a:avLst/>
          </a:prstGeom>
          <a:noFill/>
          <a:ln/>
        </p:spPr>
        <p:txBody>
          <a:bodyPr wrap="square" lIns="0" tIns="0" rIns="0" bIns="0" rtlCol="0" anchor="t"/>
          <a:lstStyle/>
          <a:p>
            <a:pPr indent="0" marL="0">
              <a:buNone/>
            </a:pPr>
            <a:r>
              <a:rPr lang="en-US" sz="1600" b="1" dirty="0">
                <a:solidFill>
                  <a:srgbClr val="FBBF24"/>
                </a:solidFill>
                <a:latin typeface="Courier New" pitchFamily="34" charset="0"/>
                <a:ea typeface="Courier New" pitchFamily="34" charset="-122"/>
                <a:cs typeface="Courier New" pitchFamily="34" charset="-120"/>
              </a:rPr>
              <a:t>public/</a:t>
            </a:r>
            <a:endParaRPr lang="en-US" sz="1600" dirty="0"/>
          </a:p>
        </p:txBody>
      </p:sp>
      <p:sp>
        <p:nvSpPr>
          <p:cNvPr id="32" name="A5_d"/>
          <p:cNvSpPr txBox="1"/>
          <p:nvPr/>
        </p:nvSpPr>
        <p:spPr>
          <a:xfrm>
            <a:off x="6995160" y="5669280"/>
            <a:ext cx="4480560" cy="3200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Static files, served from the root.</a:t>
            </a:r>
            <a:endParaRPr lang="en-US" sz="1300" dirty="0"/>
          </a:p>
        </p:txBody>
      </p:sp>
      <p:sp>
        <p:nvSpPr>
          <p:cNvPr id="33" name="Text 24"/>
          <p:cNvSpPr txBox="1"/>
          <p:nvPr/>
        </p:nvSpPr>
        <p:spPr>
          <a:xfrm>
            <a:off x="6035040" y="6172200"/>
            <a:ext cx="5486400" cy="228600"/>
          </a:xfrm>
          <a:prstGeom prst="rect">
            <a:avLst/>
          </a:prstGeom>
          <a:noFill/>
          <a:ln/>
        </p:spPr>
        <p:txBody>
          <a:bodyPr wrap="square" lIns="0" tIns="0" rIns="0" bIns="0" rtlCol="0" anchor="t"/>
          <a:lstStyle/>
          <a:p>
            <a:pPr indent="0" marL="0">
              <a:buNone/>
            </a:pPr>
            <a:r>
              <a:rPr lang="en-US" sz="1100" i="1" dirty="0">
                <a:solidFill>
                  <a:srgbClr val="A8A5D8"/>
                </a:solidFill>
                <a:latin typeface="Calibri" pitchFamily="34" charset="0"/>
                <a:ea typeface="Calibri" pitchFamily="34" charset="-122"/>
                <a:cs typeface="Calibri" pitchFamily="34" charset="-120"/>
              </a:rPr>
              <a:t>Folder → URL. layout.tsx wraps page.tsx. Colors match the tree.</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par>
                                <p:cTn id="12" presetID="10" presetClass="entr" presetSubtype="0" fill="hold"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450"/>
                                        <p:tgtEl>
                                          <p:spTgt spid="11"/>
                                        </p:tgtEl>
                                      </p:cBhvr>
                                    </p:animEffect>
                                  </p:childTnLst>
                                </p:cTn>
                              </p:par>
                              <p:par>
                                <p:cTn id="15" presetID="10"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450"/>
                                        <p:tgtEl>
                                          <p:spTgt spid="12"/>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5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5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50"/>
                                        <p:tgtEl>
                                          <p:spTgt spid="16"/>
                                        </p:tgtEl>
                                      </p:cBhvr>
                                    </p:animEffect>
                                  </p:childTnLst>
                                </p:cTn>
                              </p:par>
                              <p:par>
                                <p:cTn id="32" presetID="10" presetClass="entr" presetSubtype="0"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50"/>
                                        <p:tgtEl>
                                          <p:spTgt spid="17"/>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45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450"/>
                                        <p:tgtEl>
                                          <p:spTgt spid="19"/>
                                        </p:tgtEl>
                                      </p:cBhvr>
                                    </p:animEffect>
                                  </p:childTnLst>
                                </p:cTn>
                              </p:par>
                              <p:par>
                                <p:cTn id="43" presetID="10" presetClass="entr" presetSubtype="0"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450"/>
                                        <p:tgtEl>
                                          <p:spTgt spid="20"/>
                                        </p:tgtEl>
                                      </p:cBhvr>
                                    </p:animEffect>
                                  </p:childTnLst>
                                </p:cTn>
                              </p:par>
                              <p:par>
                                <p:cTn id="46" presetID="10" presetClass="entr" presetSubtype="0" fill="hold" nodeType="with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50"/>
                                        <p:tgtEl>
                                          <p:spTgt spid="21"/>
                                        </p:tgtEl>
                                      </p:cBhvr>
                                    </p:animEffect>
                                  </p:childTnLst>
                                </p:cTn>
                              </p:par>
                              <p:par>
                                <p:cTn id="49"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50"/>
                                        <p:tgtEl>
                                          <p:spTgt spid="22"/>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450"/>
                                        <p:tgtEl>
                                          <p:spTgt spid="23"/>
                                        </p:tgtEl>
                                      </p:cBhvr>
                                    </p:animEffect>
                                  </p:childTnLst>
                                </p:cTn>
                              </p:par>
                              <p:par>
                                <p:cTn id="57" presetID="10"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450"/>
                                        <p:tgtEl>
                                          <p:spTgt spid="24"/>
                                        </p:tgtEl>
                                      </p:cBhvr>
                                    </p:animEffect>
                                  </p:childTnLst>
                                </p:cTn>
                              </p:par>
                              <p:par>
                                <p:cTn id="60" presetID="10" presetClass="entr" presetSubtype="0" fill="hold" nodeType="withEffect">
                                  <p:stCondLst>
                                    <p:cond delay="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450"/>
                                        <p:tgtEl>
                                          <p:spTgt spid="25"/>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450"/>
                                        <p:tgtEl>
                                          <p:spTgt spid="26"/>
                                        </p:tgtEl>
                                      </p:cBhvr>
                                    </p:animEffect>
                                  </p:childTnLst>
                                </p:cTn>
                              </p:par>
                              <p:par>
                                <p:cTn id="66" presetID="10" presetClass="entr" presetSubtype="0" fill="hold"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50"/>
                                        <p:tgtEl>
                                          <p:spTgt spid="27"/>
                                        </p:tgtEl>
                                      </p:cBhvr>
                                    </p:animEffect>
                                  </p:childTnLst>
                                </p:cTn>
                              </p:par>
                            </p:childTnLst>
                          </p:cTn>
                        </p:par>
                      </p:childTnLst>
                    </p:cTn>
                  </p:par>
                  <p:par>
                    <p:cTn id="86" fill="hold">
                      <p:stCondLst>
                        <p:cond delay="indefinite"/>
                      </p:stCondLst>
                      <p:childTnLst>
                        <p:par>
                          <p:cTn id="87"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50"/>
                                        <p:tgtEl>
                                          <p:spTgt spid="28"/>
                                        </p:tgtEl>
                                      </p:cBhvr>
                                    </p:animEffect>
                                  </p:childTnLst>
                                </p:cTn>
                              </p:par>
                              <p:par>
                                <p:cTn id="74" presetID="10" presetClass="entr" presetSubtype="0" fill="hold"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50"/>
                                        <p:tgtEl>
                                          <p:spTgt spid="29"/>
                                        </p:tgtEl>
                                      </p:cBhvr>
                                    </p:animEffect>
                                  </p:childTnLst>
                                </p:cTn>
                              </p:par>
                              <p:par>
                                <p:cTn id="77" presetID="10"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50"/>
                                        <p:tgtEl>
                                          <p:spTgt spid="30"/>
                                        </p:tgtEl>
                                      </p:cBhvr>
                                    </p:animEffect>
                                  </p:childTnLst>
                                </p:cTn>
                              </p:par>
                              <p:par>
                                <p:cTn id="80" presetID="10" presetClass="entr" presetSubtype="0" fill="hold"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50"/>
                                        <p:tgtEl>
                                          <p:spTgt spid="31"/>
                                        </p:tgtEl>
                                      </p:cBhvr>
                                    </p:animEffect>
                                  </p:childTnLst>
                                </p:cTn>
                              </p:par>
                              <p:par>
                                <p:cTn id="83" presetID="10" presetClass="entr" presetSubtype="0" fill="hold"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4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ROUTING &amp; NAVIGATION</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File-system routing: folders are your URLs</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06</a:t>
            </a:r>
            <a:endParaRPr lang="en-US" sz="1100" dirty="0"/>
          </a:p>
        </p:txBody>
      </p:sp>
      <p:sp>
        <p:nvSpPr>
          <p:cNvPr id="7" name="Text 3"/>
          <p:cNvSpPr txBox="1"/>
          <p:nvPr/>
        </p:nvSpPr>
        <p:spPr>
          <a:xfrm>
            <a:off x="548640" y="1554480"/>
            <a:ext cx="2743200" cy="274320"/>
          </a:xfrm>
          <a:prstGeom prst="rect">
            <a:avLst/>
          </a:prstGeom>
          <a:noFill/>
          <a:ln/>
        </p:spPr>
        <p:txBody>
          <a:bodyPr wrap="square" lIns="0" tIns="0" rIns="0" bIns="0" rtlCol="0" anchor="t"/>
          <a:lstStyle/>
          <a:p>
            <a:pPr indent="0" marL="0">
              <a:buNone/>
            </a:pPr>
            <a:r>
              <a:rPr lang="en-US" sz="1100" b="1" spc="300" kern="0" dirty="0">
                <a:solidFill>
                  <a:srgbClr val="A8A5D8"/>
                </a:solidFill>
                <a:latin typeface="Calibri" pitchFamily="34" charset="0"/>
                <a:ea typeface="Calibri" pitchFamily="34" charset="-122"/>
                <a:cs typeface="Calibri" pitchFamily="34" charset="-120"/>
              </a:rPr>
              <a:t>FILE</a:t>
            </a:r>
            <a:endParaRPr lang="en-US" sz="1100" dirty="0"/>
          </a:p>
        </p:txBody>
      </p:sp>
      <p:sp>
        <p:nvSpPr>
          <p:cNvPr id="8" name="Text 4"/>
          <p:cNvSpPr txBox="1"/>
          <p:nvPr/>
        </p:nvSpPr>
        <p:spPr>
          <a:xfrm>
            <a:off x="7589520" y="1554480"/>
            <a:ext cx="2743200" cy="274320"/>
          </a:xfrm>
          <a:prstGeom prst="rect">
            <a:avLst/>
          </a:prstGeom>
          <a:noFill/>
          <a:ln/>
        </p:spPr>
        <p:txBody>
          <a:bodyPr wrap="square" lIns="0" tIns="0" rIns="0" bIns="0" rtlCol="0" anchor="t"/>
          <a:lstStyle/>
          <a:p>
            <a:pPr indent="0" marL="0">
              <a:buNone/>
            </a:pPr>
            <a:r>
              <a:rPr lang="en-US" sz="1100" b="1" spc="300" kern="0" dirty="0">
                <a:solidFill>
                  <a:srgbClr val="A8A5D8"/>
                </a:solidFill>
                <a:latin typeface="Calibri" pitchFamily="34" charset="0"/>
                <a:ea typeface="Calibri" pitchFamily="34" charset="-122"/>
                <a:cs typeface="Calibri" pitchFamily="34" charset="-120"/>
              </a:rPr>
              <a:t>URL</a:t>
            </a:r>
            <a:endParaRPr lang="en-US" sz="1100" dirty="0"/>
          </a:p>
        </p:txBody>
      </p:sp>
      <p:sp>
        <p:nvSpPr>
          <p:cNvPr id="9" name="A1_code"/>
          <p:cNvSpPr txBox="1"/>
          <p:nvPr/>
        </p:nvSpPr>
        <p:spPr>
          <a:xfrm>
            <a:off x="548640" y="1920240"/>
            <a:ext cx="5394960" cy="731520"/>
          </a:xfrm>
          <a:prstGeom prst="roundRect">
            <a:avLst>
              <a:gd name="adj" fmla="val 12500"/>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500" dirty="0">
                <a:solidFill>
                  <a:srgbClr val="F4F3FF"/>
                </a:solidFill>
                <a:latin typeface="Courier New" pitchFamily="34" charset="0"/>
                <a:ea typeface="Courier New" pitchFamily="34" charset="-122"/>
                <a:cs typeface="Courier New" pitchFamily="34" charset="-120"/>
              </a:rPr>
              <a:t>app/page.tsx</a:t>
            </a:r>
            <a:endParaRPr lang="en-US" sz="1500" dirty="0"/>
          </a:p>
        </p:txBody>
      </p:sp>
      <p:sp>
        <p:nvSpPr>
          <p:cNvPr id="10" name="A1_ar"/>
          <p:cNvSpPr/>
          <p:nvPr/>
        </p:nvSpPr>
        <p:spPr>
          <a:xfrm>
            <a:off x="6080760" y="2286000"/>
            <a:ext cx="1280160" cy="0"/>
          </a:xfrm>
          <a:prstGeom prst="line">
            <a:avLst/>
          </a:prstGeom>
          <a:noFill/>
          <a:ln w="31750">
            <a:solidFill>
              <a:srgbClr val="8B7CFF"/>
            </a:solidFill>
            <a:prstDash val="solid"/>
            <a:tailEnd type="triangle"/>
          </a:ln>
        </p:spPr>
      </p:sp>
      <p:sp>
        <p:nvSpPr>
          <p:cNvPr id="11" name="A1_url"/>
          <p:cNvSpPr txBox="1"/>
          <p:nvPr/>
        </p:nvSpPr>
        <p:spPr>
          <a:xfrm>
            <a:off x="7498080" y="1920240"/>
            <a:ext cx="3200400" cy="731520"/>
          </a:xfrm>
          <a:prstGeom prst="roundRect">
            <a:avLst>
              <a:gd name="adj" fmla="val 12500"/>
            </a:avLst>
          </a:prstGeom>
          <a:solidFill>
            <a:srgbClr val="221E58"/>
          </a:solidFill>
          <a:ln w="12700">
            <a:solidFill>
              <a:srgbClr val="8B7CFF"/>
            </a:solidFill>
            <a:prstDash val="solid"/>
          </a:ln>
        </p:spPr>
        <p:txBody>
          <a:bodyPr wrap="square" lIns="50800" tIns="50800" rIns="50800" bIns="50800" rtlCol="0" anchor="ctr"/>
          <a:lstStyle/>
          <a:p>
            <a:pPr algn="ctr" indent="0" marL="0">
              <a:buNone/>
            </a:pPr>
            <a:r>
              <a:rPr lang="en-US" sz="1700" b="1" dirty="0">
                <a:solidFill>
                  <a:srgbClr val="F4F3FF"/>
                </a:solidFill>
                <a:latin typeface="Courier New" pitchFamily="34" charset="0"/>
                <a:ea typeface="Courier New" pitchFamily="34" charset="-122"/>
                <a:cs typeface="Courier New" pitchFamily="34" charset="-120"/>
              </a:rPr>
              <a:t>/</a:t>
            </a:r>
            <a:endParaRPr lang="en-US" sz="1700" dirty="0"/>
          </a:p>
        </p:txBody>
      </p:sp>
      <p:sp>
        <p:nvSpPr>
          <p:cNvPr id="12" name="A2_code"/>
          <p:cNvSpPr txBox="1"/>
          <p:nvPr/>
        </p:nvSpPr>
        <p:spPr>
          <a:xfrm>
            <a:off x="548640" y="2880360"/>
            <a:ext cx="5394960" cy="731520"/>
          </a:xfrm>
          <a:prstGeom prst="roundRect">
            <a:avLst>
              <a:gd name="adj" fmla="val 12500"/>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500" dirty="0">
                <a:solidFill>
                  <a:srgbClr val="F4F3FF"/>
                </a:solidFill>
                <a:latin typeface="Courier New" pitchFamily="34" charset="0"/>
                <a:ea typeface="Courier New" pitchFamily="34" charset="-122"/>
                <a:cs typeface="Courier New" pitchFamily="34" charset="-120"/>
              </a:rPr>
              <a:t>app/about/page.tsx</a:t>
            </a:r>
            <a:endParaRPr lang="en-US" sz="1500" dirty="0"/>
          </a:p>
        </p:txBody>
      </p:sp>
      <p:sp>
        <p:nvSpPr>
          <p:cNvPr id="13" name="A2_ar"/>
          <p:cNvSpPr/>
          <p:nvPr/>
        </p:nvSpPr>
        <p:spPr>
          <a:xfrm>
            <a:off x="6080760" y="3246120"/>
            <a:ext cx="1280160" cy="0"/>
          </a:xfrm>
          <a:prstGeom prst="line">
            <a:avLst/>
          </a:prstGeom>
          <a:noFill/>
          <a:ln w="31750">
            <a:solidFill>
              <a:srgbClr val="8B7CFF"/>
            </a:solidFill>
            <a:prstDash val="solid"/>
            <a:tailEnd type="triangle"/>
          </a:ln>
        </p:spPr>
      </p:sp>
      <p:sp>
        <p:nvSpPr>
          <p:cNvPr id="14" name="A2_url"/>
          <p:cNvSpPr txBox="1"/>
          <p:nvPr/>
        </p:nvSpPr>
        <p:spPr>
          <a:xfrm>
            <a:off x="7498080" y="2880360"/>
            <a:ext cx="3200400" cy="731520"/>
          </a:xfrm>
          <a:prstGeom prst="roundRect">
            <a:avLst>
              <a:gd name="adj" fmla="val 12500"/>
            </a:avLst>
          </a:prstGeom>
          <a:solidFill>
            <a:srgbClr val="221E58"/>
          </a:solidFill>
          <a:ln w="12700">
            <a:solidFill>
              <a:srgbClr val="8B7CFF"/>
            </a:solidFill>
            <a:prstDash val="solid"/>
          </a:ln>
        </p:spPr>
        <p:txBody>
          <a:bodyPr wrap="square" lIns="50800" tIns="50800" rIns="50800" bIns="50800" rtlCol="0" anchor="ctr"/>
          <a:lstStyle/>
          <a:p>
            <a:pPr algn="ctr" indent="0" marL="0">
              <a:buNone/>
            </a:pPr>
            <a:r>
              <a:rPr lang="en-US" sz="1700" b="1" dirty="0">
                <a:solidFill>
                  <a:srgbClr val="F4F3FF"/>
                </a:solidFill>
                <a:latin typeface="Courier New" pitchFamily="34" charset="0"/>
                <a:ea typeface="Courier New" pitchFamily="34" charset="-122"/>
                <a:cs typeface="Courier New" pitchFamily="34" charset="-120"/>
              </a:rPr>
              <a:t>/about</a:t>
            </a:r>
            <a:endParaRPr lang="en-US" sz="1700" dirty="0"/>
          </a:p>
        </p:txBody>
      </p:sp>
      <p:sp>
        <p:nvSpPr>
          <p:cNvPr id="15" name="A3_code"/>
          <p:cNvSpPr txBox="1"/>
          <p:nvPr/>
        </p:nvSpPr>
        <p:spPr>
          <a:xfrm>
            <a:off x="548640" y="3840480"/>
            <a:ext cx="5394960" cy="731520"/>
          </a:xfrm>
          <a:prstGeom prst="roundRect">
            <a:avLst>
              <a:gd name="adj" fmla="val 12500"/>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500" dirty="0">
                <a:solidFill>
                  <a:srgbClr val="F4F3FF"/>
                </a:solidFill>
                <a:latin typeface="Courier New" pitchFamily="34" charset="0"/>
                <a:ea typeface="Courier New" pitchFamily="34" charset="-122"/>
                <a:cs typeface="Courier New" pitchFamily="34" charset="-120"/>
              </a:rPr>
              <a:t>app/blog/page.tsx</a:t>
            </a:r>
            <a:endParaRPr lang="en-US" sz="1500" dirty="0"/>
          </a:p>
        </p:txBody>
      </p:sp>
      <p:sp>
        <p:nvSpPr>
          <p:cNvPr id="16" name="A3_ar"/>
          <p:cNvSpPr/>
          <p:nvPr/>
        </p:nvSpPr>
        <p:spPr>
          <a:xfrm>
            <a:off x="6080760" y="4206240"/>
            <a:ext cx="1280160" cy="0"/>
          </a:xfrm>
          <a:prstGeom prst="line">
            <a:avLst/>
          </a:prstGeom>
          <a:noFill/>
          <a:ln w="31750">
            <a:solidFill>
              <a:srgbClr val="8B7CFF"/>
            </a:solidFill>
            <a:prstDash val="solid"/>
            <a:tailEnd type="triangle"/>
          </a:ln>
        </p:spPr>
      </p:sp>
      <p:sp>
        <p:nvSpPr>
          <p:cNvPr id="17" name="A3_url"/>
          <p:cNvSpPr txBox="1"/>
          <p:nvPr/>
        </p:nvSpPr>
        <p:spPr>
          <a:xfrm>
            <a:off x="7498080" y="3840480"/>
            <a:ext cx="3200400" cy="731520"/>
          </a:xfrm>
          <a:prstGeom prst="roundRect">
            <a:avLst>
              <a:gd name="adj" fmla="val 12500"/>
            </a:avLst>
          </a:prstGeom>
          <a:solidFill>
            <a:srgbClr val="221E58"/>
          </a:solidFill>
          <a:ln w="12700">
            <a:solidFill>
              <a:srgbClr val="8B7CFF"/>
            </a:solidFill>
            <a:prstDash val="solid"/>
          </a:ln>
        </p:spPr>
        <p:txBody>
          <a:bodyPr wrap="square" lIns="50800" tIns="50800" rIns="50800" bIns="50800" rtlCol="0" anchor="ctr"/>
          <a:lstStyle/>
          <a:p>
            <a:pPr algn="ctr" indent="0" marL="0">
              <a:buNone/>
            </a:pPr>
            <a:r>
              <a:rPr lang="en-US" sz="1700" b="1" dirty="0">
                <a:solidFill>
                  <a:srgbClr val="F4F3FF"/>
                </a:solidFill>
                <a:latin typeface="Courier New" pitchFamily="34" charset="0"/>
                <a:ea typeface="Courier New" pitchFamily="34" charset="-122"/>
                <a:cs typeface="Courier New" pitchFamily="34" charset="-120"/>
              </a:rPr>
              <a:t>/blog</a:t>
            </a:r>
            <a:endParaRPr lang="en-US" sz="1700" dirty="0"/>
          </a:p>
        </p:txBody>
      </p:sp>
      <p:sp>
        <p:nvSpPr>
          <p:cNvPr id="18" name="A4_code"/>
          <p:cNvSpPr txBox="1"/>
          <p:nvPr/>
        </p:nvSpPr>
        <p:spPr>
          <a:xfrm>
            <a:off x="548640" y="4800600"/>
            <a:ext cx="5394960" cy="731520"/>
          </a:xfrm>
          <a:prstGeom prst="roundRect">
            <a:avLst>
              <a:gd name="adj" fmla="val 12500"/>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500" dirty="0">
                <a:solidFill>
                  <a:srgbClr val="F4F3FF"/>
                </a:solidFill>
                <a:latin typeface="Courier New" pitchFamily="34" charset="0"/>
                <a:ea typeface="Courier New" pitchFamily="34" charset="-122"/>
                <a:cs typeface="Courier New" pitchFamily="34" charset="-120"/>
              </a:rPr>
              <a:t>app/blog/first-post/page.tsx</a:t>
            </a:r>
            <a:endParaRPr lang="en-US" sz="1500" dirty="0"/>
          </a:p>
        </p:txBody>
      </p:sp>
      <p:sp>
        <p:nvSpPr>
          <p:cNvPr id="19" name="A4_ar"/>
          <p:cNvSpPr/>
          <p:nvPr/>
        </p:nvSpPr>
        <p:spPr>
          <a:xfrm>
            <a:off x="6080760" y="5166360"/>
            <a:ext cx="1280160" cy="0"/>
          </a:xfrm>
          <a:prstGeom prst="line">
            <a:avLst/>
          </a:prstGeom>
          <a:noFill/>
          <a:ln w="31750">
            <a:solidFill>
              <a:srgbClr val="8B7CFF"/>
            </a:solidFill>
            <a:prstDash val="solid"/>
            <a:tailEnd type="triangle"/>
          </a:ln>
        </p:spPr>
      </p:sp>
      <p:sp>
        <p:nvSpPr>
          <p:cNvPr id="20" name="A4_url"/>
          <p:cNvSpPr txBox="1"/>
          <p:nvPr/>
        </p:nvSpPr>
        <p:spPr>
          <a:xfrm>
            <a:off x="7498080" y="4800600"/>
            <a:ext cx="3200400" cy="731520"/>
          </a:xfrm>
          <a:prstGeom prst="roundRect">
            <a:avLst>
              <a:gd name="adj" fmla="val 12500"/>
            </a:avLst>
          </a:prstGeom>
          <a:solidFill>
            <a:srgbClr val="221E58"/>
          </a:solidFill>
          <a:ln w="12700">
            <a:solidFill>
              <a:srgbClr val="8B7CFF"/>
            </a:solidFill>
            <a:prstDash val="solid"/>
          </a:ln>
        </p:spPr>
        <p:txBody>
          <a:bodyPr wrap="square" lIns="50800" tIns="50800" rIns="50800" bIns="50800" rtlCol="0" anchor="ctr"/>
          <a:lstStyle/>
          <a:p>
            <a:pPr algn="ctr" indent="0" marL="0">
              <a:buNone/>
            </a:pPr>
            <a:r>
              <a:rPr lang="en-US" sz="1700" b="1" dirty="0">
                <a:solidFill>
                  <a:srgbClr val="F4F3FF"/>
                </a:solidFill>
                <a:latin typeface="Courier New" pitchFamily="34" charset="0"/>
                <a:ea typeface="Courier New" pitchFamily="34" charset="-122"/>
                <a:cs typeface="Courier New" pitchFamily="34" charset="-120"/>
              </a:rPr>
              <a:t>/blog/first-post</a:t>
            </a:r>
            <a:endParaRPr lang="en-US" sz="1700" dirty="0"/>
          </a:p>
        </p:txBody>
      </p:sp>
      <p:pic>
        <p:nvPicPr>
          <p:cNvPr id="21" name="Image 1" descr="preencoded.png">    </p:cNvPr>
          <p:cNvPicPr>
            <a:picLocks noChangeAspect="1"/>
          </p:cNvPicPr>
          <p:nvPr/>
        </p:nvPicPr>
        <p:blipFill>
          <a:blip r:embed="rId3"/>
          <a:stretch>
            <a:fillRect/>
          </a:stretch>
        </p:blipFill>
        <p:spPr>
          <a:xfrm>
            <a:off x="10927080" y="2148840"/>
            <a:ext cx="548640" cy="548640"/>
          </a:xfrm>
          <a:prstGeom prst="rect">
            <a:avLst/>
          </a:prstGeom>
        </p:spPr>
      </p:pic>
      <p:sp>
        <p:nvSpPr>
          <p:cNvPr id="22" name="Shape 17"/>
          <p:cNvSpPr/>
          <p:nvPr/>
        </p:nvSpPr>
        <p:spPr>
          <a:xfrm>
            <a:off x="548640" y="5760720"/>
            <a:ext cx="11091672" cy="457200"/>
          </a:xfrm>
          <a:prstGeom prst="roundRect">
            <a:avLst>
              <a:gd name="adj" fmla="val 20000"/>
            </a:avLst>
          </a:prstGeom>
          <a:solidFill>
            <a:srgbClr val="17143F"/>
          </a:solidFill>
          <a:ln w="12700">
            <a:solidFill>
              <a:srgbClr val="3A3580"/>
            </a:solidFill>
            <a:prstDash val="solid"/>
          </a:ln>
        </p:spPr>
      </p:sp>
      <p:sp>
        <p:nvSpPr>
          <p:cNvPr id="23" name="Text 18"/>
          <p:cNvSpPr txBox="1"/>
          <p:nvPr/>
        </p:nvSpPr>
        <p:spPr>
          <a:xfrm>
            <a:off x="777240" y="5760720"/>
            <a:ext cx="10607040" cy="457200"/>
          </a:xfrm>
          <a:prstGeom prst="rect">
            <a:avLst/>
          </a:prstGeom>
          <a:noFill/>
          <a:ln/>
        </p:spPr>
        <p:txBody>
          <a:bodyPr wrap="square" lIns="0" tIns="0" rIns="0" bIns="0" rtlCol="0" anchor="ctr"/>
          <a:lstStyle/>
          <a:p>
            <a:pPr indent="0" marL="0">
              <a:buNone/>
            </a:pPr>
            <a:r>
              <a:rPr lang="en-US" sz="1400" b="1" dirty="0">
                <a:solidFill>
                  <a:srgbClr val="22D3EE"/>
                </a:solidFill>
                <a:latin typeface="Calibri" pitchFamily="34" charset="0"/>
                <a:ea typeface="Calibri" pitchFamily="34" charset="-122"/>
                <a:cs typeface="Calibri" pitchFamily="34" charset="-120"/>
              </a:rPr>
              <a:t>A folder becomes a route only when it contains a page.tsx. No routing config to maintain.</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50"/>
                                        <p:tgtEl>
                                          <p:spTgt spid="9"/>
                                        </p:tgtEl>
                                      </p:cBhvr>
                                    </p:animEffect>
                                  </p:childTnLst>
                                </p:cTn>
                              </p:par>
                              <p:par>
                                <p:cTn id="6" presetID="10" presetClass="entr" presetSubtype="0" fill="hold"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50"/>
                                        <p:tgtEl>
                                          <p:spTgt spid="10"/>
                                        </p:tgtEl>
                                      </p:cBhvr>
                                    </p:animEffect>
                                  </p:childTnLst>
                                </p:cTn>
                              </p:par>
                              <p:par>
                                <p:cTn id="9" presetID="10"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5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5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5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50"/>
                                        <p:tgtEl>
                                          <p:spTgt spid="15"/>
                                        </p:tgtEl>
                                      </p:cBhvr>
                                    </p:animEffect>
                                  </p:childTnLst>
                                </p:cTn>
                              </p:par>
                              <p:par>
                                <p:cTn id="28" presetID="10" presetClass="entr" presetSubtype="0"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50"/>
                                        <p:tgtEl>
                                          <p:spTgt spid="16"/>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5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50"/>
                                        <p:tgtEl>
                                          <p:spTgt spid="19"/>
                                        </p:tgtEl>
                                      </p:cBhvr>
                                    </p:animEffect>
                                  </p:childTnLst>
                                </p:cTn>
                              </p:par>
                              <p:par>
                                <p:cTn id="42" presetID="10" presetClass="entr" presetSubtype="0"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ROUTING &amp; NAVIGATION</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Link and client-side navigation</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07</a:t>
            </a:r>
            <a:endParaRPr lang="en-US" sz="1100" dirty="0"/>
          </a:p>
        </p:txBody>
      </p:sp>
      <p:sp>
        <p:nvSpPr>
          <p:cNvPr id="7" name="Shape 3"/>
          <p:cNvSpPr/>
          <p:nvPr/>
        </p:nvSpPr>
        <p:spPr>
          <a:xfrm>
            <a:off x="548640" y="1600200"/>
            <a:ext cx="11091672" cy="1645920"/>
          </a:xfrm>
          <a:prstGeom prst="roundRect">
            <a:avLst>
              <a:gd name="adj" fmla="val 6667"/>
            </a:avLst>
          </a:prstGeom>
          <a:solidFill>
            <a:srgbClr val="17143F"/>
          </a:solidFill>
          <a:ln w="12700">
            <a:solidFill>
              <a:srgbClr val="FBBF24"/>
            </a:solidFill>
            <a:prstDash val="solid"/>
          </a:ln>
        </p:spPr>
      </p:sp>
      <p:sp>
        <p:nvSpPr>
          <p:cNvPr id="8" name="Text 4"/>
          <p:cNvSpPr txBox="1"/>
          <p:nvPr/>
        </p:nvSpPr>
        <p:spPr>
          <a:xfrm>
            <a:off x="777240" y="2057400"/>
            <a:ext cx="1920240" cy="365760"/>
          </a:xfrm>
          <a:prstGeom prst="rect">
            <a:avLst/>
          </a:prstGeom>
          <a:noFill/>
          <a:ln/>
        </p:spPr>
        <p:txBody>
          <a:bodyPr wrap="square" lIns="0" tIns="0" rIns="0" bIns="0" rtlCol="0" anchor="t"/>
          <a:lstStyle/>
          <a:p>
            <a:pPr indent="0" marL="0">
              <a:buNone/>
            </a:pPr>
            <a:r>
              <a:rPr lang="en-US" sz="2000" b="1" dirty="0">
                <a:solidFill>
                  <a:srgbClr val="FBBF24"/>
                </a:solidFill>
                <a:latin typeface="Courier New" pitchFamily="34" charset="0"/>
                <a:ea typeface="Courier New" pitchFamily="34" charset="-122"/>
                <a:cs typeface="Courier New" pitchFamily="34" charset="-120"/>
              </a:rPr>
              <a:t>&lt;a href&gt;</a:t>
            </a:r>
            <a:endParaRPr lang="en-US" sz="2000" dirty="0"/>
          </a:p>
        </p:txBody>
      </p:sp>
      <p:sp>
        <p:nvSpPr>
          <p:cNvPr id="9" name="Text 5"/>
          <p:cNvSpPr txBox="1"/>
          <p:nvPr/>
        </p:nvSpPr>
        <p:spPr>
          <a:xfrm>
            <a:off x="777240" y="2468880"/>
            <a:ext cx="1920240" cy="36576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Full page reload</a:t>
            </a:r>
            <a:endParaRPr lang="en-US" sz="1300" dirty="0"/>
          </a:p>
        </p:txBody>
      </p:sp>
      <p:sp>
        <p:nvSpPr>
          <p:cNvPr id="10" name="A1_st0"/>
          <p:cNvSpPr txBox="1"/>
          <p:nvPr/>
        </p:nvSpPr>
        <p:spPr>
          <a:xfrm>
            <a:off x="2834640" y="1984248"/>
            <a:ext cx="1691640" cy="868680"/>
          </a:xfrm>
          <a:prstGeom prst="roundRect">
            <a:avLst>
              <a:gd name="adj" fmla="val 10526"/>
            </a:avLst>
          </a:prstGeom>
          <a:solidFill>
            <a:srgbClr val="0C0A20"/>
          </a:solidFill>
          <a:ln w="12700">
            <a:solidFill>
              <a:srgbClr val="FBBF24"/>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Click</a:t>
            </a:r>
            <a:endParaRPr lang="en-US" sz="1300" dirty="0"/>
          </a:p>
        </p:txBody>
      </p:sp>
      <p:sp>
        <p:nvSpPr>
          <p:cNvPr id="11" name="A1_sa0"/>
          <p:cNvSpPr/>
          <p:nvPr/>
        </p:nvSpPr>
        <p:spPr>
          <a:xfrm>
            <a:off x="4553712" y="2423160"/>
            <a:ext cx="402336" cy="0"/>
          </a:xfrm>
          <a:prstGeom prst="line">
            <a:avLst/>
          </a:prstGeom>
          <a:noFill/>
          <a:ln w="25400">
            <a:solidFill>
              <a:srgbClr val="FBBF24"/>
            </a:solidFill>
            <a:prstDash val="solid"/>
            <a:tailEnd type="triangle"/>
          </a:ln>
        </p:spPr>
      </p:sp>
      <p:sp>
        <p:nvSpPr>
          <p:cNvPr id="12" name="A1_st1"/>
          <p:cNvSpPr txBox="1"/>
          <p:nvPr/>
        </p:nvSpPr>
        <p:spPr>
          <a:xfrm>
            <a:off x="4983480" y="1984248"/>
            <a:ext cx="1691640" cy="868680"/>
          </a:xfrm>
          <a:prstGeom prst="roundRect">
            <a:avLst>
              <a:gd name="adj" fmla="val 10526"/>
            </a:avLst>
          </a:prstGeom>
          <a:solidFill>
            <a:srgbClr val="0C0A20"/>
          </a:solidFill>
          <a:ln w="12700">
            <a:solidFill>
              <a:srgbClr val="FBBF24"/>
            </a:solidFill>
            <a:prstDash val="solid"/>
          </a:ln>
        </p:spPr>
        <p:txBody>
          <a:bodyPr wrap="square" lIns="50800" tIns="50800" rIns="50800" bIns="50800" rtlCol="0" anchor="ctr"/>
          <a:lstStyle/>
          <a:p>
            <a:pPr algn="ctr" indent="0" marL="0">
              <a:buNone/>
            </a:pPr>
            <a:r>
              <a:rPr lang="en-US" sz="1300" dirty="0">
                <a:solidFill>
                  <a:srgbClr val="F4F3FF"/>
                </a:solidFill>
                <a:latin typeface="Calibri" pitchFamily="34" charset="0"/>
                <a:ea typeface="Calibri" pitchFamily="34" charset="-122"/>
                <a:cs typeface="Calibri" pitchFamily="34" charset="-120"/>
              </a:rPr>
              <a:t>Ask server for the full page</a:t>
            </a:r>
            <a:endParaRPr lang="en-US" sz="1300" dirty="0"/>
          </a:p>
        </p:txBody>
      </p:sp>
      <p:sp>
        <p:nvSpPr>
          <p:cNvPr id="13" name="A1_sa1"/>
          <p:cNvSpPr/>
          <p:nvPr/>
        </p:nvSpPr>
        <p:spPr>
          <a:xfrm>
            <a:off x="6702552" y="2423160"/>
            <a:ext cx="402336" cy="0"/>
          </a:xfrm>
          <a:prstGeom prst="line">
            <a:avLst/>
          </a:prstGeom>
          <a:noFill/>
          <a:ln w="25400">
            <a:solidFill>
              <a:srgbClr val="FBBF24"/>
            </a:solidFill>
            <a:prstDash val="solid"/>
            <a:tailEnd type="triangle"/>
          </a:ln>
        </p:spPr>
      </p:sp>
      <p:sp>
        <p:nvSpPr>
          <p:cNvPr id="14" name="A1_st2"/>
          <p:cNvSpPr txBox="1"/>
          <p:nvPr/>
        </p:nvSpPr>
        <p:spPr>
          <a:xfrm>
            <a:off x="7132320" y="1984248"/>
            <a:ext cx="1691640" cy="868680"/>
          </a:xfrm>
          <a:prstGeom prst="roundRect">
            <a:avLst>
              <a:gd name="adj" fmla="val 10526"/>
            </a:avLst>
          </a:prstGeom>
          <a:solidFill>
            <a:srgbClr val="0C0A20"/>
          </a:solidFill>
          <a:ln w="12700">
            <a:solidFill>
              <a:srgbClr val="FBBF24"/>
            </a:solidFill>
            <a:prstDash val="solid"/>
          </a:ln>
        </p:spPr>
        <p:txBody>
          <a:bodyPr wrap="square" lIns="50800" tIns="50800" rIns="50800" bIns="50800" rtlCol="0" anchor="ctr"/>
          <a:lstStyle/>
          <a:p>
            <a:pPr algn="ctr" indent="0" marL="0">
              <a:buNone/>
            </a:pPr>
            <a:r>
              <a:rPr lang="en-US" sz="1300" dirty="0">
                <a:solidFill>
                  <a:srgbClr val="F4F3FF"/>
                </a:solidFill>
                <a:latin typeface="Calibri" pitchFamily="34" charset="0"/>
                <a:ea typeface="Calibri" pitchFamily="34" charset="-122"/>
                <a:cs typeface="Calibri" pitchFamily="34" charset="-120"/>
              </a:rPr>
              <a:t>Reload everything</a:t>
            </a:r>
            <a:endParaRPr lang="en-US" sz="1300" dirty="0"/>
          </a:p>
        </p:txBody>
      </p:sp>
      <p:sp>
        <p:nvSpPr>
          <p:cNvPr id="15" name="A1_sa2"/>
          <p:cNvSpPr/>
          <p:nvPr/>
        </p:nvSpPr>
        <p:spPr>
          <a:xfrm>
            <a:off x="8851392" y="2423160"/>
            <a:ext cx="402336" cy="0"/>
          </a:xfrm>
          <a:prstGeom prst="line">
            <a:avLst/>
          </a:prstGeom>
          <a:noFill/>
          <a:ln w="25400">
            <a:solidFill>
              <a:srgbClr val="FBBF24"/>
            </a:solidFill>
            <a:prstDash val="solid"/>
            <a:tailEnd type="triangle"/>
          </a:ln>
        </p:spPr>
      </p:sp>
      <p:sp>
        <p:nvSpPr>
          <p:cNvPr id="16" name="A1_st3"/>
          <p:cNvSpPr txBox="1"/>
          <p:nvPr/>
        </p:nvSpPr>
        <p:spPr>
          <a:xfrm>
            <a:off x="9281160" y="1984248"/>
            <a:ext cx="1691640" cy="868680"/>
          </a:xfrm>
          <a:prstGeom prst="roundRect">
            <a:avLst>
              <a:gd name="adj" fmla="val 10526"/>
            </a:avLst>
          </a:prstGeom>
          <a:solidFill>
            <a:srgbClr val="221E58"/>
          </a:solidFill>
          <a:ln w="12700">
            <a:solidFill>
              <a:srgbClr val="FBBF24"/>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Screen flashes, state lost</a:t>
            </a:r>
            <a:endParaRPr lang="en-US" sz="1300" dirty="0"/>
          </a:p>
        </p:txBody>
      </p:sp>
      <p:sp>
        <p:nvSpPr>
          <p:cNvPr id="17" name="Shape 13"/>
          <p:cNvSpPr/>
          <p:nvPr/>
        </p:nvSpPr>
        <p:spPr>
          <a:xfrm>
            <a:off x="548640" y="3429000"/>
            <a:ext cx="11091672" cy="1645920"/>
          </a:xfrm>
          <a:prstGeom prst="roundRect">
            <a:avLst>
              <a:gd name="adj" fmla="val 6667"/>
            </a:avLst>
          </a:prstGeom>
          <a:solidFill>
            <a:srgbClr val="17143F"/>
          </a:solidFill>
          <a:ln w="12700">
            <a:solidFill>
              <a:srgbClr val="34D399"/>
            </a:solidFill>
            <a:prstDash val="solid"/>
          </a:ln>
        </p:spPr>
      </p:sp>
      <p:sp>
        <p:nvSpPr>
          <p:cNvPr id="18" name="Text 14"/>
          <p:cNvSpPr txBox="1"/>
          <p:nvPr/>
        </p:nvSpPr>
        <p:spPr>
          <a:xfrm>
            <a:off x="777240" y="3886200"/>
            <a:ext cx="1920240" cy="365760"/>
          </a:xfrm>
          <a:prstGeom prst="rect">
            <a:avLst/>
          </a:prstGeom>
          <a:noFill/>
          <a:ln/>
        </p:spPr>
        <p:txBody>
          <a:bodyPr wrap="square" lIns="0" tIns="0" rIns="0" bIns="0" rtlCol="0" anchor="t"/>
          <a:lstStyle/>
          <a:p>
            <a:pPr indent="0" marL="0">
              <a:buNone/>
            </a:pPr>
            <a:r>
              <a:rPr lang="en-US" sz="2000" b="1" dirty="0">
                <a:solidFill>
                  <a:srgbClr val="34D399"/>
                </a:solidFill>
                <a:latin typeface="Courier New" pitchFamily="34" charset="0"/>
                <a:ea typeface="Courier New" pitchFamily="34" charset="-122"/>
                <a:cs typeface="Courier New" pitchFamily="34" charset="-120"/>
              </a:rPr>
              <a:t>&lt;Link&gt;</a:t>
            </a:r>
            <a:endParaRPr lang="en-US" sz="2000" dirty="0"/>
          </a:p>
        </p:txBody>
      </p:sp>
      <p:sp>
        <p:nvSpPr>
          <p:cNvPr id="19" name="Text 15"/>
          <p:cNvSpPr txBox="1"/>
          <p:nvPr/>
        </p:nvSpPr>
        <p:spPr>
          <a:xfrm>
            <a:off x="777240" y="4297680"/>
            <a:ext cx="1920240" cy="36576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Client-side navigation</a:t>
            </a:r>
            <a:endParaRPr lang="en-US" sz="1300" dirty="0"/>
          </a:p>
        </p:txBody>
      </p:sp>
      <p:sp>
        <p:nvSpPr>
          <p:cNvPr id="20" name="A2_st0"/>
          <p:cNvSpPr txBox="1"/>
          <p:nvPr/>
        </p:nvSpPr>
        <p:spPr>
          <a:xfrm>
            <a:off x="2834640" y="3813048"/>
            <a:ext cx="1691640" cy="868680"/>
          </a:xfrm>
          <a:prstGeom prst="roundRect">
            <a:avLst>
              <a:gd name="adj" fmla="val 10526"/>
            </a:avLst>
          </a:prstGeom>
          <a:solidFill>
            <a:srgbClr val="0C0A20"/>
          </a:solidFill>
          <a:ln w="12700">
            <a:solidFill>
              <a:srgbClr val="34D399"/>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Click</a:t>
            </a:r>
            <a:endParaRPr lang="en-US" sz="1300" dirty="0"/>
          </a:p>
        </p:txBody>
      </p:sp>
      <p:sp>
        <p:nvSpPr>
          <p:cNvPr id="21" name="A2_sa0"/>
          <p:cNvSpPr/>
          <p:nvPr/>
        </p:nvSpPr>
        <p:spPr>
          <a:xfrm>
            <a:off x="4553712" y="4251960"/>
            <a:ext cx="402336" cy="0"/>
          </a:xfrm>
          <a:prstGeom prst="line">
            <a:avLst/>
          </a:prstGeom>
          <a:noFill/>
          <a:ln w="25400">
            <a:solidFill>
              <a:srgbClr val="34D399"/>
            </a:solidFill>
            <a:prstDash val="solid"/>
            <a:tailEnd type="triangle"/>
          </a:ln>
        </p:spPr>
      </p:sp>
      <p:sp>
        <p:nvSpPr>
          <p:cNvPr id="22" name="A2_st1"/>
          <p:cNvSpPr txBox="1"/>
          <p:nvPr/>
        </p:nvSpPr>
        <p:spPr>
          <a:xfrm>
            <a:off x="4983480" y="3813048"/>
            <a:ext cx="1691640" cy="868680"/>
          </a:xfrm>
          <a:prstGeom prst="roundRect">
            <a:avLst>
              <a:gd name="adj" fmla="val 10526"/>
            </a:avLst>
          </a:prstGeom>
          <a:solidFill>
            <a:srgbClr val="0C0A20"/>
          </a:solidFill>
          <a:ln w="12700">
            <a:solidFill>
              <a:srgbClr val="34D399"/>
            </a:solidFill>
            <a:prstDash val="solid"/>
          </a:ln>
        </p:spPr>
        <p:txBody>
          <a:bodyPr wrap="square" lIns="50800" tIns="50800" rIns="50800" bIns="50800" rtlCol="0" anchor="ctr"/>
          <a:lstStyle/>
          <a:p>
            <a:pPr algn="ctr" indent="0" marL="0">
              <a:buNone/>
            </a:pPr>
            <a:r>
              <a:rPr lang="en-US" sz="1300" dirty="0">
                <a:solidFill>
                  <a:srgbClr val="F4F3FF"/>
                </a:solidFill>
                <a:latin typeface="Calibri" pitchFamily="34" charset="0"/>
                <a:ea typeface="Calibri" pitchFamily="34" charset="-122"/>
                <a:cs typeface="Calibri" pitchFamily="34" charset="-120"/>
              </a:rPr>
              <a:t>Fetch only what is new</a:t>
            </a:r>
            <a:endParaRPr lang="en-US" sz="1300" dirty="0"/>
          </a:p>
        </p:txBody>
      </p:sp>
      <p:sp>
        <p:nvSpPr>
          <p:cNvPr id="23" name="A2_sa1"/>
          <p:cNvSpPr/>
          <p:nvPr/>
        </p:nvSpPr>
        <p:spPr>
          <a:xfrm>
            <a:off x="6702552" y="4251960"/>
            <a:ext cx="402336" cy="0"/>
          </a:xfrm>
          <a:prstGeom prst="line">
            <a:avLst/>
          </a:prstGeom>
          <a:noFill/>
          <a:ln w="25400">
            <a:solidFill>
              <a:srgbClr val="34D399"/>
            </a:solidFill>
            <a:prstDash val="solid"/>
            <a:tailEnd type="triangle"/>
          </a:ln>
        </p:spPr>
      </p:sp>
      <p:sp>
        <p:nvSpPr>
          <p:cNvPr id="24" name="A2_st2"/>
          <p:cNvSpPr txBox="1"/>
          <p:nvPr/>
        </p:nvSpPr>
        <p:spPr>
          <a:xfrm>
            <a:off x="7132320" y="3813048"/>
            <a:ext cx="1691640" cy="868680"/>
          </a:xfrm>
          <a:prstGeom prst="roundRect">
            <a:avLst>
              <a:gd name="adj" fmla="val 10526"/>
            </a:avLst>
          </a:prstGeom>
          <a:solidFill>
            <a:srgbClr val="0C0A20"/>
          </a:solidFill>
          <a:ln w="12700">
            <a:solidFill>
              <a:srgbClr val="34D399"/>
            </a:solidFill>
            <a:prstDash val="solid"/>
          </a:ln>
        </p:spPr>
        <p:txBody>
          <a:bodyPr wrap="square" lIns="50800" tIns="50800" rIns="50800" bIns="50800" rtlCol="0" anchor="ctr"/>
          <a:lstStyle/>
          <a:p>
            <a:pPr algn="ctr" indent="0" marL="0">
              <a:buNone/>
            </a:pPr>
            <a:r>
              <a:rPr lang="en-US" sz="1300" dirty="0">
                <a:solidFill>
                  <a:srgbClr val="F4F3FF"/>
                </a:solidFill>
                <a:latin typeface="Calibri" pitchFamily="34" charset="0"/>
                <a:ea typeface="Calibri" pitchFamily="34" charset="-122"/>
                <a:cs typeface="Calibri" pitchFamily="34" charset="-120"/>
              </a:rPr>
              <a:t>Swap the page area</a:t>
            </a:r>
            <a:endParaRPr lang="en-US" sz="1300" dirty="0"/>
          </a:p>
        </p:txBody>
      </p:sp>
      <p:sp>
        <p:nvSpPr>
          <p:cNvPr id="25" name="A2_sa2"/>
          <p:cNvSpPr/>
          <p:nvPr/>
        </p:nvSpPr>
        <p:spPr>
          <a:xfrm>
            <a:off x="8851392" y="4251960"/>
            <a:ext cx="402336" cy="0"/>
          </a:xfrm>
          <a:prstGeom prst="line">
            <a:avLst/>
          </a:prstGeom>
          <a:noFill/>
          <a:ln w="25400">
            <a:solidFill>
              <a:srgbClr val="34D399"/>
            </a:solidFill>
            <a:prstDash val="solid"/>
            <a:tailEnd type="triangle"/>
          </a:ln>
        </p:spPr>
      </p:sp>
      <p:sp>
        <p:nvSpPr>
          <p:cNvPr id="26" name="A2_st3"/>
          <p:cNvSpPr txBox="1"/>
          <p:nvPr/>
        </p:nvSpPr>
        <p:spPr>
          <a:xfrm>
            <a:off x="9281160" y="3813048"/>
            <a:ext cx="1691640" cy="868680"/>
          </a:xfrm>
          <a:prstGeom prst="roundRect">
            <a:avLst>
              <a:gd name="adj" fmla="val 10526"/>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Layout stays, no reload</a:t>
            </a:r>
            <a:endParaRPr lang="en-US" sz="1300" dirty="0"/>
          </a:p>
        </p:txBody>
      </p:sp>
      <p:sp>
        <p:nvSpPr>
          <p:cNvPr id="27" name="Text 23"/>
          <p:cNvSpPr txBox="1"/>
          <p:nvPr/>
        </p:nvSpPr>
        <p:spPr>
          <a:xfrm>
            <a:off x="548640" y="5349240"/>
            <a:ext cx="5120640" cy="731520"/>
          </a:xfrm>
          <a:prstGeom prst="roundRect">
            <a:avLst>
              <a:gd name="adj" fmla="val 12500"/>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500" dirty="0">
                <a:solidFill>
                  <a:srgbClr val="22D3EE"/>
                </a:solidFill>
                <a:latin typeface="Courier New" pitchFamily="34" charset="0"/>
                <a:ea typeface="Courier New" pitchFamily="34" charset="-122"/>
                <a:cs typeface="Courier New" pitchFamily="34" charset="-120"/>
              </a:rPr>
              <a:t>&lt;Link</a:t>
            </a:r>
            <a:pPr algn="l" indent="0" marL="0">
              <a:buNone/>
            </a:pPr>
            <a:r>
              <a:rPr lang="en-US" sz="1500" dirty="0">
                <a:solidFill>
                  <a:srgbClr val="D6D3FF"/>
                </a:solidFill>
                <a:latin typeface="Courier New" pitchFamily="34" charset="0"/>
                <a:ea typeface="Courier New" pitchFamily="34" charset="-122"/>
                <a:cs typeface="Courier New" pitchFamily="34" charset="-120"/>
              </a:rPr>
              <a:t> </a:t>
            </a:r>
            <a:pPr algn="l" indent="0" marL="0">
              <a:buNone/>
            </a:pPr>
            <a:r>
              <a:rPr lang="en-US" sz="1500" dirty="0">
                <a:solidFill>
                  <a:srgbClr val="E6E4FF"/>
                </a:solidFill>
                <a:latin typeface="Courier New" pitchFamily="34" charset="0"/>
                <a:ea typeface="Courier New" pitchFamily="34" charset="-122"/>
                <a:cs typeface="Courier New" pitchFamily="34" charset="-120"/>
              </a:rPr>
              <a:t>href</a:t>
            </a:r>
            <a:pPr algn="l" indent="0" marL="0">
              <a:buNone/>
            </a:pPr>
            <a:r>
              <a:rPr lang="en-US" sz="1500" dirty="0">
                <a:solidFill>
                  <a:srgbClr val="D6D3FF"/>
                </a:solidFill>
                <a:latin typeface="Courier New" pitchFamily="34" charset="0"/>
                <a:ea typeface="Courier New" pitchFamily="34" charset="-122"/>
                <a:cs typeface="Courier New" pitchFamily="34" charset="-120"/>
              </a:rPr>
              <a:t>=</a:t>
            </a:r>
            <a:pPr algn="l" indent="0" marL="0">
              <a:buNone/>
            </a:pPr>
            <a:r>
              <a:rPr lang="en-US" sz="1500" dirty="0">
                <a:solidFill>
                  <a:srgbClr val="86EFAC"/>
                </a:solidFill>
                <a:latin typeface="Courier New" pitchFamily="34" charset="0"/>
                <a:ea typeface="Courier New" pitchFamily="34" charset="-122"/>
                <a:cs typeface="Courier New" pitchFamily="34" charset="-120"/>
              </a:rPr>
              <a:t>"/about"</a:t>
            </a:r>
            <a:pPr algn="l" indent="0" marL="0">
              <a:buNone/>
            </a:pPr>
            <a:r>
              <a:rPr lang="en-US" sz="1500" dirty="0">
                <a:solidFill>
                  <a:srgbClr val="D6D3FF"/>
                </a:solidFill>
                <a:latin typeface="Courier New" pitchFamily="34" charset="0"/>
                <a:ea typeface="Courier New" pitchFamily="34" charset="-122"/>
                <a:cs typeface="Courier New" pitchFamily="34" charset="-120"/>
              </a:rPr>
              <a:t>&gt;</a:t>
            </a:r>
            <a:pPr algn="l" indent="0" marL="0">
              <a:buNone/>
            </a:pPr>
            <a:r>
              <a:rPr lang="en-US" sz="1500" dirty="0">
                <a:solidFill>
                  <a:srgbClr val="E6E4FF"/>
                </a:solidFill>
                <a:latin typeface="Courier New" pitchFamily="34" charset="0"/>
                <a:ea typeface="Courier New" pitchFamily="34" charset="-122"/>
                <a:cs typeface="Courier New" pitchFamily="34" charset="-120"/>
              </a:rPr>
              <a:t>About</a:t>
            </a:r>
            <a:pPr algn="l" indent="0" marL="0">
              <a:buNone/>
            </a:pPr>
            <a:r>
              <a:rPr lang="en-US" sz="1500" dirty="0">
                <a:solidFill>
                  <a:srgbClr val="22D3EE"/>
                </a:solidFill>
                <a:latin typeface="Courier New" pitchFamily="34" charset="0"/>
                <a:ea typeface="Courier New" pitchFamily="34" charset="-122"/>
                <a:cs typeface="Courier New" pitchFamily="34" charset="-120"/>
              </a:rPr>
              <a:t>&lt;/Link</a:t>
            </a:r>
            <a:pPr algn="l" indent="0" marL="0">
              <a:buNone/>
            </a:pPr>
            <a:r>
              <a:rPr lang="en-US" sz="1500" dirty="0">
                <a:solidFill>
                  <a:srgbClr val="D6D3FF"/>
                </a:solidFill>
                <a:latin typeface="Courier New" pitchFamily="34" charset="0"/>
                <a:ea typeface="Courier New" pitchFamily="34" charset="-122"/>
                <a:cs typeface="Courier New" pitchFamily="34" charset="-120"/>
              </a:rPr>
              <a:t>&gt;</a:t>
            </a:r>
            <a:endParaRPr lang="en-US" sz="1500" dirty="0"/>
          </a:p>
        </p:txBody>
      </p:sp>
      <p:pic>
        <p:nvPicPr>
          <p:cNvPr id="28" name="Image 1" descr="preencoded.png">    </p:cNvPr>
          <p:cNvPicPr>
            <a:picLocks noChangeAspect="1"/>
          </p:cNvPicPr>
          <p:nvPr/>
        </p:nvPicPr>
        <p:blipFill>
          <a:blip r:embed="rId3"/>
          <a:stretch>
            <a:fillRect/>
          </a:stretch>
        </p:blipFill>
        <p:spPr>
          <a:xfrm>
            <a:off x="5989320" y="5468112"/>
            <a:ext cx="457200" cy="457200"/>
          </a:xfrm>
          <a:prstGeom prst="rect">
            <a:avLst/>
          </a:prstGeom>
        </p:spPr>
      </p:pic>
      <p:sp>
        <p:nvSpPr>
          <p:cNvPr id="29" name="Text 24"/>
          <p:cNvSpPr txBox="1"/>
          <p:nvPr/>
        </p:nvSpPr>
        <p:spPr>
          <a:xfrm>
            <a:off x="6583680" y="5349240"/>
            <a:ext cx="5029200" cy="731520"/>
          </a:xfrm>
          <a:prstGeom prst="rect">
            <a:avLst/>
          </a:prstGeom>
          <a:noFill/>
          <a:ln/>
        </p:spPr>
        <p:txBody>
          <a:bodyPr wrap="square" lIns="0" tIns="0" rIns="0" bIns="0" rtlCol="0" anchor="ctr"/>
          <a:lstStyle/>
          <a:p>
            <a:pPr indent="0" marL="0">
              <a:buNone/>
            </a:pPr>
            <a:r>
              <a:rPr lang="en-US" sz="1400" dirty="0">
                <a:solidFill>
                  <a:srgbClr val="A8A5D8"/>
                </a:solidFill>
                <a:latin typeface="Calibri" pitchFamily="34" charset="0"/>
                <a:ea typeface="Calibri" pitchFamily="34" charset="-122"/>
                <a:cs typeface="Calibri" pitchFamily="34" charset="-120"/>
              </a:rPr>
              <a:t>Link also prefetches routes that are visible on screen, so the next page is often ready before the click.</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50"/>
                                        <p:tgtEl>
                                          <p:spTgt spid="10"/>
                                        </p:tgtEl>
                                      </p:cBhvr>
                                    </p:animEffect>
                                  </p:childTnLst>
                                </p:cTn>
                              </p:par>
                              <p:par>
                                <p:cTn id="6" presetID="10" presetClass="entr" presetSubtype="0" fill="hold"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50"/>
                                        <p:tgtEl>
                                          <p:spTgt spid="11"/>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50"/>
                                        <p:tgtEl>
                                          <p:spTgt spid="12"/>
                                        </p:tgtEl>
                                      </p:cBhvr>
                                    </p:animEffect>
                                  </p:childTnLst>
                                </p:cTn>
                              </p:par>
                              <p:par>
                                <p:cTn id="12" presetID="10"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50"/>
                                        <p:tgtEl>
                                          <p:spTgt spid="20"/>
                                        </p:tgtEl>
                                      </p:cBhvr>
                                    </p:animEffect>
                                  </p:childTnLst>
                                </p:cTn>
                              </p:par>
                              <p:par>
                                <p:cTn id="29" presetID="10"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par>
                                <p:cTn id="32" presetID="10"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par>
                                <p:cTn id="35" presetID="10"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par>
                                <p:cTn id="38" presetID="10" presetClass="entr" presetSubtype="0" fill="hold"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450"/>
                                        <p:tgtEl>
                                          <p:spTgt spid="24"/>
                                        </p:tgtEl>
                                      </p:cBhvr>
                                    </p:animEffect>
                                  </p:childTnLst>
                                </p:cTn>
                              </p:par>
                              <p:par>
                                <p:cTn id="41" presetID="10"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450"/>
                                        <p:tgtEl>
                                          <p:spTgt spid="25"/>
                                        </p:tgtEl>
                                      </p:cBhvr>
                                    </p:animEffect>
                                  </p:childTnLst>
                                </p:cTn>
                              </p:par>
                              <p:par>
                                <p:cTn id="44" presetID="10" presetClass="entr" presetSubtype="0" fill="hold"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ROUTING &amp; NAVIGATION</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Dynamic routes: one file, many URLs</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08</a:t>
            </a:r>
            <a:endParaRPr lang="en-US" sz="1100" dirty="0"/>
          </a:p>
        </p:txBody>
      </p:sp>
      <p:sp>
        <p:nvSpPr>
          <p:cNvPr id="7" name="A1_u"/>
          <p:cNvSpPr txBox="1"/>
          <p:nvPr/>
        </p:nvSpPr>
        <p:spPr>
          <a:xfrm>
            <a:off x="548640" y="1828800"/>
            <a:ext cx="2743200" cy="594360"/>
          </a:xfrm>
          <a:prstGeom prst="roundRect">
            <a:avLst>
              <a:gd name="adj" fmla="val 15385"/>
            </a:avLst>
          </a:prstGeom>
          <a:solidFill>
            <a:srgbClr val="17143F"/>
          </a:solidFill>
          <a:ln w="12700">
            <a:solidFill>
              <a:srgbClr val="3A3580"/>
            </a:solidFill>
            <a:prstDash val="solid"/>
          </a:ln>
        </p:spPr>
        <p:txBody>
          <a:bodyPr wrap="square" lIns="50800" tIns="50800" rIns="50800" bIns="50800" rtlCol="0" anchor="ctr"/>
          <a:lstStyle/>
          <a:p>
            <a:pPr algn="ctr" indent="0" marL="0">
              <a:buNone/>
            </a:pPr>
            <a:r>
              <a:rPr lang="en-US" sz="1500" dirty="0">
                <a:solidFill>
                  <a:srgbClr val="F4F3FF"/>
                </a:solidFill>
                <a:latin typeface="Courier New" pitchFamily="34" charset="0"/>
                <a:ea typeface="Courier New" pitchFamily="34" charset="-122"/>
                <a:cs typeface="Courier New" pitchFamily="34" charset="-120"/>
              </a:rPr>
              <a:t>/products/1</a:t>
            </a:r>
            <a:endParaRPr lang="en-US" sz="1500" dirty="0"/>
          </a:p>
        </p:txBody>
      </p:sp>
      <p:sp>
        <p:nvSpPr>
          <p:cNvPr id="8" name="A2_ua"/>
          <p:cNvSpPr/>
          <p:nvPr/>
        </p:nvSpPr>
        <p:spPr>
          <a:xfrm>
            <a:off x="3383280" y="2125980"/>
            <a:ext cx="685800" cy="0"/>
          </a:xfrm>
          <a:prstGeom prst="line">
            <a:avLst/>
          </a:prstGeom>
          <a:noFill/>
          <a:ln w="25400">
            <a:solidFill>
              <a:srgbClr val="A8A5D8"/>
            </a:solidFill>
            <a:prstDash val="solid"/>
            <a:tailEnd type="triangle"/>
          </a:ln>
        </p:spPr>
      </p:sp>
      <p:sp>
        <p:nvSpPr>
          <p:cNvPr id="9" name="A3_va"/>
          <p:cNvSpPr/>
          <p:nvPr/>
        </p:nvSpPr>
        <p:spPr>
          <a:xfrm>
            <a:off x="7635240" y="2125980"/>
            <a:ext cx="685800" cy="0"/>
          </a:xfrm>
          <a:prstGeom prst="line">
            <a:avLst/>
          </a:prstGeom>
          <a:noFill/>
          <a:ln w="25400">
            <a:solidFill>
              <a:srgbClr val="FBBF24"/>
            </a:solidFill>
            <a:prstDash val="solid"/>
            <a:tailEnd type="triangle"/>
          </a:ln>
        </p:spPr>
      </p:sp>
      <p:sp>
        <p:nvSpPr>
          <p:cNvPr id="10" name="A3_v"/>
          <p:cNvSpPr txBox="1"/>
          <p:nvPr/>
        </p:nvSpPr>
        <p:spPr>
          <a:xfrm>
            <a:off x="8412480" y="1828800"/>
            <a:ext cx="3200400" cy="594360"/>
          </a:xfrm>
          <a:prstGeom prst="roundRect">
            <a:avLst>
              <a:gd name="adj" fmla="val 15385"/>
            </a:avLst>
          </a:prstGeom>
          <a:solidFill>
            <a:srgbClr val="17143F"/>
          </a:solidFill>
          <a:ln w="12700">
            <a:solidFill>
              <a:srgbClr val="FBBF24"/>
            </a:solidFill>
            <a:prstDash val="solid"/>
          </a:ln>
        </p:spPr>
        <p:txBody>
          <a:bodyPr wrap="square" lIns="50800" tIns="50800" rIns="50800" bIns="50800" rtlCol="0" anchor="ctr"/>
          <a:lstStyle/>
          <a:p>
            <a:pPr algn="ctr" indent="0" marL="0">
              <a:buNone/>
            </a:pPr>
            <a:r>
              <a:rPr lang="en-US" sz="1500" dirty="0">
                <a:solidFill>
                  <a:srgbClr val="A8A5D8"/>
                </a:solidFill>
                <a:latin typeface="Courier New" pitchFamily="34" charset="0"/>
                <a:ea typeface="Courier New" pitchFamily="34" charset="-122"/>
                <a:cs typeface="Courier New" pitchFamily="34" charset="-120"/>
              </a:rPr>
              <a:t>params.id = </a:t>
            </a:r>
            <a:pPr algn="ctr" indent="0" marL="0">
              <a:buNone/>
            </a:pPr>
            <a:r>
              <a:rPr lang="en-US" sz="1500" b="1" dirty="0">
                <a:solidFill>
                  <a:srgbClr val="FBBF24"/>
                </a:solidFill>
                <a:latin typeface="Courier New" pitchFamily="34" charset="0"/>
                <a:ea typeface="Courier New" pitchFamily="34" charset="-122"/>
                <a:cs typeface="Courier New" pitchFamily="34" charset="-120"/>
              </a:rPr>
              <a:t>"1"</a:t>
            </a:r>
            <a:endParaRPr lang="en-US" sz="1500" dirty="0"/>
          </a:p>
        </p:txBody>
      </p:sp>
      <p:sp>
        <p:nvSpPr>
          <p:cNvPr id="11" name="A1_u"/>
          <p:cNvSpPr txBox="1"/>
          <p:nvPr/>
        </p:nvSpPr>
        <p:spPr>
          <a:xfrm>
            <a:off x="548640" y="2697480"/>
            <a:ext cx="2743200" cy="594360"/>
          </a:xfrm>
          <a:prstGeom prst="roundRect">
            <a:avLst>
              <a:gd name="adj" fmla="val 15385"/>
            </a:avLst>
          </a:prstGeom>
          <a:solidFill>
            <a:srgbClr val="17143F"/>
          </a:solidFill>
          <a:ln w="12700">
            <a:solidFill>
              <a:srgbClr val="3A3580"/>
            </a:solidFill>
            <a:prstDash val="solid"/>
          </a:ln>
        </p:spPr>
        <p:txBody>
          <a:bodyPr wrap="square" lIns="50800" tIns="50800" rIns="50800" bIns="50800" rtlCol="0" anchor="ctr"/>
          <a:lstStyle/>
          <a:p>
            <a:pPr algn="ctr" indent="0" marL="0">
              <a:buNone/>
            </a:pPr>
            <a:r>
              <a:rPr lang="en-US" sz="1500" dirty="0">
                <a:solidFill>
                  <a:srgbClr val="F4F3FF"/>
                </a:solidFill>
                <a:latin typeface="Courier New" pitchFamily="34" charset="0"/>
                <a:ea typeface="Courier New" pitchFamily="34" charset="-122"/>
                <a:cs typeface="Courier New" pitchFamily="34" charset="-120"/>
              </a:rPr>
              <a:t>/products/42</a:t>
            </a:r>
            <a:endParaRPr lang="en-US" sz="1500" dirty="0"/>
          </a:p>
        </p:txBody>
      </p:sp>
      <p:sp>
        <p:nvSpPr>
          <p:cNvPr id="12" name="A2_ua"/>
          <p:cNvSpPr/>
          <p:nvPr/>
        </p:nvSpPr>
        <p:spPr>
          <a:xfrm>
            <a:off x="3383280" y="2994660"/>
            <a:ext cx="685800" cy="0"/>
          </a:xfrm>
          <a:prstGeom prst="line">
            <a:avLst/>
          </a:prstGeom>
          <a:noFill/>
          <a:ln w="25400">
            <a:solidFill>
              <a:srgbClr val="A8A5D8"/>
            </a:solidFill>
            <a:prstDash val="solid"/>
            <a:tailEnd type="triangle"/>
          </a:ln>
        </p:spPr>
      </p:sp>
      <p:sp>
        <p:nvSpPr>
          <p:cNvPr id="13" name="A3_va"/>
          <p:cNvSpPr/>
          <p:nvPr/>
        </p:nvSpPr>
        <p:spPr>
          <a:xfrm>
            <a:off x="7635240" y="2994660"/>
            <a:ext cx="685800" cy="0"/>
          </a:xfrm>
          <a:prstGeom prst="line">
            <a:avLst/>
          </a:prstGeom>
          <a:noFill/>
          <a:ln w="25400">
            <a:solidFill>
              <a:srgbClr val="FBBF24"/>
            </a:solidFill>
            <a:prstDash val="solid"/>
            <a:tailEnd type="triangle"/>
          </a:ln>
        </p:spPr>
      </p:sp>
      <p:sp>
        <p:nvSpPr>
          <p:cNvPr id="14" name="A3_v"/>
          <p:cNvSpPr txBox="1"/>
          <p:nvPr/>
        </p:nvSpPr>
        <p:spPr>
          <a:xfrm>
            <a:off x="8412480" y="2697480"/>
            <a:ext cx="3200400" cy="594360"/>
          </a:xfrm>
          <a:prstGeom prst="roundRect">
            <a:avLst>
              <a:gd name="adj" fmla="val 15385"/>
            </a:avLst>
          </a:prstGeom>
          <a:solidFill>
            <a:srgbClr val="17143F"/>
          </a:solidFill>
          <a:ln w="12700">
            <a:solidFill>
              <a:srgbClr val="FBBF24"/>
            </a:solidFill>
            <a:prstDash val="solid"/>
          </a:ln>
        </p:spPr>
        <p:txBody>
          <a:bodyPr wrap="square" lIns="50800" tIns="50800" rIns="50800" bIns="50800" rtlCol="0" anchor="ctr"/>
          <a:lstStyle/>
          <a:p>
            <a:pPr algn="ctr" indent="0" marL="0">
              <a:buNone/>
            </a:pPr>
            <a:r>
              <a:rPr lang="en-US" sz="1500" dirty="0">
                <a:solidFill>
                  <a:srgbClr val="A8A5D8"/>
                </a:solidFill>
                <a:latin typeface="Courier New" pitchFamily="34" charset="0"/>
                <a:ea typeface="Courier New" pitchFamily="34" charset="-122"/>
                <a:cs typeface="Courier New" pitchFamily="34" charset="-120"/>
              </a:rPr>
              <a:t>params.id = </a:t>
            </a:r>
            <a:pPr algn="ctr" indent="0" marL="0">
              <a:buNone/>
            </a:pPr>
            <a:r>
              <a:rPr lang="en-US" sz="1500" b="1" dirty="0">
                <a:solidFill>
                  <a:srgbClr val="FBBF24"/>
                </a:solidFill>
                <a:latin typeface="Courier New" pitchFamily="34" charset="0"/>
                <a:ea typeface="Courier New" pitchFamily="34" charset="-122"/>
                <a:cs typeface="Courier New" pitchFamily="34" charset="-120"/>
              </a:rPr>
              <a:t>"42"</a:t>
            </a:r>
            <a:endParaRPr lang="en-US" sz="1500" dirty="0"/>
          </a:p>
        </p:txBody>
      </p:sp>
      <p:sp>
        <p:nvSpPr>
          <p:cNvPr id="15" name="A1_u"/>
          <p:cNvSpPr txBox="1"/>
          <p:nvPr/>
        </p:nvSpPr>
        <p:spPr>
          <a:xfrm>
            <a:off x="548640" y="3566160"/>
            <a:ext cx="2743200" cy="594360"/>
          </a:xfrm>
          <a:prstGeom prst="roundRect">
            <a:avLst>
              <a:gd name="adj" fmla="val 15385"/>
            </a:avLst>
          </a:prstGeom>
          <a:solidFill>
            <a:srgbClr val="17143F"/>
          </a:solidFill>
          <a:ln w="12700">
            <a:solidFill>
              <a:srgbClr val="3A3580"/>
            </a:solidFill>
            <a:prstDash val="solid"/>
          </a:ln>
        </p:spPr>
        <p:txBody>
          <a:bodyPr wrap="square" lIns="50800" tIns="50800" rIns="50800" bIns="50800" rtlCol="0" anchor="ctr"/>
          <a:lstStyle/>
          <a:p>
            <a:pPr algn="ctr" indent="0" marL="0">
              <a:buNone/>
            </a:pPr>
            <a:r>
              <a:rPr lang="en-US" sz="1500" dirty="0">
                <a:solidFill>
                  <a:srgbClr val="F4F3FF"/>
                </a:solidFill>
                <a:latin typeface="Courier New" pitchFamily="34" charset="0"/>
                <a:ea typeface="Courier New" pitchFamily="34" charset="-122"/>
                <a:cs typeface="Courier New" pitchFamily="34" charset="-120"/>
              </a:rPr>
              <a:t>/products/shoes</a:t>
            </a:r>
            <a:endParaRPr lang="en-US" sz="1500" dirty="0"/>
          </a:p>
        </p:txBody>
      </p:sp>
      <p:sp>
        <p:nvSpPr>
          <p:cNvPr id="16" name="A2_ua"/>
          <p:cNvSpPr/>
          <p:nvPr/>
        </p:nvSpPr>
        <p:spPr>
          <a:xfrm>
            <a:off x="3383280" y="3863340"/>
            <a:ext cx="685800" cy="0"/>
          </a:xfrm>
          <a:prstGeom prst="line">
            <a:avLst/>
          </a:prstGeom>
          <a:noFill/>
          <a:ln w="25400">
            <a:solidFill>
              <a:srgbClr val="A8A5D8"/>
            </a:solidFill>
            <a:prstDash val="solid"/>
            <a:tailEnd type="triangle"/>
          </a:ln>
        </p:spPr>
      </p:sp>
      <p:sp>
        <p:nvSpPr>
          <p:cNvPr id="17" name="A3_va"/>
          <p:cNvSpPr/>
          <p:nvPr/>
        </p:nvSpPr>
        <p:spPr>
          <a:xfrm>
            <a:off x="7635240" y="3863340"/>
            <a:ext cx="685800" cy="0"/>
          </a:xfrm>
          <a:prstGeom prst="line">
            <a:avLst/>
          </a:prstGeom>
          <a:noFill/>
          <a:ln w="25400">
            <a:solidFill>
              <a:srgbClr val="FBBF24"/>
            </a:solidFill>
            <a:prstDash val="solid"/>
            <a:tailEnd type="triangle"/>
          </a:ln>
        </p:spPr>
      </p:sp>
      <p:sp>
        <p:nvSpPr>
          <p:cNvPr id="18" name="A3_v"/>
          <p:cNvSpPr txBox="1"/>
          <p:nvPr/>
        </p:nvSpPr>
        <p:spPr>
          <a:xfrm>
            <a:off x="8412480" y="3566160"/>
            <a:ext cx="3200400" cy="594360"/>
          </a:xfrm>
          <a:prstGeom prst="roundRect">
            <a:avLst>
              <a:gd name="adj" fmla="val 15385"/>
            </a:avLst>
          </a:prstGeom>
          <a:solidFill>
            <a:srgbClr val="17143F"/>
          </a:solidFill>
          <a:ln w="12700">
            <a:solidFill>
              <a:srgbClr val="FBBF24"/>
            </a:solidFill>
            <a:prstDash val="solid"/>
          </a:ln>
        </p:spPr>
        <p:txBody>
          <a:bodyPr wrap="square" lIns="50800" tIns="50800" rIns="50800" bIns="50800" rtlCol="0" anchor="ctr"/>
          <a:lstStyle/>
          <a:p>
            <a:pPr algn="ctr" indent="0" marL="0">
              <a:buNone/>
            </a:pPr>
            <a:r>
              <a:rPr lang="en-US" sz="1500" dirty="0">
                <a:solidFill>
                  <a:srgbClr val="A8A5D8"/>
                </a:solidFill>
                <a:latin typeface="Courier New" pitchFamily="34" charset="0"/>
                <a:ea typeface="Courier New" pitchFamily="34" charset="-122"/>
                <a:cs typeface="Courier New" pitchFamily="34" charset="-120"/>
              </a:rPr>
              <a:t>params.id = </a:t>
            </a:r>
            <a:pPr algn="ctr" indent="0" marL="0">
              <a:buNone/>
            </a:pPr>
            <a:r>
              <a:rPr lang="en-US" sz="1500" b="1" dirty="0">
                <a:solidFill>
                  <a:srgbClr val="FBBF24"/>
                </a:solidFill>
                <a:latin typeface="Courier New" pitchFamily="34" charset="0"/>
                <a:ea typeface="Courier New" pitchFamily="34" charset="-122"/>
                <a:cs typeface="Courier New" pitchFamily="34" charset="-120"/>
              </a:rPr>
              <a:t>"shoes"</a:t>
            </a:r>
            <a:endParaRPr lang="en-US" sz="1500" dirty="0"/>
          </a:p>
        </p:txBody>
      </p:sp>
      <p:sp>
        <p:nvSpPr>
          <p:cNvPr id="19" name="A2_file"/>
          <p:cNvSpPr/>
          <p:nvPr/>
        </p:nvSpPr>
        <p:spPr>
          <a:xfrm>
            <a:off x="4114800" y="1691640"/>
            <a:ext cx="3429000" cy="2697480"/>
          </a:xfrm>
          <a:prstGeom prst="roundRect">
            <a:avLst>
              <a:gd name="adj" fmla="val 4068"/>
            </a:avLst>
          </a:prstGeom>
          <a:solidFill>
            <a:srgbClr val="221E58"/>
          </a:solidFill>
          <a:ln w="19050">
            <a:solidFill>
              <a:srgbClr val="8B7CFF"/>
            </a:solidFill>
            <a:prstDash val="solid"/>
          </a:ln>
        </p:spPr>
      </p:sp>
      <p:pic>
        <p:nvPicPr>
          <p:cNvPr id="20" name="A2_ico" descr="preencoded.png">    </p:cNvPr>
          <p:cNvPicPr>
            <a:picLocks noChangeAspect="1"/>
          </p:cNvPicPr>
          <p:nvPr/>
        </p:nvPicPr>
        <p:blipFill>
          <a:blip r:embed="rId3"/>
          <a:stretch>
            <a:fillRect/>
          </a:stretch>
        </p:blipFill>
        <p:spPr>
          <a:xfrm>
            <a:off x="5440680" y="1874520"/>
            <a:ext cx="502920" cy="502920"/>
          </a:xfrm>
          <a:prstGeom prst="rect">
            <a:avLst/>
          </a:prstGeom>
        </p:spPr>
      </p:pic>
      <p:sp>
        <p:nvSpPr>
          <p:cNvPr id="21" name="A2_ft"/>
          <p:cNvSpPr txBox="1"/>
          <p:nvPr/>
        </p:nvSpPr>
        <p:spPr>
          <a:xfrm>
            <a:off x="4206240" y="2514600"/>
            <a:ext cx="3246120" cy="1280160"/>
          </a:xfrm>
          <a:prstGeom prst="rect">
            <a:avLst/>
          </a:prstGeom>
          <a:noFill/>
          <a:ln/>
        </p:spPr>
        <p:txBody>
          <a:bodyPr wrap="square" lIns="0" tIns="0" rIns="0" bIns="0" rtlCol="0" anchor="ctr"/>
          <a:lstStyle/>
          <a:p>
            <a:pPr algn="ctr" indent="0" marL="0">
              <a:buNone/>
            </a:pPr>
            <a:r>
              <a:rPr lang="en-US" sz="1700" dirty="0">
                <a:solidFill>
                  <a:srgbClr val="F4F3FF"/>
                </a:solidFill>
                <a:latin typeface="Courier New" pitchFamily="34" charset="0"/>
                <a:ea typeface="Courier New" pitchFamily="34" charset="-122"/>
                <a:cs typeface="Courier New" pitchFamily="34" charset="-120"/>
              </a:rPr>
              <a:t>app/products/</a:t>
            </a:r>
            <a:endParaRPr lang="en-US" sz="1700" dirty="0"/>
          </a:p>
          <a:p>
            <a:pPr algn="ctr" indent="0" marL="0">
              <a:buNone/>
            </a:pPr>
            <a:r>
              <a:rPr lang="en-US" sz="1700" b="1" dirty="0">
                <a:solidFill>
                  <a:srgbClr val="FBBF24"/>
                </a:solidFill>
                <a:latin typeface="Courier New" pitchFamily="34" charset="0"/>
                <a:ea typeface="Courier New" pitchFamily="34" charset="-122"/>
                <a:cs typeface="Courier New" pitchFamily="34" charset="-120"/>
              </a:rPr>
              <a:t>[id]</a:t>
            </a:r>
            <a:endParaRPr lang="en-US" sz="1700" dirty="0"/>
          </a:p>
          <a:p>
            <a:pPr algn="ctr" indent="0" marL="0">
              <a:buNone/>
            </a:pPr>
            <a:r>
              <a:rPr lang="en-US" sz="1700" dirty="0">
                <a:solidFill>
                  <a:srgbClr val="F4F3FF"/>
                </a:solidFill>
                <a:latin typeface="Courier New" pitchFamily="34" charset="0"/>
                <a:ea typeface="Courier New" pitchFamily="34" charset="-122"/>
                <a:cs typeface="Courier New" pitchFamily="34" charset="-120"/>
              </a:rPr>
              <a:t>/page.tsx</a:t>
            </a:r>
            <a:endParaRPr lang="en-US" sz="1700" dirty="0"/>
          </a:p>
        </p:txBody>
      </p:sp>
      <p:sp>
        <p:nvSpPr>
          <p:cNvPr id="22" name="A2_fm"/>
          <p:cNvSpPr txBox="1"/>
          <p:nvPr/>
        </p:nvSpPr>
        <p:spPr>
          <a:xfrm>
            <a:off x="4206240" y="3840480"/>
            <a:ext cx="3246120" cy="365760"/>
          </a:xfrm>
          <a:prstGeom prst="rect">
            <a:avLst/>
          </a:prstGeom>
          <a:noFill/>
          <a:ln/>
        </p:spPr>
        <p:txBody>
          <a:bodyPr wrap="square" lIns="0" tIns="0" rIns="0" bIns="0" rtlCol="0" anchor="t"/>
          <a:lstStyle/>
          <a:p>
            <a:pPr algn="ctr" indent="0" marL="0">
              <a:buNone/>
            </a:pPr>
            <a:r>
              <a:rPr lang="en-US" sz="1200" dirty="0">
                <a:solidFill>
                  <a:srgbClr val="A8A5D8"/>
                </a:solidFill>
                <a:latin typeface="Calibri" pitchFamily="34" charset="0"/>
                <a:ea typeface="Calibri" pitchFamily="34" charset="-122"/>
                <a:cs typeface="Calibri" pitchFamily="34" charset="-120"/>
              </a:rPr>
              <a:t>matches every /products/...</a:t>
            </a:r>
            <a:endParaRPr lang="en-US" sz="1200" dirty="0"/>
          </a:p>
        </p:txBody>
      </p:sp>
      <p:sp>
        <p:nvSpPr>
          <p:cNvPr id="23" name="Text 18"/>
          <p:cNvSpPr txBox="1"/>
          <p:nvPr/>
        </p:nvSpPr>
        <p:spPr>
          <a:xfrm>
            <a:off x="548640" y="4846320"/>
            <a:ext cx="11091672" cy="1280160"/>
          </a:xfrm>
          <a:prstGeom prst="roundRect">
            <a:avLst>
              <a:gd name="adj" fmla="val 7143"/>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400" dirty="0">
                <a:solidFill>
                  <a:srgbClr val="C4B5FD"/>
                </a:solidFill>
                <a:latin typeface="Courier New" pitchFamily="34" charset="0"/>
                <a:ea typeface="Courier New" pitchFamily="34" charset="-122"/>
                <a:cs typeface="Courier New" pitchFamily="34" charset="-120"/>
              </a:rPr>
              <a:t>export</a:t>
            </a:r>
            <a:pPr algn="l" indent="0" marL="0">
              <a:buNone/>
            </a:pPr>
            <a:r>
              <a:rPr lang="en-US" sz="1400" dirty="0">
                <a:solidFill>
                  <a:srgbClr val="D6D3FF"/>
                </a:solidFill>
                <a:latin typeface="Courier New" pitchFamily="34" charset="0"/>
                <a:ea typeface="Courier New" pitchFamily="34" charset="-122"/>
                <a:cs typeface="Courier New" pitchFamily="34" charset="-120"/>
              </a:rPr>
              <a:t> </a:t>
            </a:r>
            <a:pPr algn="l" indent="0" marL="0">
              <a:buNone/>
            </a:pPr>
            <a:r>
              <a:rPr lang="en-US" sz="1400" dirty="0">
                <a:solidFill>
                  <a:srgbClr val="C4B5FD"/>
                </a:solidFill>
                <a:latin typeface="Courier New" pitchFamily="34" charset="0"/>
                <a:ea typeface="Courier New" pitchFamily="34" charset="-122"/>
                <a:cs typeface="Courier New" pitchFamily="34" charset="-120"/>
              </a:rPr>
              <a:t>default</a:t>
            </a:r>
            <a:pPr algn="l" indent="0" marL="0">
              <a:buNone/>
            </a:pPr>
            <a:r>
              <a:rPr lang="en-US" sz="1400" dirty="0">
                <a:solidFill>
                  <a:srgbClr val="D6D3FF"/>
                </a:solidFill>
                <a:latin typeface="Courier New" pitchFamily="34" charset="0"/>
                <a:ea typeface="Courier New" pitchFamily="34" charset="-122"/>
                <a:cs typeface="Courier New" pitchFamily="34" charset="-120"/>
              </a:rPr>
              <a:t> </a:t>
            </a:r>
            <a:pPr algn="l" indent="0" marL="0">
              <a:buNone/>
            </a:pPr>
            <a:r>
              <a:rPr lang="en-US" sz="1400" dirty="0">
                <a:solidFill>
                  <a:srgbClr val="C4B5FD"/>
                </a:solidFill>
                <a:latin typeface="Courier New" pitchFamily="34" charset="0"/>
                <a:ea typeface="Courier New" pitchFamily="34" charset="-122"/>
                <a:cs typeface="Courier New" pitchFamily="34" charset="-120"/>
              </a:rPr>
              <a:t>async</a:t>
            </a:r>
            <a:pPr algn="l" indent="0" marL="0">
              <a:buNone/>
            </a:pPr>
            <a:r>
              <a:rPr lang="en-US" sz="1400" dirty="0">
                <a:solidFill>
                  <a:srgbClr val="D6D3FF"/>
                </a:solidFill>
                <a:latin typeface="Courier New" pitchFamily="34" charset="0"/>
                <a:ea typeface="Courier New" pitchFamily="34" charset="-122"/>
                <a:cs typeface="Courier New" pitchFamily="34" charset="-120"/>
              </a:rPr>
              <a:t> </a:t>
            </a:r>
            <a:pPr algn="l" indent="0" marL="0">
              <a:buNone/>
            </a:pPr>
            <a:r>
              <a:rPr lang="en-US" sz="1400" dirty="0">
                <a:solidFill>
                  <a:srgbClr val="C4B5FD"/>
                </a:solidFill>
                <a:latin typeface="Courier New" pitchFamily="34" charset="0"/>
                <a:ea typeface="Courier New" pitchFamily="34" charset="-122"/>
                <a:cs typeface="Courier New" pitchFamily="34" charset="-120"/>
              </a:rPr>
              <a:t>function</a:t>
            </a:r>
            <a:pPr algn="l" indent="0" marL="0">
              <a:buNone/>
            </a:pPr>
            <a:r>
              <a:rPr lang="en-US" sz="1400" dirty="0">
                <a:solidFill>
                  <a:srgbClr val="D6D3FF"/>
                </a:solidFill>
                <a:latin typeface="Courier New" pitchFamily="34" charset="0"/>
                <a:ea typeface="Courier New" pitchFamily="34" charset="-122"/>
                <a:cs typeface="Courier New" pitchFamily="34" charset="-120"/>
              </a:rPr>
              <a:t> </a:t>
            </a:r>
            <a:pPr algn="l" indent="0" marL="0">
              <a:buNone/>
            </a:pPr>
            <a:r>
              <a:rPr lang="en-US" sz="1400" dirty="0">
                <a:solidFill>
                  <a:srgbClr val="E6E4FF"/>
                </a:solidFill>
                <a:latin typeface="Courier New" pitchFamily="34" charset="0"/>
                <a:ea typeface="Courier New" pitchFamily="34" charset="-122"/>
                <a:cs typeface="Courier New" pitchFamily="34" charset="-120"/>
              </a:rPr>
              <a:t>Page</a:t>
            </a:r>
            <a:pPr algn="l" indent="0" marL="0">
              <a:buNone/>
            </a:pPr>
            <a:r>
              <a:rPr lang="en-US" sz="1400" dirty="0">
                <a:solidFill>
                  <a:srgbClr val="D6D3FF"/>
                </a:solidFill>
                <a:latin typeface="Courier New" pitchFamily="34" charset="0"/>
                <a:ea typeface="Courier New" pitchFamily="34" charset="-122"/>
                <a:cs typeface="Courier New" pitchFamily="34" charset="-120"/>
              </a:rPr>
              <a:t>({ </a:t>
            </a:r>
            <a:pPr algn="l" indent="0" marL="0">
              <a:buNone/>
            </a:pPr>
            <a:r>
              <a:rPr lang="en-US" sz="1400" dirty="0">
                <a:solidFill>
                  <a:srgbClr val="E6E4FF"/>
                </a:solidFill>
                <a:latin typeface="Courier New" pitchFamily="34" charset="0"/>
                <a:ea typeface="Courier New" pitchFamily="34" charset="-122"/>
                <a:cs typeface="Courier New" pitchFamily="34" charset="-120"/>
              </a:rPr>
              <a:t>params</a:t>
            </a:r>
            <a:pPr algn="l" indent="0" marL="0">
              <a:buNone/>
            </a:pPr>
            <a:r>
              <a:rPr lang="en-US" sz="1400" dirty="0">
                <a:solidFill>
                  <a:srgbClr val="D6D3FF"/>
                </a:solidFill>
                <a:latin typeface="Courier New" pitchFamily="34" charset="0"/>
                <a:ea typeface="Courier New" pitchFamily="34" charset="-122"/>
                <a:cs typeface="Courier New" pitchFamily="34" charset="-120"/>
              </a:rPr>
              <a:t> }) {</a:t>
            </a:r>
            <a:endParaRPr lang="en-US" sz="1400" dirty="0"/>
          </a:p>
          <a:p>
            <a:pPr algn="l" indent="0" marL="0">
              <a:buNone/>
            </a:pPr>
            <a:r>
              <a:rPr lang="en-US" sz="1400" dirty="0">
                <a:solidFill>
                  <a:srgbClr val="D6D3FF"/>
                </a:solidFill>
                <a:latin typeface="Courier New" pitchFamily="34" charset="0"/>
                <a:ea typeface="Courier New" pitchFamily="34" charset="-122"/>
                <a:cs typeface="Courier New" pitchFamily="34" charset="-120"/>
              </a:rPr>
              <a:t>  </a:t>
            </a:r>
            <a:pPr algn="l" indent="0" marL="0">
              <a:buNone/>
            </a:pPr>
            <a:r>
              <a:rPr lang="en-US" sz="1400" dirty="0">
                <a:solidFill>
                  <a:srgbClr val="C4B5FD"/>
                </a:solidFill>
                <a:latin typeface="Courier New" pitchFamily="34" charset="0"/>
                <a:ea typeface="Courier New" pitchFamily="34" charset="-122"/>
                <a:cs typeface="Courier New" pitchFamily="34" charset="-120"/>
              </a:rPr>
              <a:t>const</a:t>
            </a:r>
            <a:pPr algn="l" indent="0" marL="0">
              <a:buNone/>
            </a:pPr>
            <a:r>
              <a:rPr lang="en-US" sz="1400" dirty="0">
                <a:solidFill>
                  <a:srgbClr val="D6D3FF"/>
                </a:solidFill>
                <a:latin typeface="Courier New" pitchFamily="34" charset="0"/>
                <a:ea typeface="Courier New" pitchFamily="34" charset="-122"/>
                <a:cs typeface="Courier New" pitchFamily="34" charset="-120"/>
              </a:rPr>
              <a:t> { </a:t>
            </a:r>
            <a:pPr algn="l" indent="0" marL="0">
              <a:buNone/>
            </a:pPr>
            <a:r>
              <a:rPr lang="en-US" sz="1400" dirty="0">
                <a:solidFill>
                  <a:srgbClr val="E6E4FF"/>
                </a:solidFill>
                <a:latin typeface="Courier New" pitchFamily="34" charset="0"/>
                <a:ea typeface="Courier New" pitchFamily="34" charset="-122"/>
                <a:cs typeface="Courier New" pitchFamily="34" charset="-120"/>
              </a:rPr>
              <a:t>id</a:t>
            </a:r>
            <a:pPr algn="l" indent="0" marL="0">
              <a:buNone/>
            </a:pPr>
            <a:r>
              <a:rPr lang="en-US" sz="1400" dirty="0">
                <a:solidFill>
                  <a:srgbClr val="D6D3FF"/>
                </a:solidFill>
                <a:latin typeface="Courier New" pitchFamily="34" charset="0"/>
                <a:ea typeface="Courier New" pitchFamily="34" charset="-122"/>
                <a:cs typeface="Courier New" pitchFamily="34" charset="-120"/>
              </a:rPr>
              <a:t> } = </a:t>
            </a:r>
            <a:pPr algn="l" indent="0" marL="0">
              <a:buNone/>
            </a:pPr>
            <a:r>
              <a:rPr lang="en-US" sz="1400" dirty="0">
                <a:solidFill>
                  <a:srgbClr val="C4B5FD"/>
                </a:solidFill>
                <a:latin typeface="Courier New" pitchFamily="34" charset="0"/>
                <a:ea typeface="Courier New" pitchFamily="34" charset="-122"/>
                <a:cs typeface="Courier New" pitchFamily="34" charset="-120"/>
              </a:rPr>
              <a:t>await</a:t>
            </a:r>
            <a:pPr algn="l" indent="0" marL="0">
              <a:buNone/>
            </a:pPr>
            <a:r>
              <a:rPr lang="en-US" sz="1400" dirty="0">
                <a:solidFill>
                  <a:srgbClr val="D6D3FF"/>
                </a:solidFill>
                <a:latin typeface="Courier New" pitchFamily="34" charset="0"/>
                <a:ea typeface="Courier New" pitchFamily="34" charset="-122"/>
                <a:cs typeface="Courier New" pitchFamily="34" charset="-120"/>
              </a:rPr>
              <a:t> </a:t>
            </a:r>
            <a:pPr algn="l" indent="0" marL="0">
              <a:buNone/>
            </a:pPr>
            <a:r>
              <a:rPr lang="en-US" sz="1400" dirty="0">
                <a:solidFill>
                  <a:srgbClr val="E6E4FF"/>
                </a:solidFill>
                <a:latin typeface="Courier New" pitchFamily="34" charset="0"/>
                <a:ea typeface="Courier New" pitchFamily="34" charset="-122"/>
                <a:cs typeface="Courier New" pitchFamily="34" charset="-120"/>
              </a:rPr>
              <a:t>params</a:t>
            </a:r>
            <a:pPr algn="l" indent="0" marL="0">
              <a:buNone/>
            </a:pPr>
            <a:r>
              <a:rPr lang="en-US" sz="1400" dirty="0">
                <a:solidFill>
                  <a:srgbClr val="D6D3FF"/>
                </a:solidFill>
                <a:latin typeface="Courier New" pitchFamily="34" charset="0"/>
                <a:ea typeface="Courier New" pitchFamily="34" charset="-122"/>
                <a:cs typeface="Courier New" pitchFamily="34" charset="-120"/>
              </a:rPr>
              <a:t>;</a:t>
            </a:r>
            <a:endParaRPr lang="en-US" sz="1400" dirty="0"/>
          </a:p>
          <a:p>
            <a:pPr algn="l" indent="0" marL="0">
              <a:buNone/>
            </a:pPr>
            <a:r>
              <a:rPr lang="en-US" sz="1400" dirty="0">
                <a:solidFill>
                  <a:srgbClr val="D6D3FF"/>
                </a:solidFill>
                <a:latin typeface="Courier New" pitchFamily="34" charset="0"/>
                <a:ea typeface="Courier New" pitchFamily="34" charset="-122"/>
                <a:cs typeface="Courier New" pitchFamily="34" charset="-120"/>
              </a:rPr>
              <a:t>  </a:t>
            </a:r>
            <a:pPr algn="l" indent="0" marL="0">
              <a:buNone/>
            </a:pPr>
            <a:r>
              <a:rPr lang="en-US" sz="1400" dirty="0">
                <a:solidFill>
                  <a:srgbClr val="C4B5FD"/>
                </a:solidFill>
                <a:latin typeface="Courier New" pitchFamily="34" charset="0"/>
                <a:ea typeface="Courier New" pitchFamily="34" charset="-122"/>
                <a:cs typeface="Courier New" pitchFamily="34" charset="-120"/>
              </a:rPr>
              <a:t>return</a:t>
            </a:r>
            <a:pPr algn="l" indent="0" marL="0">
              <a:buNone/>
            </a:pPr>
            <a:r>
              <a:rPr lang="en-US" sz="1400" dirty="0">
                <a:solidFill>
                  <a:srgbClr val="D6D3FF"/>
                </a:solidFill>
                <a:latin typeface="Courier New" pitchFamily="34" charset="0"/>
                <a:ea typeface="Courier New" pitchFamily="34" charset="-122"/>
                <a:cs typeface="Courier New" pitchFamily="34" charset="-120"/>
              </a:rPr>
              <a:t> </a:t>
            </a:r>
            <a:pPr algn="l" indent="0" marL="0">
              <a:buNone/>
            </a:pPr>
            <a:r>
              <a:rPr lang="en-US" sz="1400" dirty="0">
                <a:solidFill>
                  <a:srgbClr val="E64BDA"/>
                </a:solidFill>
                <a:latin typeface="Courier New" pitchFamily="34" charset="0"/>
                <a:ea typeface="Courier New" pitchFamily="34" charset="-122"/>
                <a:cs typeface="Courier New" pitchFamily="34" charset="-120"/>
              </a:rPr>
              <a:t>&lt;h1</a:t>
            </a:r>
            <a:pPr algn="l" indent="0" marL="0">
              <a:buNone/>
            </a:pPr>
            <a:r>
              <a:rPr lang="en-US" sz="1400" dirty="0">
                <a:solidFill>
                  <a:srgbClr val="D6D3FF"/>
                </a:solidFill>
                <a:latin typeface="Courier New" pitchFamily="34" charset="0"/>
                <a:ea typeface="Courier New" pitchFamily="34" charset="-122"/>
                <a:cs typeface="Courier New" pitchFamily="34" charset="-120"/>
              </a:rPr>
              <a:t>&gt;</a:t>
            </a:r>
            <a:pPr algn="l" indent="0" marL="0">
              <a:buNone/>
            </a:pPr>
            <a:r>
              <a:rPr lang="en-US" sz="1400" dirty="0">
                <a:solidFill>
                  <a:srgbClr val="E6E4FF"/>
                </a:solidFill>
                <a:latin typeface="Courier New" pitchFamily="34" charset="0"/>
                <a:ea typeface="Courier New" pitchFamily="34" charset="-122"/>
                <a:cs typeface="Courier New" pitchFamily="34" charset="-120"/>
              </a:rPr>
              <a:t>Product</a:t>
            </a:r>
            <a:pPr algn="l" indent="0" marL="0">
              <a:buNone/>
            </a:pPr>
            <a:r>
              <a:rPr lang="en-US" sz="1400" dirty="0">
                <a:solidFill>
                  <a:srgbClr val="D6D3FF"/>
                </a:solidFill>
                <a:latin typeface="Courier New" pitchFamily="34" charset="0"/>
                <a:ea typeface="Courier New" pitchFamily="34" charset="-122"/>
                <a:cs typeface="Courier New" pitchFamily="34" charset="-120"/>
              </a:rPr>
              <a:t> {</a:t>
            </a:r>
            <a:pPr algn="l" indent="0" marL="0">
              <a:buNone/>
            </a:pPr>
            <a:r>
              <a:rPr lang="en-US" sz="1400" dirty="0">
                <a:solidFill>
                  <a:srgbClr val="E6E4FF"/>
                </a:solidFill>
                <a:latin typeface="Courier New" pitchFamily="34" charset="0"/>
                <a:ea typeface="Courier New" pitchFamily="34" charset="-122"/>
                <a:cs typeface="Courier New" pitchFamily="34" charset="-120"/>
              </a:rPr>
              <a:t>id</a:t>
            </a:r>
            <a:pPr algn="l" indent="0" marL="0">
              <a:buNone/>
            </a:pPr>
            <a:r>
              <a:rPr lang="en-US" sz="1400" dirty="0">
                <a:solidFill>
                  <a:srgbClr val="D6D3FF"/>
                </a:solidFill>
                <a:latin typeface="Courier New" pitchFamily="34" charset="0"/>
                <a:ea typeface="Courier New" pitchFamily="34" charset="-122"/>
                <a:cs typeface="Courier New" pitchFamily="34" charset="-120"/>
              </a:rPr>
              <a:t>}</a:t>
            </a:r>
            <a:pPr algn="l" indent="0" marL="0">
              <a:buNone/>
            </a:pPr>
            <a:r>
              <a:rPr lang="en-US" sz="1400" dirty="0">
                <a:solidFill>
                  <a:srgbClr val="E64BDA"/>
                </a:solidFill>
                <a:latin typeface="Courier New" pitchFamily="34" charset="0"/>
                <a:ea typeface="Courier New" pitchFamily="34" charset="-122"/>
                <a:cs typeface="Courier New" pitchFamily="34" charset="-120"/>
              </a:rPr>
              <a:t>&lt;/h1</a:t>
            </a:r>
            <a:pPr algn="l" indent="0" marL="0">
              <a:buNone/>
            </a:pPr>
            <a:r>
              <a:rPr lang="en-US" sz="1400" dirty="0">
                <a:solidFill>
                  <a:srgbClr val="D6D3FF"/>
                </a:solidFill>
                <a:latin typeface="Courier New" pitchFamily="34" charset="0"/>
                <a:ea typeface="Courier New" pitchFamily="34" charset="-122"/>
                <a:cs typeface="Courier New" pitchFamily="34" charset="-120"/>
              </a:rPr>
              <a:t>&gt;;</a:t>
            </a:r>
            <a:endParaRPr lang="en-US" sz="1400" dirty="0"/>
          </a:p>
          <a:p>
            <a:pPr algn="l" indent="0" marL="0">
              <a:buNone/>
            </a:pPr>
            <a:r>
              <a:rPr lang="en-US" sz="1400" dirty="0">
                <a:solidFill>
                  <a:srgbClr val="D6D3FF"/>
                </a:solidFill>
                <a:latin typeface="Courier New" pitchFamily="34" charset="0"/>
                <a:ea typeface="Courier New" pitchFamily="34" charset="-122"/>
                <a:cs typeface="Courier New" pitchFamily="34" charset="-120"/>
              </a:rPr>
              <a:t>}</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50"/>
                                        <p:tgtEl>
                                          <p:spTgt spid="11"/>
                                        </p:tgtEl>
                                      </p:cBhvr>
                                    </p:animEffect>
                                  </p:childTnLst>
                                </p:cTn>
                              </p:par>
                              <p:par>
                                <p:cTn id="9" presetID="10"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50"/>
                                        <p:tgtEl>
                                          <p:spTgt spid="15"/>
                                        </p:tgtEl>
                                      </p:cBhvr>
                                    </p:animEffect>
                                  </p:childTnLst>
                                </p:cTn>
                              </p:par>
                            </p:childTnLst>
                          </p:cTn>
                        </p:par>
                      </p:childTnLst>
                    </p:cTn>
                  </p:par>
                  <p:par>
                    <p:cTn id="35" fill="hold">
                      <p:stCondLst>
                        <p:cond delay="indefinite"/>
                      </p:stCondLst>
                      <p:childTnLst>
                        <p:par>
                          <p:cTn id="36"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5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50"/>
                                        <p:tgtEl>
                                          <p:spTgt spid="19"/>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50"/>
                                        <p:tgtEl>
                                          <p:spTgt spid="20"/>
                                        </p:tgtEl>
                                      </p:cBhvr>
                                    </p:animEffect>
                                  </p:childTnLst>
                                </p:cTn>
                              </p:par>
                              <p:par>
                                <p:cTn id="29" presetID="10"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par>
                                <p:cTn id="32" presetID="10"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childTnLst>
                          </p:cTn>
                        </p:par>
                      </p:childTnLst>
                    </p:cTn>
                  </p:par>
                  <p:par>
                    <p:cTn id="55" fill="hold">
                      <p:stCondLst>
                        <p:cond delay="indefinite"/>
                      </p:stCondLst>
                      <p:childTnLst>
                        <p:par>
                          <p:cTn id="5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450"/>
                                        <p:tgtEl>
                                          <p:spTgt spid="9"/>
                                        </p:tgtEl>
                                      </p:cBhvr>
                                    </p:animEffect>
                                  </p:childTnLst>
                                </p:cTn>
                              </p:par>
                              <p:par>
                                <p:cTn id="40" presetID="10" presetClass="entr" presetSubtype="0"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50"/>
                                        <p:tgtEl>
                                          <p:spTgt spid="10"/>
                                        </p:tgtEl>
                                      </p:cBhvr>
                                    </p:animEffect>
                                  </p:childTnLst>
                                </p:cTn>
                              </p:par>
                              <p:par>
                                <p:cTn id="43" presetID="10"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450"/>
                                        <p:tgtEl>
                                          <p:spTgt spid="13"/>
                                        </p:tgtEl>
                                      </p:cBhvr>
                                    </p:animEffect>
                                  </p:childTnLst>
                                </p:cTn>
                              </p:par>
                              <p:par>
                                <p:cTn id="46" presetID="10" presetClass="entr" presetSubtype="0" fill="hold"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450"/>
                                        <p:tgtEl>
                                          <p:spTgt spid="14"/>
                                        </p:tgtEl>
                                      </p:cBhvr>
                                    </p:animEffect>
                                  </p:childTnLst>
                                </p:cTn>
                              </p:par>
                              <p:par>
                                <p:cTn id="49" presetID="10" presetClass="entr" presetSubtype="0"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50"/>
                                        <p:tgtEl>
                                          <p:spTgt spid="17"/>
                                        </p:tgtEl>
                                      </p:cBhvr>
                                    </p:animEffect>
                                  </p:childTnLst>
                                </p:cTn>
                              </p:par>
                              <p:par>
                                <p:cTn id="52" presetID="10" presetClass="entr" presetSubtype="0" fill="hold"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ROUTING &amp; NAVIGATION</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Nested routes and nested layouts</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09</a:t>
            </a:r>
            <a:endParaRPr lang="en-US" sz="1100" dirty="0"/>
          </a:p>
        </p:txBody>
      </p:sp>
      <p:sp>
        <p:nvSpPr>
          <p:cNvPr id="7" name="A1_o"/>
          <p:cNvSpPr/>
          <p:nvPr/>
        </p:nvSpPr>
        <p:spPr>
          <a:xfrm>
            <a:off x="548640" y="1600200"/>
            <a:ext cx="7040880" cy="3977640"/>
          </a:xfrm>
          <a:prstGeom prst="roundRect">
            <a:avLst>
              <a:gd name="adj" fmla="val 2759"/>
            </a:avLst>
          </a:prstGeom>
          <a:solidFill>
            <a:srgbClr val="17143F"/>
          </a:solidFill>
          <a:ln w="22225">
            <a:solidFill>
              <a:srgbClr val="8B7CFF"/>
            </a:solidFill>
            <a:prstDash val="solid"/>
          </a:ln>
        </p:spPr>
      </p:sp>
      <p:sp>
        <p:nvSpPr>
          <p:cNvPr id="8" name="A1_ot"/>
          <p:cNvSpPr txBox="1"/>
          <p:nvPr/>
        </p:nvSpPr>
        <p:spPr>
          <a:xfrm>
            <a:off x="777240" y="1719072"/>
            <a:ext cx="4572000" cy="274320"/>
          </a:xfrm>
          <a:prstGeom prst="rect">
            <a:avLst/>
          </a:prstGeom>
          <a:noFill/>
          <a:ln/>
        </p:spPr>
        <p:txBody>
          <a:bodyPr wrap="square" lIns="0" tIns="0" rIns="0" bIns="0" rtlCol="0" anchor="t"/>
          <a:lstStyle/>
          <a:p>
            <a:pPr indent="0" marL="0">
              <a:buNone/>
            </a:pPr>
            <a:r>
              <a:rPr lang="en-US" sz="1400" b="1" dirty="0">
                <a:solidFill>
                  <a:srgbClr val="8B7CFF"/>
                </a:solidFill>
                <a:latin typeface="Courier New" pitchFamily="34" charset="0"/>
                <a:ea typeface="Courier New" pitchFamily="34" charset="-122"/>
                <a:cs typeface="Courier New" pitchFamily="34" charset="-120"/>
              </a:rPr>
              <a:t>app/layout.tsx</a:t>
            </a:r>
            <a:endParaRPr lang="en-US" sz="1400" dirty="0"/>
          </a:p>
        </p:txBody>
      </p:sp>
      <p:sp>
        <p:nvSpPr>
          <p:cNvPr id="9" name="A1_od"/>
          <p:cNvSpPr txBox="1"/>
          <p:nvPr/>
        </p:nvSpPr>
        <p:spPr>
          <a:xfrm>
            <a:off x="777240" y="1975104"/>
            <a:ext cx="4572000" cy="2743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Root layout</a:t>
            </a:r>
            <a:endParaRPr lang="en-US" sz="1200" dirty="0"/>
          </a:p>
        </p:txBody>
      </p:sp>
      <p:sp>
        <p:nvSpPr>
          <p:cNvPr id="10" name="A2_m"/>
          <p:cNvSpPr/>
          <p:nvPr/>
        </p:nvSpPr>
        <p:spPr>
          <a:xfrm>
            <a:off x="914400" y="2377440"/>
            <a:ext cx="6309360" cy="3017520"/>
          </a:xfrm>
          <a:prstGeom prst="roundRect">
            <a:avLst>
              <a:gd name="adj" fmla="val 3636"/>
            </a:avLst>
          </a:prstGeom>
          <a:solidFill>
            <a:srgbClr val="221E58"/>
          </a:solidFill>
          <a:ln w="22225">
            <a:solidFill>
              <a:srgbClr val="22D3EE"/>
            </a:solidFill>
            <a:prstDash val="solid"/>
          </a:ln>
        </p:spPr>
      </p:sp>
      <p:sp>
        <p:nvSpPr>
          <p:cNvPr id="11" name="A2_mt"/>
          <p:cNvSpPr txBox="1"/>
          <p:nvPr/>
        </p:nvSpPr>
        <p:spPr>
          <a:xfrm>
            <a:off x="1143000" y="2487168"/>
            <a:ext cx="5029200" cy="274320"/>
          </a:xfrm>
          <a:prstGeom prst="rect">
            <a:avLst/>
          </a:prstGeom>
          <a:noFill/>
          <a:ln/>
        </p:spPr>
        <p:txBody>
          <a:bodyPr wrap="square" lIns="0" tIns="0" rIns="0" bIns="0" rtlCol="0" anchor="t"/>
          <a:lstStyle/>
          <a:p>
            <a:pPr indent="0" marL="0">
              <a:buNone/>
            </a:pPr>
            <a:r>
              <a:rPr lang="en-US" sz="1400" b="1" dirty="0">
                <a:solidFill>
                  <a:srgbClr val="22D3EE"/>
                </a:solidFill>
                <a:latin typeface="Courier New" pitchFamily="34" charset="0"/>
                <a:ea typeface="Courier New" pitchFamily="34" charset="-122"/>
                <a:cs typeface="Courier New" pitchFamily="34" charset="-120"/>
              </a:rPr>
              <a:t>app/dashboard/layout.tsx</a:t>
            </a:r>
            <a:endParaRPr lang="en-US" sz="1400" dirty="0"/>
          </a:p>
        </p:txBody>
      </p:sp>
      <p:sp>
        <p:nvSpPr>
          <p:cNvPr id="12" name="A2_md"/>
          <p:cNvSpPr txBox="1"/>
          <p:nvPr/>
        </p:nvSpPr>
        <p:spPr>
          <a:xfrm>
            <a:off x="1143000" y="2743200"/>
            <a:ext cx="4572000" cy="2743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Dashboard layout (sidebar)</a:t>
            </a:r>
            <a:endParaRPr lang="en-US" sz="1200" dirty="0"/>
          </a:p>
        </p:txBody>
      </p:sp>
      <p:sp>
        <p:nvSpPr>
          <p:cNvPr id="13" name="A3_i"/>
          <p:cNvSpPr/>
          <p:nvPr/>
        </p:nvSpPr>
        <p:spPr>
          <a:xfrm>
            <a:off x="1280160" y="3154680"/>
            <a:ext cx="5577840" cy="2057400"/>
          </a:xfrm>
          <a:prstGeom prst="roundRect">
            <a:avLst>
              <a:gd name="adj" fmla="val 5333"/>
            </a:avLst>
          </a:prstGeom>
          <a:solidFill>
            <a:srgbClr val="0C0A20"/>
          </a:solidFill>
          <a:ln w="22225">
            <a:solidFill>
              <a:srgbClr val="E64BDA"/>
            </a:solidFill>
            <a:prstDash val="solid"/>
          </a:ln>
        </p:spPr>
      </p:sp>
      <p:sp>
        <p:nvSpPr>
          <p:cNvPr id="14" name="A3_it"/>
          <p:cNvSpPr txBox="1"/>
          <p:nvPr/>
        </p:nvSpPr>
        <p:spPr>
          <a:xfrm>
            <a:off x="1508760" y="3291840"/>
            <a:ext cx="5120640" cy="274320"/>
          </a:xfrm>
          <a:prstGeom prst="rect">
            <a:avLst/>
          </a:prstGeom>
          <a:noFill/>
          <a:ln/>
        </p:spPr>
        <p:txBody>
          <a:bodyPr wrap="square" lIns="0" tIns="0" rIns="0" bIns="0" rtlCol="0" anchor="t"/>
          <a:lstStyle/>
          <a:p>
            <a:pPr indent="0" marL="0">
              <a:buNone/>
            </a:pPr>
            <a:r>
              <a:rPr lang="en-US" sz="1400" b="1" dirty="0">
                <a:solidFill>
                  <a:srgbClr val="E64BDA"/>
                </a:solidFill>
                <a:latin typeface="Courier New" pitchFamily="34" charset="0"/>
                <a:ea typeface="Courier New" pitchFamily="34" charset="-122"/>
                <a:cs typeface="Courier New" pitchFamily="34" charset="-120"/>
              </a:rPr>
              <a:t>app/dashboard/settings/page.tsx</a:t>
            </a:r>
            <a:endParaRPr lang="en-US" sz="1400" dirty="0"/>
          </a:p>
        </p:txBody>
      </p:sp>
      <p:sp>
        <p:nvSpPr>
          <p:cNvPr id="15" name="A3_id"/>
          <p:cNvSpPr txBox="1"/>
          <p:nvPr/>
        </p:nvSpPr>
        <p:spPr>
          <a:xfrm>
            <a:off x="1508760" y="3566160"/>
            <a:ext cx="4937760" cy="2743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The page: unique to /dashboard/settings</a:t>
            </a:r>
            <a:endParaRPr lang="en-US" sz="1200" dirty="0"/>
          </a:p>
        </p:txBody>
      </p:sp>
      <p:pic>
        <p:nvPicPr>
          <p:cNvPr id="16" name="A3_ico" descr="preencoded.png">    </p:cNvPr>
          <p:cNvPicPr>
            <a:picLocks noChangeAspect="1"/>
          </p:cNvPicPr>
          <p:nvPr/>
        </p:nvPicPr>
        <p:blipFill>
          <a:blip r:embed="rId3"/>
          <a:stretch>
            <a:fillRect/>
          </a:stretch>
        </p:blipFill>
        <p:spPr>
          <a:xfrm>
            <a:off x="3566160" y="4160520"/>
            <a:ext cx="640080" cy="640080"/>
          </a:xfrm>
          <a:prstGeom prst="rect">
            <a:avLst/>
          </a:prstGeom>
        </p:spPr>
      </p:pic>
      <p:sp>
        <p:nvSpPr>
          <p:cNvPr id="17" name="Text 12"/>
          <p:cNvSpPr txBox="1"/>
          <p:nvPr/>
        </p:nvSpPr>
        <p:spPr>
          <a:xfrm>
            <a:off x="7909560" y="1600200"/>
            <a:ext cx="3730752" cy="502920"/>
          </a:xfrm>
          <a:prstGeom prst="roundRect">
            <a:avLst>
              <a:gd name="adj" fmla="val 18182"/>
            </a:avLst>
          </a:prstGeom>
          <a:solidFill>
            <a:srgbClr val="17143F"/>
          </a:solidFill>
          <a:ln w="12700">
            <a:solidFill>
              <a:srgbClr val="3A3580"/>
            </a:solidFill>
            <a:prstDash val="solid"/>
          </a:ln>
        </p:spPr>
        <p:txBody>
          <a:bodyPr wrap="square" lIns="50800" tIns="50800" rIns="50800" bIns="50800" rtlCol="0" anchor="ctr"/>
          <a:lstStyle/>
          <a:p>
            <a:pPr algn="ctr" indent="0" marL="0">
              <a:buNone/>
            </a:pPr>
            <a:r>
              <a:rPr lang="en-US" sz="1500" b="1" dirty="0">
                <a:solidFill>
                  <a:srgbClr val="F4F3FF"/>
                </a:solidFill>
                <a:latin typeface="Courier New" pitchFamily="34" charset="0"/>
                <a:ea typeface="Courier New" pitchFamily="34" charset="-122"/>
                <a:cs typeface="Courier New" pitchFamily="34" charset="-120"/>
              </a:rPr>
              <a:t>/dashboard/settings</a:t>
            </a:r>
            <a:endParaRPr lang="en-US" sz="1500" dirty="0"/>
          </a:p>
        </p:txBody>
      </p:sp>
      <p:sp>
        <p:nvSpPr>
          <p:cNvPr id="18" name="A1_lc"/>
          <p:cNvSpPr/>
          <p:nvPr/>
        </p:nvSpPr>
        <p:spPr>
          <a:xfrm>
            <a:off x="7909560" y="2286000"/>
            <a:ext cx="3730752" cy="960120"/>
          </a:xfrm>
          <a:prstGeom prst="roundRect">
            <a:avLst>
              <a:gd name="adj" fmla="val 11429"/>
            </a:avLst>
          </a:prstGeom>
          <a:solidFill>
            <a:srgbClr val="17143F"/>
          </a:solidFill>
          <a:ln w="12700">
            <a:solidFill>
              <a:srgbClr val="8B7CFF"/>
            </a:solidFill>
            <a:prstDash val="solid"/>
          </a:ln>
        </p:spPr>
      </p:sp>
      <p:sp>
        <p:nvSpPr>
          <p:cNvPr id="19" name="A1_lt"/>
          <p:cNvSpPr txBox="1"/>
          <p:nvPr/>
        </p:nvSpPr>
        <p:spPr>
          <a:xfrm>
            <a:off x="8138160" y="2377440"/>
            <a:ext cx="3291840" cy="274320"/>
          </a:xfrm>
          <a:prstGeom prst="rect">
            <a:avLst/>
          </a:prstGeom>
          <a:noFill/>
          <a:ln/>
        </p:spPr>
        <p:txBody>
          <a:bodyPr wrap="square" lIns="0" tIns="0" rIns="0" bIns="0" rtlCol="0" anchor="t"/>
          <a:lstStyle/>
          <a:p>
            <a:pPr indent="0" marL="0">
              <a:buNone/>
            </a:pPr>
            <a:r>
              <a:rPr lang="en-US" sz="1600" b="1" dirty="0">
                <a:solidFill>
                  <a:srgbClr val="8B7CFF"/>
                </a:solidFill>
                <a:latin typeface="Calibri" pitchFamily="34" charset="0"/>
                <a:ea typeface="Calibri" pitchFamily="34" charset="-122"/>
                <a:cs typeface="Calibri" pitchFamily="34" charset="-120"/>
              </a:rPr>
              <a:t>Root layout</a:t>
            </a:r>
            <a:endParaRPr lang="en-US" sz="1600" dirty="0"/>
          </a:p>
        </p:txBody>
      </p:sp>
      <p:sp>
        <p:nvSpPr>
          <p:cNvPr id="20" name="A1_ld"/>
          <p:cNvSpPr txBox="1"/>
          <p:nvPr/>
        </p:nvSpPr>
        <p:spPr>
          <a:xfrm>
            <a:off x="8138160" y="2697480"/>
            <a:ext cx="3291840" cy="5029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Wraps every route. Holds html, body and shared navbar.</a:t>
            </a:r>
            <a:endParaRPr lang="en-US" sz="1200" dirty="0"/>
          </a:p>
        </p:txBody>
      </p:sp>
      <p:sp>
        <p:nvSpPr>
          <p:cNvPr id="21" name="A2_lc"/>
          <p:cNvSpPr/>
          <p:nvPr/>
        </p:nvSpPr>
        <p:spPr>
          <a:xfrm>
            <a:off x="7909560" y="3383280"/>
            <a:ext cx="3730752" cy="960120"/>
          </a:xfrm>
          <a:prstGeom prst="roundRect">
            <a:avLst>
              <a:gd name="adj" fmla="val 11429"/>
            </a:avLst>
          </a:prstGeom>
          <a:solidFill>
            <a:srgbClr val="17143F"/>
          </a:solidFill>
          <a:ln w="12700">
            <a:solidFill>
              <a:srgbClr val="22D3EE"/>
            </a:solidFill>
            <a:prstDash val="solid"/>
          </a:ln>
        </p:spPr>
      </p:sp>
      <p:sp>
        <p:nvSpPr>
          <p:cNvPr id="22" name="A2_lt"/>
          <p:cNvSpPr txBox="1"/>
          <p:nvPr/>
        </p:nvSpPr>
        <p:spPr>
          <a:xfrm>
            <a:off x="8138160" y="3474720"/>
            <a:ext cx="3291840" cy="274320"/>
          </a:xfrm>
          <a:prstGeom prst="rect">
            <a:avLst/>
          </a:prstGeom>
          <a:noFill/>
          <a:ln/>
        </p:spPr>
        <p:txBody>
          <a:bodyPr wrap="square" lIns="0" tIns="0" rIns="0" bIns="0" rtlCol="0" anchor="t"/>
          <a:lstStyle/>
          <a:p>
            <a:pPr indent="0" marL="0">
              <a:buNone/>
            </a:pPr>
            <a:r>
              <a:rPr lang="en-US" sz="1600" b="1" dirty="0">
                <a:solidFill>
                  <a:srgbClr val="22D3EE"/>
                </a:solidFill>
                <a:latin typeface="Calibri" pitchFamily="34" charset="0"/>
                <a:ea typeface="Calibri" pitchFamily="34" charset="-122"/>
                <a:cs typeface="Calibri" pitchFamily="34" charset="-120"/>
              </a:rPr>
              <a:t>Dashboard layout</a:t>
            </a:r>
            <a:endParaRPr lang="en-US" sz="1600" dirty="0"/>
          </a:p>
        </p:txBody>
      </p:sp>
      <p:sp>
        <p:nvSpPr>
          <p:cNvPr id="23" name="A2_ld"/>
          <p:cNvSpPr txBox="1"/>
          <p:nvPr/>
        </p:nvSpPr>
        <p:spPr>
          <a:xfrm>
            <a:off x="8138160" y="3794760"/>
            <a:ext cx="3291840" cy="5029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Wraps only routes inside /dashboard.</a:t>
            </a:r>
            <a:endParaRPr lang="en-US" sz="1200" dirty="0"/>
          </a:p>
        </p:txBody>
      </p:sp>
      <p:sp>
        <p:nvSpPr>
          <p:cNvPr id="24" name="A3_lc"/>
          <p:cNvSpPr/>
          <p:nvPr/>
        </p:nvSpPr>
        <p:spPr>
          <a:xfrm>
            <a:off x="7909560" y="4480560"/>
            <a:ext cx="3730752" cy="960120"/>
          </a:xfrm>
          <a:prstGeom prst="roundRect">
            <a:avLst>
              <a:gd name="adj" fmla="val 11429"/>
            </a:avLst>
          </a:prstGeom>
          <a:solidFill>
            <a:srgbClr val="17143F"/>
          </a:solidFill>
          <a:ln w="12700">
            <a:solidFill>
              <a:srgbClr val="E64BDA"/>
            </a:solidFill>
            <a:prstDash val="solid"/>
          </a:ln>
        </p:spPr>
      </p:sp>
      <p:sp>
        <p:nvSpPr>
          <p:cNvPr id="25" name="A3_lt"/>
          <p:cNvSpPr txBox="1"/>
          <p:nvPr/>
        </p:nvSpPr>
        <p:spPr>
          <a:xfrm>
            <a:off x="8138160" y="4572000"/>
            <a:ext cx="3291840" cy="274320"/>
          </a:xfrm>
          <a:prstGeom prst="rect">
            <a:avLst/>
          </a:prstGeom>
          <a:noFill/>
          <a:ln/>
        </p:spPr>
        <p:txBody>
          <a:bodyPr wrap="square" lIns="0" tIns="0" rIns="0" bIns="0" rtlCol="0" anchor="t"/>
          <a:lstStyle/>
          <a:p>
            <a:pPr indent="0" marL="0">
              <a:buNone/>
            </a:pPr>
            <a:r>
              <a:rPr lang="en-US" sz="1600" b="1" dirty="0">
                <a:solidFill>
                  <a:srgbClr val="E64BDA"/>
                </a:solidFill>
                <a:latin typeface="Calibri" pitchFamily="34" charset="0"/>
                <a:ea typeface="Calibri" pitchFamily="34" charset="-122"/>
                <a:cs typeface="Calibri" pitchFamily="34" charset="-120"/>
              </a:rPr>
              <a:t>Page</a:t>
            </a:r>
            <a:endParaRPr lang="en-US" sz="1600" dirty="0"/>
          </a:p>
        </p:txBody>
      </p:sp>
      <p:sp>
        <p:nvSpPr>
          <p:cNvPr id="26" name="A3_ld"/>
          <p:cNvSpPr txBox="1"/>
          <p:nvPr/>
        </p:nvSpPr>
        <p:spPr>
          <a:xfrm>
            <a:off x="8138160" y="4892040"/>
            <a:ext cx="3291840" cy="5029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The innermost piece, unique to the URL.</a:t>
            </a:r>
            <a:endParaRPr lang="en-US" sz="1200" dirty="0"/>
          </a:p>
        </p:txBody>
      </p:sp>
      <p:sp>
        <p:nvSpPr>
          <p:cNvPr id="27" name="A4_bn"/>
          <p:cNvSpPr/>
          <p:nvPr/>
        </p:nvSpPr>
        <p:spPr>
          <a:xfrm>
            <a:off x="548640" y="5715000"/>
            <a:ext cx="11091672" cy="502920"/>
          </a:xfrm>
          <a:prstGeom prst="roundRect">
            <a:avLst>
              <a:gd name="adj" fmla="val 21818"/>
            </a:avLst>
          </a:prstGeom>
          <a:solidFill>
            <a:srgbClr val="221E58"/>
          </a:solidFill>
          <a:ln w="12700">
            <a:solidFill>
              <a:srgbClr val="34D399"/>
            </a:solidFill>
            <a:prstDash val="solid"/>
          </a:ln>
        </p:spPr>
      </p:sp>
      <p:pic>
        <p:nvPicPr>
          <p:cNvPr id="28" name="A4_ico" descr="preencoded.png">    </p:cNvPr>
          <p:cNvPicPr>
            <a:picLocks noChangeAspect="1"/>
          </p:cNvPicPr>
          <p:nvPr/>
        </p:nvPicPr>
        <p:blipFill>
          <a:blip r:embed="rId4"/>
          <a:stretch>
            <a:fillRect/>
          </a:stretch>
        </p:blipFill>
        <p:spPr>
          <a:xfrm>
            <a:off x="777240" y="5824728"/>
            <a:ext cx="274320" cy="274320"/>
          </a:xfrm>
          <a:prstGeom prst="rect">
            <a:avLst/>
          </a:prstGeom>
        </p:spPr>
      </p:pic>
      <p:sp>
        <p:nvSpPr>
          <p:cNvPr id="29" name="A4_bt"/>
          <p:cNvSpPr txBox="1"/>
          <p:nvPr/>
        </p:nvSpPr>
        <p:spPr>
          <a:xfrm>
            <a:off x="1188720" y="5715000"/>
            <a:ext cx="10241280" cy="502920"/>
          </a:xfrm>
          <a:prstGeom prst="rect">
            <a:avLst/>
          </a:prstGeom>
          <a:noFill/>
          <a:ln/>
        </p:spPr>
        <p:txBody>
          <a:bodyPr wrap="square" lIns="0" tIns="0" rIns="0" bIns="0" rtlCol="0" anchor="ctr"/>
          <a:lstStyle/>
          <a:p>
            <a:pPr indent="0" marL="0">
              <a:buNone/>
            </a:pPr>
            <a:r>
              <a:rPr lang="en-US" sz="1500" b="1" dirty="0">
                <a:solidFill>
                  <a:srgbClr val="F4F3FF"/>
                </a:solidFill>
                <a:latin typeface="Calibri" pitchFamily="34" charset="0"/>
                <a:ea typeface="Calibri" pitchFamily="34" charset="-122"/>
                <a:cs typeface="Calibri" pitchFamily="34" charset="-120"/>
              </a:rPr>
              <a:t>Navigate to /dashboard/profile: layouts stay and keep their state. Only the page swaps.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5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50"/>
                                        <p:tgtEl>
                                          <p:spTgt spid="18"/>
                                        </p:tgtEl>
                                      </p:cBhvr>
                                    </p:animEffect>
                                  </p:childTnLst>
                                </p:cTn>
                              </p:par>
                              <p:par>
                                <p:cTn id="15" presetID="10"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50"/>
                                        <p:tgtEl>
                                          <p:spTgt spid="19"/>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450"/>
                                        <p:tgtEl>
                                          <p:spTgt spid="20"/>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50"/>
                                        <p:tgtEl>
                                          <p:spTgt spid="21"/>
                                        </p:tgtEl>
                                      </p:cBhvr>
                                    </p:animEffect>
                                  </p:childTnLst>
                                </p:cTn>
                              </p:par>
                              <p:par>
                                <p:cTn id="35" presetID="10" presetClass="entr" presetSubtype="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50"/>
                                        <p:tgtEl>
                                          <p:spTgt spid="22"/>
                                        </p:tgtEl>
                                      </p:cBhvr>
                                    </p:animEffect>
                                  </p:childTnLst>
                                </p:cTn>
                              </p:par>
                              <p:par>
                                <p:cTn id="38" presetID="10" presetClass="entr" presetSubtype="0" fill="hold"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childTnLst>
                          </p:cTn>
                        </p:par>
                      </p:childTnLst>
                    </p:cTn>
                  </p:par>
                  <p:par>
                    <p:cTn id="64" fill="hold">
                      <p:stCondLst>
                        <p:cond delay="indefinite"/>
                      </p:stCondLst>
                      <p:childTnLst>
                        <p:par>
                          <p:cTn id="65"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450"/>
                                        <p:tgtEl>
                                          <p:spTgt spid="13"/>
                                        </p:tgtEl>
                                      </p:cBhvr>
                                    </p:animEffect>
                                  </p:childTnLst>
                                </p:cTn>
                              </p:par>
                              <p:par>
                                <p:cTn id="46" presetID="10" presetClass="entr" presetSubtype="0" fill="hold" nodeType="with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450"/>
                                        <p:tgtEl>
                                          <p:spTgt spid="14"/>
                                        </p:tgtEl>
                                      </p:cBhvr>
                                    </p:animEffect>
                                  </p:childTnLst>
                                </p:cTn>
                              </p:par>
                              <p:par>
                                <p:cTn id="49" presetID="10" presetClass="entr" presetSubtype="0"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450"/>
                                        <p:tgtEl>
                                          <p:spTgt spid="15"/>
                                        </p:tgtEl>
                                      </p:cBhvr>
                                    </p:animEffect>
                                  </p:childTnLst>
                                </p:cTn>
                              </p:par>
                              <p:par>
                                <p:cTn id="52" presetID="10" presetClass="entr" presetSubtype="0" fill="hold"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450"/>
                                        <p:tgtEl>
                                          <p:spTgt spid="16"/>
                                        </p:tgtEl>
                                      </p:cBhvr>
                                    </p:animEffect>
                                  </p:childTnLst>
                                </p:cTn>
                              </p:par>
                              <p:par>
                                <p:cTn id="55" presetID="10" presetClass="entr" presetSubtype="0" fill="hold" nodeType="withEffect">
                                  <p:stCondLst>
                                    <p:cond delay="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450"/>
                                        <p:tgtEl>
                                          <p:spTgt spid="24"/>
                                        </p:tgtEl>
                                      </p:cBhvr>
                                    </p:animEffect>
                                  </p:childTnLst>
                                </p:cTn>
                              </p:par>
                              <p:par>
                                <p:cTn id="58" presetID="10" presetClass="entr" presetSubtype="0" fill="hold" nodeType="withEffect">
                                  <p:stCondLst>
                                    <p:cond delay="0"/>
                                  </p:stCondLst>
                                  <p:childTnLst>
                                    <p:set>
                                      <p:cBhvr>
                                        <p:cTn id="59" dur="1" fill="hold">
                                          <p:stCondLst>
                                            <p:cond delay="0"/>
                                          </p:stCondLst>
                                        </p:cTn>
                                        <p:tgtEl>
                                          <p:spTgt spid="25"/>
                                        </p:tgtEl>
                                        <p:attrNameLst>
                                          <p:attrName>style.visibility</p:attrName>
                                        </p:attrNameLst>
                                      </p:cBhvr>
                                      <p:to>
                                        <p:strVal val="visible"/>
                                      </p:to>
                                    </p:set>
                                    <p:animEffect transition="in" filter="fade">
                                      <p:cBhvr>
                                        <p:cTn id="60" dur="450"/>
                                        <p:tgtEl>
                                          <p:spTgt spid="25"/>
                                        </p:tgtEl>
                                      </p:cBhvr>
                                    </p:animEffect>
                                  </p:childTnLst>
                                </p:cTn>
                              </p:par>
                              <p:par>
                                <p:cTn id="61" presetID="10" presetClass="entr" presetSubtype="0" fill="hold"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450"/>
                                        <p:tgtEl>
                                          <p:spTgt spid="26"/>
                                        </p:tgtEl>
                                      </p:cBhvr>
                                    </p:animEffect>
                                  </p:childTnLst>
                                </p:cTn>
                              </p:par>
                            </p:childTnLst>
                          </p:cTn>
                        </p:par>
                      </p:childTnLst>
                    </p:cTn>
                  </p:par>
                  <p:par>
                    <p:cTn id="75" fill="hold">
                      <p:stCondLst>
                        <p:cond delay="indefinite"/>
                      </p:stCondLst>
                      <p:childTnLst>
                        <p:par>
                          <p:cTn id="76"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50"/>
                                        <p:tgtEl>
                                          <p:spTgt spid="27"/>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450"/>
                                        <p:tgtEl>
                                          <p:spTgt spid="28"/>
                                        </p:tgtEl>
                                      </p:cBhvr>
                                    </p:animEffect>
                                  </p:childTnLst>
                                </p:cTn>
                              </p:par>
                              <p:par>
                                <p:cTn id="72" presetID="10" presetClass="entr" presetSubtype="0" fill="hold"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4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COMPONENT CONCEPTS</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Server Components vs Client Components</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10</a:t>
            </a:r>
            <a:endParaRPr lang="en-US" sz="1100" dirty="0"/>
          </a:p>
        </p:txBody>
      </p:sp>
      <p:sp>
        <p:nvSpPr>
          <p:cNvPr id="7" name="Shape 3"/>
          <p:cNvSpPr/>
          <p:nvPr/>
        </p:nvSpPr>
        <p:spPr>
          <a:xfrm>
            <a:off x="548640" y="1600200"/>
            <a:ext cx="5349240" cy="3657600"/>
          </a:xfrm>
          <a:prstGeom prst="roundRect">
            <a:avLst>
              <a:gd name="adj" fmla="val 3000"/>
            </a:avLst>
          </a:prstGeom>
          <a:solidFill>
            <a:srgbClr val="17143F"/>
          </a:solidFill>
          <a:ln w="12700">
            <a:solidFill>
              <a:srgbClr val="22D3EE"/>
            </a:solidFill>
            <a:prstDash val="solid"/>
          </a:ln>
        </p:spPr>
      </p:sp>
      <p:sp>
        <p:nvSpPr>
          <p:cNvPr id="8" name="Shape 4"/>
          <p:cNvSpPr/>
          <p:nvPr/>
        </p:nvSpPr>
        <p:spPr>
          <a:xfrm>
            <a:off x="754380" y="1897380"/>
            <a:ext cx="685800" cy="685800"/>
          </a:xfrm>
          <a:prstGeom prst="ellipse">
            <a:avLst/>
          </a:prstGeom>
          <a:solidFill>
            <a:srgbClr val="221E58"/>
          </a:solidFill>
          <a:ln w="15875">
            <a:solidFill>
              <a:srgbClr val="22D3EE"/>
            </a:solidFill>
            <a:prstDash val="solid"/>
          </a:ln>
        </p:spPr>
      </p:sp>
      <p:pic>
        <p:nvPicPr>
          <p:cNvPr id="9" name="Image 1" descr="preencoded.png">    </p:cNvPr>
          <p:cNvPicPr>
            <a:picLocks noChangeAspect="1"/>
          </p:cNvPicPr>
          <p:nvPr/>
        </p:nvPicPr>
        <p:blipFill>
          <a:blip r:embed="rId3"/>
          <a:stretch>
            <a:fillRect/>
          </a:stretch>
        </p:blipFill>
        <p:spPr>
          <a:xfrm>
            <a:off x="925830" y="2068830"/>
            <a:ext cx="342900" cy="342900"/>
          </a:xfrm>
          <a:prstGeom prst="rect">
            <a:avLst/>
          </a:prstGeom>
        </p:spPr>
      </p:pic>
      <p:sp>
        <p:nvSpPr>
          <p:cNvPr id="10" name="Text 5"/>
          <p:cNvSpPr txBox="1"/>
          <p:nvPr/>
        </p:nvSpPr>
        <p:spPr>
          <a:xfrm>
            <a:off x="1645920" y="1965960"/>
            <a:ext cx="4114800" cy="365760"/>
          </a:xfrm>
          <a:prstGeom prst="rect">
            <a:avLst/>
          </a:prstGeom>
          <a:noFill/>
          <a:ln/>
        </p:spPr>
        <p:txBody>
          <a:bodyPr wrap="square" lIns="0" tIns="0" rIns="0" bIns="0" rtlCol="0" anchor="t"/>
          <a:lstStyle/>
          <a:p>
            <a:pPr indent="0" marL="0">
              <a:buNone/>
            </a:pPr>
            <a:r>
              <a:rPr lang="en-US" sz="2200" b="1" dirty="0">
                <a:solidFill>
                  <a:srgbClr val="F4F3FF"/>
                </a:solidFill>
                <a:latin typeface="Calibri" pitchFamily="34" charset="0"/>
                <a:ea typeface="Calibri" pitchFamily="34" charset="-122"/>
                <a:cs typeface="Calibri" pitchFamily="34" charset="-120"/>
              </a:rPr>
              <a:t>Server Component</a:t>
            </a:r>
            <a:endParaRPr lang="en-US" sz="2200" dirty="0"/>
          </a:p>
        </p:txBody>
      </p:sp>
      <p:sp>
        <p:nvSpPr>
          <p:cNvPr id="11" name="Text 6"/>
          <p:cNvSpPr txBox="1"/>
          <p:nvPr/>
        </p:nvSpPr>
        <p:spPr>
          <a:xfrm>
            <a:off x="1645920" y="2377440"/>
            <a:ext cx="4114800" cy="320040"/>
          </a:xfrm>
          <a:prstGeom prst="rect">
            <a:avLst/>
          </a:prstGeom>
          <a:noFill/>
          <a:ln/>
        </p:spPr>
        <p:txBody>
          <a:bodyPr wrap="square" lIns="0" tIns="0" rIns="0" bIns="0" rtlCol="0" anchor="t"/>
          <a:lstStyle/>
          <a:p>
            <a:pPr indent="0" marL="0">
              <a:buNone/>
            </a:pPr>
            <a:r>
              <a:rPr lang="en-US" sz="1400" b="1" dirty="0">
                <a:solidFill>
                  <a:srgbClr val="22D3EE"/>
                </a:solidFill>
                <a:latin typeface="Calibri" pitchFamily="34" charset="0"/>
                <a:ea typeface="Calibri" pitchFamily="34" charset="-122"/>
                <a:cs typeface="Calibri" pitchFamily="34" charset="-120"/>
              </a:rPr>
              <a:t>Default. Runs on the server.</a:t>
            </a:r>
            <a:endParaRPr lang="en-US" sz="1400" dirty="0"/>
          </a:p>
        </p:txBody>
      </p:sp>
      <p:pic>
        <p:nvPicPr>
          <p:cNvPr id="12" name="Image 2" descr="preencoded.png">    </p:cNvPr>
          <p:cNvPicPr>
            <a:picLocks noChangeAspect="1"/>
          </p:cNvPicPr>
          <p:nvPr/>
        </p:nvPicPr>
        <p:blipFill>
          <a:blip r:embed="rId4"/>
          <a:stretch>
            <a:fillRect/>
          </a:stretch>
        </p:blipFill>
        <p:spPr>
          <a:xfrm>
            <a:off x="868680" y="3044952"/>
            <a:ext cx="274320" cy="274320"/>
          </a:xfrm>
          <a:prstGeom prst="rect">
            <a:avLst/>
          </a:prstGeom>
        </p:spPr>
      </p:pic>
      <p:sp>
        <p:nvSpPr>
          <p:cNvPr id="13" name="Text 7"/>
          <p:cNvSpPr txBox="1"/>
          <p:nvPr/>
        </p:nvSpPr>
        <p:spPr>
          <a:xfrm>
            <a:off x="1325880" y="3017520"/>
            <a:ext cx="4389120" cy="329184"/>
          </a:xfrm>
          <a:prstGeom prst="rect">
            <a:avLst/>
          </a:prstGeom>
          <a:noFill/>
          <a:ln/>
        </p:spPr>
        <p:txBody>
          <a:bodyPr wrap="square" lIns="0" tIns="0" rIns="0" bIns="0" rtlCol="0" anchor="ctr"/>
          <a:lstStyle/>
          <a:p>
            <a:pPr indent="0" marL="0">
              <a:buNone/>
            </a:pPr>
            <a:r>
              <a:rPr lang="en-US" sz="1400" dirty="0">
                <a:solidFill>
                  <a:srgbClr val="F4F3FF"/>
                </a:solidFill>
                <a:latin typeface="Calibri" pitchFamily="34" charset="0"/>
                <a:ea typeface="Calibri" pitchFamily="34" charset="-122"/>
                <a:cs typeface="Calibri" pitchFamily="34" charset="-120"/>
              </a:rPr>
              <a:t>Fetch data directly</a:t>
            </a:r>
            <a:endParaRPr lang="en-US" sz="1400" dirty="0"/>
          </a:p>
        </p:txBody>
      </p:sp>
      <p:pic>
        <p:nvPicPr>
          <p:cNvPr id="14" name="Image 3" descr="preencoded.png">    </p:cNvPr>
          <p:cNvPicPr>
            <a:picLocks noChangeAspect="1"/>
          </p:cNvPicPr>
          <p:nvPr/>
        </p:nvPicPr>
        <p:blipFill>
          <a:blip r:embed="rId5"/>
          <a:stretch>
            <a:fillRect/>
          </a:stretch>
        </p:blipFill>
        <p:spPr>
          <a:xfrm>
            <a:off x="868680" y="3575304"/>
            <a:ext cx="274320" cy="274320"/>
          </a:xfrm>
          <a:prstGeom prst="rect">
            <a:avLst/>
          </a:prstGeom>
        </p:spPr>
      </p:pic>
      <p:sp>
        <p:nvSpPr>
          <p:cNvPr id="15" name="Text 8"/>
          <p:cNvSpPr txBox="1"/>
          <p:nvPr/>
        </p:nvSpPr>
        <p:spPr>
          <a:xfrm>
            <a:off x="1325880" y="3547872"/>
            <a:ext cx="4389120" cy="329184"/>
          </a:xfrm>
          <a:prstGeom prst="rect">
            <a:avLst/>
          </a:prstGeom>
          <a:noFill/>
          <a:ln/>
        </p:spPr>
        <p:txBody>
          <a:bodyPr wrap="square" lIns="0" tIns="0" rIns="0" bIns="0" rtlCol="0" anchor="ctr"/>
          <a:lstStyle/>
          <a:p>
            <a:pPr indent="0" marL="0">
              <a:buNone/>
            </a:pPr>
            <a:r>
              <a:rPr lang="en-US" sz="1400" dirty="0">
                <a:solidFill>
                  <a:srgbClr val="F4F3FF"/>
                </a:solidFill>
                <a:latin typeface="Calibri" pitchFamily="34" charset="0"/>
                <a:ea typeface="Calibri" pitchFamily="34" charset="-122"/>
                <a:cs typeface="Calibri" pitchFamily="34" charset="-120"/>
              </a:rPr>
              <a:t>Use databases and secrets safely</a:t>
            </a:r>
            <a:endParaRPr lang="en-US" sz="1400" dirty="0"/>
          </a:p>
        </p:txBody>
      </p:sp>
      <p:pic>
        <p:nvPicPr>
          <p:cNvPr id="16" name="Image 4" descr="preencoded.png">    </p:cNvPr>
          <p:cNvPicPr>
            <a:picLocks noChangeAspect="1"/>
          </p:cNvPicPr>
          <p:nvPr/>
        </p:nvPicPr>
        <p:blipFill>
          <a:blip r:embed="rId6"/>
          <a:stretch>
            <a:fillRect/>
          </a:stretch>
        </p:blipFill>
        <p:spPr>
          <a:xfrm>
            <a:off x="868680" y="4105656"/>
            <a:ext cx="274320" cy="274320"/>
          </a:xfrm>
          <a:prstGeom prst="rect">
            <a:avLst/>
          </a:prstGeom>
        </p:spPr>
      </p:pic>
      <p:sp>
        <p:nvSpPr>
          <p:cNvPr id="17" name="Text 9"/>
          <p:cNvSpPr txBox="1"/>
          <p:nvPr/>
        </p:nvSpPr>
        <p:spPr>
          <a:xfrm>
            <a:off x="1325880" y="4078224"/>
            <a:ext cx="4389120" cy="329184"/>
          </a:xfrm>
          <a:prstGeom prst="rect">
            <a:avLst/>
          </a:prstGeom>
          <a:noFill/>
          <a:ln/>
        </p:spPr>
        <p:txBody>
          <a:bodyPr wrap="square" lIns="0" tIns="0" rIns="0" bIns="0" rtlCol="0" anchor="ctr"/>
          <a:lstStyle/>
          <a:p>
            <a:pPr indent="0" marL="0">
              <a:buNone/>
            </a:pPr>
            <a:r>
              <a:rPr lang="en-US" sz="1400" dirty="0">
                <a:solidFill>
                  <a:srgbClr val="F4F3FF"/>
                </a:solidFill>
                <a:latin typeface="Calibri" pitchFamily="34" charset="0"/>
                <a:ea typeface="Calibri" pitchFamily="34" charset="-122"/>
                <a:cs typeface="Calibri" pitchFamily="34" charset="-120"/>
              </a:rPr>
              <a:t>Sends HTML, not its own JavaScript</a:t>
            </a:r>
            <a:endParaRPr lang="en-US" sz="1400" dirty="0"/>
          </a:p>
        </p:txBody>
      </p:sp>
      <p:pic>
        <p:nvPicPr>
          <p:cNvPr id="18" name="Image 5" descr="preencoded.png">    </p:cNvPr>
          <p:cNvPicPr>
            <a:picLocks noChangeAspect="1"/>
          </p:cNvPicPr>
          <p:nvPr/>
        </p:nvPicPr>
        <p:blipFill>
          <a:blip r:embed="rId7"/>
          <a:stretch>
            <a:fillRect/>
          </a:stretch>
        </p:blipFill>
        <p:spPr>
          <a:xfrm>
            <a:off x="868680" y="4636008"/>
            <a:ext cx="274320" cy="274320"/>
          </a:xfrm>
          <a:prstGeom prst="rect">
            <a:avLst/>
          </a:prstGeom>
        </p:spPr>
      </p:pic>
      <p:sp>
        <p:nvSpPr>
          <p:cNvPr id="19" name="Text 10"/>
          <p:cNvSpPr txBox="1"/>
          <p:nvPr/>
        </p:nvSpPr>
        <p:spPr>
          <a:xfrm>
            <a:off x="1325880" y="4608576"/>
            <a:ext cx="4389120" cy="329184"/>
          </a:xfrm>
          <a:prstGeom prst="rect">
            <a:avLst/>
          </a:prstGeom>
          <a:noFill/>
          <a:ln/>
        </p:spPr>
        <p:txBody>
          <a:bodyPr wrap="square" lIns="0" tIns="0" rIns="0" bIns="0" rtlCol="0" anchor="ctr"/>
          <a:lstStyle/>
          <a:p>
            <a:pPr indent="0" marL="0">
              <a:buNone/>
            </a:pPr>
            <a:r>
              <a:rPr lang="en-US" sz="1400" dirty="0">
                <a:solidFill>
                  <a:srgbClr val="F4F3FF"/>
                </a:solidFill>
                <a:latin typeface="Calibri" pitchFamily="34" charset="0"/>
                <a:ea typeface="Calibri" pitchFamily="34" charset="-122"/>
                <a:cs typeface="Calibri" pitchFamily="34" charset="-120"/>
              </a:rPr>
              <a:t>No useState, useEffect or onClick</a:t>
            </a:r>
            <a:endParaRPr lang="en-US" sz="1400" dirty="0"/>
          </a:p>
        </p:txBody>
      </p:sp>
      <p:sp>
        <p:nvSpPr>
          <p:cNvPr id="20" name="Shape 11"/>
          <p:cNvSpPr/>
          <p:nvPr/>
        </p:nvSpPr>
        <p:spPr>
          <a:xfrm>
            <a:off x="6291072" y="1600200"/>
            <a:ext cx="5349240" cy="3657600"/>
          </a:xfrm>
          <a:prstGeom prst="roundRect">
            <a:avLst>
              <a:gd name="adj" fmla="val 3000"/>
            </a:avLst>
          </a:prstGeom>
          <a:solidFill>
            <a:srgbClr val="17143F"/>
          </a:solidFill>
          <a:ln w="12700">
            <a:solidFill>
              <a:srgbClr val="FBBF24"/>
            </a:solidFill>
            <a:prstDash val="solid"/>
          </a:ln>
        </p:spPr>
      </p:sp>
      <p:sp>
        <p:nvSpPr>
          <p:cNvPr id="21" name="Shape 12"/>
          <p:cNvSpPr/>
          <p:nvPr/>
        </p:nvSpPr>
        <p:spPr>
          <a:xfrm>
            <a:off x="6496812" y="1897380"/>
            <a:ext cx="685800" cy="685800"/>
          </a:xfrm>
          <a:prstGeom prst="ellipse">
            <a:avLst/>
          </a:prstGeom>
          <a:solidFill>
            <a:srgbClr val="221E58"/>
          </a:solidFill>
          <a:ln w="15875">
            <a:solidFill>
              <a:srgbClr val="FBBF24"/>
            </a:solidFill>
            <a:prstDash val="solid"/>
          </a:ln>
        </p:spPr>
      </p:sp>
      <p:pic>
        <p:nvPicPr>
          <p:cNvPr id="22" name="Image 6" descr="preencoded.png">    </p:cNvPr>
          <p:cNvPicPr>
            <a:picLocks noChangeAspect="1"/>
          </p:cNvPicPr>
          <p:nvPr/>
        </p:nvPicPr>
        <p:blipFill>
          <a:blip r:embed="rId8"/>
          <a:stretch>
            <a:fillRect/>
          </a:stretch>
        </p:blipFill>
        <p:spPr>
          <a:xfrm>
            <a:off x="6668262" y="2068830"/>
            <a:ext cx="342900" cy="342900"/>
          </a:xfrm>
          <a:prstGeom prst="rect">
            <a:avLst/>
          </a:prstGeom>
        </p:spPr>
      </p:pic>
      <p:sp>
        <p:nvSpPr>
          <p:cNvPr id="23" name="Text 13"/>
          <p:cNvSpPr txBox="1"/>
          <p:nvPr/>
        </p:nvSpPr>
        <p:spPr>
          <a:xfrm>
            <a:off x="7388352" y="1965960"/>
            <a:ext cx="4114800" cy="365760"/>
          </a:xfrm>
          <a:prstGeom prst="rect">
            <a:avLst/>
          </a:prstGeom>
          <a:noFill/>
          <a:ln/>
        </p:spPr>
        <p:txBody>
          <a:bodyPr wrap="square" lIns="0" tIns="0" rIns="0" bIns="0" rtlCol="0" anchor="t"/>
          <a:lstStyle/>
          <a:p>
            <a:pPr indent="0" marL="0">
              <a:buNone/>
            </a:pPr>
            <a:r>
              <a:rPr lang="en-US" sz="2200" b="1" dirty="0">
                <a:solidFill>
                  <a:srgbClr val="F4F3FF"/>
                </a:solidFill>
                <a:latin typeface="Calibri" pitchFamily="34" charset="0"/>
                <a:ea typeface="Calibri" pitchFamily="34" charset="-122"/>
                <a:cs typeface="Calibri" pitchFamily="34" charset="-120"/>
              </a:rPr>
              <a:t>Client Component</a:t>
            </a:r>
            <a:endParaRPr lang="en-US" sz="2200" dirty="0"/>
          </a:p>
        </p:txBody>
      </p:sp>
      <p:sp>
        <p:nvSpPr>
          <p:cNvPr id="24" name="Text 14"/>
          <p:cNvSpPr txBox="1"/>
          <p:nvPr/>
        </p:nvSpPr>
        <p:spPr>
          <a:xfrm>
            <a:off x="7388352" y="2377440"/>
            <a:ext cx="4114800" cy="320040"/>
          </a:xfrm>
          <a:prstGeom prst="rect">
            <a:avLst/>
          </a:prstGeom>
          <a:noFill/>
          <a:ln/>
        </p:spPr>
        <p:txBody>
          <a:bodyPr wrap="square" lIns="0" tIns="0" rIns="0" bIns="0" rtlCol="0" anchor="t"/>
          <a:lstStyle/>
          <a:p>
            <a:pPr indent="0" marL="0">
              <a:buNone/>
            </a:pPr>
            <a:r>
              <a:rPr lang="en-US" sz="1400" b="1" dirty="0">
                <a:solidFill>
                  <a:srgbClr val="FBBF24"/>
                </a:solidFill>
                <a:latin typeface="Calibri" pitchFamily="34" charset="0"/>
                <a:ea typeface="Calibri" pitchFamily="34" charset="-122"/>
                <a:cs typeface="Calibri" pitchFamily="34" charset="-120"/>
              </a:rPr>
              <a:t>Opt in with "use client".</a:t>
            </a:r>
            <a:endParaRPr lang="en-US" sz="1400" dirty="0"/>
          </a:p>
        </p:txBody>
      </p:sp>
      <p:pic>
        <p:nvPicPr>
          <p:cNvPr id="25" name="Image 7" descr="preencoded.png">    </p:cNvPr>
          <p:cNvPicPr>
            <a:picLocks noChangeAspect="1"/>
          </p:cNvPicPr>
          <p:nvPr/>
        </p:nvPicPr>
        <p:blipFill>
          <a:blip r:embed="rId9"/>
          <a:stretch>
            <a:fillRect/>
          </a:stretch>
        </p:blipFill>
        <p:spPr>
          <a:xfrm>
            <a:off x="6611112" y="3044952"/>
            <a:ext cx="274320" cy="274320"/>
          </a:xfrm>
          <a:prstGeom prst="rect">
            <a:avLst/>
          </a:prstGeom>
        </p:spPr>
      </p:pic>
      <p:sp>
        <p:nvSpPr>
          <p:cNvPr id="26" name="Text 15"/>
          <p:cNvSpPr txBox="1"/>
          <p:nvPr/>
        </p:nvSpPr>
        <p:spPr>
          <a:xfrm>
            <a:off x="7068312" y="3017520"/>
            <a:ext cx="4389120" cy="329184"/>
          </a:xfrm>
          <a:prstGeom prst="rect">
            <a:avLst/>
          </a:prstGeom>
          <a:noFill/>
          <a:ln/>
        </p:spPr>
        <p:txBody>
          <a:bodyPr wrap="square" lIns="0" tIns="0" rIns="0" bIns="0" rtlCol="0" anchor="ctr"/>
          <a:lstStyle/>
          <a:p>
            <a:pPr indent="0" marL="0">
              <a:buNone/>
            </a:pPr>
            <a:r>
              <a:rPr lang="en-US" sz="1400" dirty="0">
                <a:solidFill>
                  <a:srgbClr val="F4F3FF"/>
                </a:solidFill>
                <a:latin typeface="Calibri" pitchFamily="34" charset="0"/>
                <a:ea typeface="Calibri" pitchFamily="34" charset="-122"/>
                <a:cs typeface="Calibri" pitchFamily="34" charset="-120"/>
              </a:rPr>
              <a:t>useState, useEffect and other hooks</a:t>
            </a:r>
            <a:endParaRPr lang="en-US" sz="1400" dirty="0"/>
          </a:p>
        </p:txBody>
      </p:sp>
      <p:pic>
        <p:nvPicPr>
          <p:cNvPr id="27" name="Image 8" descr="preencoded.png">    </p:cNvPr>
          <p:cNvPicPr>
            <a:picLocks noChangeAspect="1"/>
          </p:cNvPicPr>
          <p:nvPr/>
        </p:nvPicPr>
        <p:blipFill>
          <a:blip r:embed="rId10"/>
          <a:stretch>
            <a:fillRect/>
          </a:stretch>
        </p:blipFill>
        <p:spPr>
          <a:xfrm>
            <a:off x="6611112" y="3575304"/>
            <a:ext cx="274320" cy="274320"/>
          </a:xfrm>
          <a:prstGeom prst="rect">
            <a:avLst/>
          </a:prstGeom>
        </p:spPr>
      </p:pic>
      <p:sp>
        <p:nvSpPr>
          <p:cNvPr id="28" name="Text 16"/>
          <p:cNvSpPr txBox="1"/>
          <p:nvPr/>
        </p:nvSpPr>
        <p:spPr>
          <a:xfrm>
            <a:off x="7068312" y="3547872"/>
            <a:ext cx="4389120" cy="329184"/>
          </a:xfrm>
          <a:prstGeom prst="rect">
            <a:avLst/>
          </a:prstGeom>
          <a:noFill/>
          <a:ln/>
        </p:spPr>
        <p:txBody>
          <a:bodyPr wrap="square" lIns="0" tIns="0" rIns="0" bIns="0" rtlCol="0" anchor="ctr"/>
          <a:lstStyle/>
          <a:p>
            <a:pPr indent="0" marL="0">
              <a:buNone/>
            </a:pPr>
            <a:r>
              <a:rPr lang="en-US" sz="1400" dirty="0">
                <a:solidFill>
                  <a:srgbClr val="F4F3FF"/>
                </a:solidFill>
                <a:latin typeface="Calibri" pitchFamily="34" charset="0"/>
                <a:ea typeface="Calibri" pitchFamily="34" charset="-122"/>
                <a:cs typeface="Calibri" pitchFamily="34" charset="-120"/>
              </a:rPr>
              <a:t>onClick, onChange and events</a:t>
            </a:r>
            <a:endParaRPr lang="en-US" sz="1400" dirty="0"/>
          </a:p>
        </p:txBody>
      </p:sp>
      <p:pic>
        <p:nvPicPr>
          <p:cNvPr id="29" name="Image 9" descr="preencoded.png">    </p:cNvPr>
          <p:cNvPicPr>
            <a:picLocks noChangeAspect="1"/>
          </p:cNvPicPr>
          <p:nvPr/>
        </p:nvPicPr>
        <p:blipFill>
          <a:blip r:embed="rId11"/>
          <a:stretch>
            <a:fillRect/>
          </a:stretch>
        </p:blipFill>
        <p:spPr>
          <a:xfrm>
            <a:off x="6611112" y="4105656"/>
            <a:ext cx="274320" cy="274320"/>
          </a:xfrm>
          <a:prstGeom prst="rect">
            <a:avLst/>
          </a:prstGeom>
        </p:spPr>
      </p:pic>
      <p:sp>
        <p:nvSpPr>
          <p:cNvPr id="30" name="Text 17"/>
          <p:cNvSpPr txBox="1"/>
          <p:nvPr/>
        </p:nvSpPr>
        <p:spPr>
          <a:xfrm>
            <a:off x="7068312" y="4078224"/>
            <a:ext cx="4389120" cy="329184"/>
          </a:xfrm>
          <a:prstGeom prst="rect">
            <a:avLst/>
          </a:prstGeom>
          <a:noFill/>
          <a:ln/>
        </p:spPr>
        <p:txBody>
          <a:bodyPr wrap="square" lIns="0" tIns="0" rIns="0" bIns="0" rtlCol="0" anchor="ctr"/>
          <a:lstStyle/>
          <a:p>
            <a:pPr indent="0" marL="0">
              <a:buNone/>
            </a:pPr>
            <a:r>
              <a:rPr lang="en-US" sz="1400" dirty="0">
                <a:solidFill>
                  <a:srgbClr val="F4F3FF"/>
                </a:solidFill>
                <a:latin typeface="Calibri" pitchFamily="34" charset="0"/>
                <a:ea typeface="Calibri" pitchFamily="34" charset="-122"/>
                <a:cs typeface="Calibri" pitchFamily="34" charset="-120"/>
              </a:rPr>
              <a:t>Browser APIs: window, localStorage</a:t>
            </a:r>
            <a:endParaRPr lang="en-US" sz="1400" dirty="0"/>
          </a:p>
        </p:txBody>
      </p:sp>
      <p:pic>
        <p:nvPicPr>
          <p:cNvPr id="31" name="Image 10" descr="preencoded.png">    </p:cNvPr>
          <p:cNvPicPr>
            <a:picLocks noChangeAspect="1"/>
          </p:cNvPicPr>
          <p:nvPr/>
        </p:nvPicPr>
        <p:blipFill>
          <a:blip r:embed="rId12"/>
          <a:stretch>
            <a:fillRect/>
          </a:stretch>
        </p:blipFill>
        <p:spPr>
          <a:xfrm>
            <a:off x="6611112" y="4636008"/>
            <a:ext cx="274320" cy="274320"/>
          </a:xfrm>
          <a:prstGeom prst="rect">
            <a:avLst/>
          </a:prstGeom>
        </p:spPr>
      </p:pic>
      <p:sp>
        <p:nvSpPr>
          <p:cNvPr id="32" name="Text 18"/>
          <p:cNvSpPr txBox="1"/>
          <p:nvPr/>
        </p:nvSpPr>
        <p:spPr>
          <a:xfrm>
            <a:off x="7068312" y="4608576"/>
            <a:ext cx="4389120" cy="329184"/>
          </a:xfrm>
          <a:prstGeom prst="rect">
            <a:avLst/>
          </a:prstGeom>
          <a:noFill/>
          <a:ln/>
        </p:spPr>
        <p:txBody>
          <a:bodyPr wrap="square" lIns="0" tIns="0" rIns="0" bIns="0" rtlCol="0" anchor="ctr"/>
          <a:lstStyle/>
          <a:p>
            <a:pPr indent="0" marL="0">
              <a:buNone/>
            </a:pPr>
            <a:r>
              <a:rPr lang="en-US" sz="1400" dirty="0">
                <a:solidFill>
                  <a:srgbClr val="F4F3FF"/>
                </a:solidFill>
                <a:latin typeface="Calibri" pitchFamily="34" charset="0"/>
                <a:ea typeface="Calibri" pitchFamily="34" charset="-122"/>
                <a:cs typeface="Calibri" pitchFamily="34" charset="-120"/>
              </a:rPr>
              <a:t>Its JavaScript is sent to the browser</a:t>
            </a:r>
            <a:endParaRPr lang="en-US" sz="1400" dirty="0"/>
          </a:p>
        </p:txBody>
      </p:sp>
      <p:sp>
        <p:nvSpPr>
          <p:cNvPr id="33" name="Shape 19"/>
          <p:cNvSpPr/>
          <p:nvPr/>
        </p:nvSpPr>
        <p:spPr>
          <a:xfrm>
            <a:off x="548640" y="5486400"/>
            <a:ext cx="11091672" cy="640080"/>
          </a:xfrm>
          <a:prstGeom prst="roundRect">
            <a:avLst>
              <a:gd name="adj" fmla="val 17143"/>
            </a:avLst>
          </a:prstGeom>
          <a:solidFill>
            <a:srgbClr val="221E58"/>
          </a:solidFill>
          <a:ln w="12700">
            <a:solidFill>
              <a:srgbClr val="8B7CFF"/>
            </a:solidFill>
            <a:prstDash val="solid"/>
          </a:ln>
        </p:spPr>
      </p:sp>
      <p:sp>
        <p:nvSpPr>
          <p:cNvPr id="34" name="Text 20"/>
          <p:cNvSpPr txBox="1"/>
          <p:nvPr/>
        </p:nvSpPr>
        <p:spPr>
          <a:xfrm>
            <a:off x="777240" y="5486400"/>
            <a:ext cx="6949440" cy="640080"/>
          </a:xfrm>
          <a:prstGeom prst="rect">
            <a:avLst/>
          </a:prstGeom>
          <a:noFill/>
          <a:ln/>
        </p:spPr>
        <p:txBody>
          <a:bodyPr wrap="square" lIns="0" tIns="0" rIns="0" bIns="0" rtlCol="0" anchor="ctr"/>
          <a:lstStyle/>
          <a:p>
            <a:pPr indent="0" marL="0">
              <a:buNone/>
            </a:pPr>
            <a:r>
              <a:rPr lang="en-US" sz="1500" b="1" dirty="0">
                <a:solidFill>
                  <a:srgbClr val="F4F3FF"/>
                </a:solidFill>
                <a:latin typeface="Calibri" pitchFamily="34" charset="0"/>
                <a:ea typeface="Calibri" pitchFamily="34" charset="-122"/>
                <a:cs typeface="Calibri" pitchFamily="34" charset="-120"/>
              </a:rPr>
              <a:t>Default is the server. You opt in to the browser only when you need it:</a:t>
            </a:r>
            <a:endParaRPr lang="en-US" sz="1500" dirty="0"/>
          </a:p>
        </p:txBody>
      </p:sp>
      <p:sp>
        <p:nvSpPr>
          <p:cNvPr id="35" name="Text 21"/>
          <p:cNvSpPr txBox="1"/>
          <p:nvPr/>
        </p:nvSpPr>
        <p:spPr>
          <a:xfrm>
            <a:off x="7772400" y="5577840"/>
            <a:ext cx="2194560" cy="457200"/>
          </a:xfrm>
          <a:prstGeom prst="roundRect">
            <a:avLst>
              <a:gd name="adj" fmla="val 20000"/>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500" dirty="0">
                <a:solidFill>
                  <a:srgbClr val="86EFAC"/>
                </a:solidFill>
                <a:latin typeface="Courier New" pitchFamily="34" charset="0"/>
                <a:ea typeface="Courier New" pitchFamily="34" charset="-122"/>
                <a:cs typeface="Courier New" pitchFamily="34" charset="-120"/>
              </a:rPr>
              <a:t>"use client"</a:t>
            </a:r>
            <a:pPr algn="l" indent="0" marL="0">
              <a:buNone/>
            </a:pPr>
            <a:r>
              <a:rPr lang="en-US" sz="1500" dirty="0">
                <a:solidFill>
                  <a:srgbClr val="D6D3FF"/>
                </a:solidFill>
                <a:latin typeface="Courier New" pitchFamily="34" charset="0"/>
                <a:ea typeface="Courier New" pitchFamily="34" charset="-122"/>
                <a:cs typeface="Courier New" pitchFamily="34" charset="-120"/>
              </a:rPr>
              <a:t>;</a:t>
            </a:r>
            <a:endParaRPr lang="en-US" sz="15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COMPONENT CONCEPTS</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When does a component need "use client"?</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11</a:t>
            </a:r>
            <a:endParaRPr lang="en-US" sz="1100" dirty="0"/>
          </a:p>
        </p:txBody>
      </p:sp>
      <p:sp>
        <p:nvSpPr>
          <p:cNvPr id="7" name="Shape 3"/>
          <p:cNvSpPr/>
          <p:nvPr/>
        </p:nvSpPr>
        <p:spPr>
          <a:xfrm>
            <a:off x="548640" y="1737360"/>
            <a:ext cx="3931920" cy="777240"/>
          </a:xfrm>
          <a:prstGeom prst="roundRect">
            <a:avLst>
              <a:gd name="adj" fmla="val 14118"/>
            </a:avLst>
          </a:prstGeom>
          <a:solidFill>
            <a:srgbClr val="17143F"/>
          </a:solidFill>
          <a:ln w="12700">
            <a:solidFill>
              <a:srgbClr val="3A3580"/>
            </a:solidFill>
            <a:prstDash val="solid"/>
          </a:ln>
        </p:spPr>
      </p:sp>
      <p:sp>
        <p:nvSpPr>
          <p:cNvPr id="8" name="Shape 4"/>
          <p:cNvSpPr/>
          <p:nvPr/>
        </p:nvSpPr>
        <p:spPr>
          <a:xfrm>
            <a:off x="800100" y="1874520"/>
            <a:ext cx="502920" cy="502920"/>
          </a:xfrm>
          <a:prstGeom prst="ellipse">
            <a:avLst/>
          </a:prstGeom>
          <a:solidFill>
            <a:srgbClr val="221E58"/>
          </a:solidFill>
          <a:ln w="15875">
            <a:solidFill>
              <a:srgbClr val="FBBF24"/>
            </a:solidFill>
            <a:prstDash val="solid"/>
          </a:ln>
        </p:spPr>
      </p:sp>
      <p:pic>
        <p:nvPicPr>
          <p:cNvPr id="9" name="Image 1" descr="preencoded.png">    </p:cNvPr>
          <p:cNvPicPr>
            <a:picLocks noChangeAspect="1"/>
          </p:cNvPicPr>
          <p:nvPr/>
        </p:nvPicPr>
        <p:blipFill>
          <a:blip r:embed="rId3"/>
          <a:stretch>
            <a:fillRect/>
          </a:stretch>
        </p:blipFill>
        <p:spPr>
          <a:xfrm>
            <a:off x="925830" y="2000250"/>
            <a:ext cx="251460" cy="251460"/>
          </a:xfrm>
          <a:prstGeom prst="rect">
            <a:avLst/>
          </a:prstGeom>
        </p:spPr>
      </p:pic>
      <p:sp>
        <p:nvSpPr>
          <p:cNvPr id="10" name="Text 5"/>
          <p:cNvSpPr txBox="1"/>
          <p:nvPr/>
        </p:nvSpPr>
        <p:spPr>
          <a:xfrm>
            <a:off x="1508760" y="1828800"/>
            <a:ext cx="2834640" cy="320040"/>
          </a:xfrm>
          <a:prstGeom prst="rect">
            <a:avLst/>
          </a:prstGeom>
          <a:noFill/>
          <a:ln/>
        </p:spPr>
        <p:txBody>
          <a:bodyPr wrap="square" lIns="0" tIns="0" rIns="0" bIns="0" rtlCol="0" anchor="t"/>
          <a:lstStyle/>
          <a:p>
            <a:pPr indent="0" marL="0">
              <a:buNone/>
            </a:pPr>
            <a:r>
              <a:rPr lang="en-US" sz="1500" b="1" dirty="0">
                <a:solidFill>
                  <a:srgbClr val="F4F3FF"/>
                </a:solidFill>
                <a:latin typeface="Calibri" pitchFamily="34" charset="0"/>
                <a:ea typeface="Calibri" pitchFamily="34" charset="-122"/>
                <a:cs typeface="Calibri" pitchFamily="34" charset="-120"/>
              </a:rPr>
              <a:t>State or effects</a:t>
            </a:r>
            <a:endParaRPr lang="en-US" sz="1500" dirty="0"/>
          </a:p>
        </p:txBody>
      </p:sp>
      <p:sp>
        <p:nvSpPr>
          <p:cNvPr id="11" name="Text 6"/>
          <p:cNvSpPr txBox="1"/>
          <p:nvPr/>
        </p:nvSpPr>
        <p:spPr>
          <a:xfrm>
            <a:off x="1508760" y="2167128"/>
            <a:ext cx="2834640" cy="274320"/>
          </a:xfrm>
          <a:prstGeom prst="rect">
            <a:avLst/>
          </a:prstGeom>
          <a:noFill/>
          <a:ln/>
        </p:spPr>
        <p:txBody>
          <a:bodyPr wrap="square" lIns="0" tIns="0" rIns="0" bIns="0" rtlCol="0" anchor="t"/>
          <a:lstStyle/>
          <a:p>
            <a:pPr indent="0" marL="0">
              <a:buNone/>
            </a:pPr>
            <a:r>
              <a:rPr lang="en-US" sz="1200" dirty="0">
                <a:solidFill>
                  <a:srgbClr val="A8A5D8"/>
                </a:solidFill>
                <a:latin typeface="Courier New" pitchFamily="34" charset="0"/>
                <a:ea typeface="Courier New" pitchFamily="34" charset="-122"/>
                <a:cs typeface="Courier New" pitchFamily="34" charset="-120"/>
              </a:rPr>
              <a:t>useState, useEffect</a:t>
            </a:r>
            <a:endParaRPr lang="en-US" sz="1200" dirty="0"/>
          </a:p>
        </p:txBody>
      </p:sp>
      <p:sp>
        <p:nvSpPr>
          <p:cNvPr id="12" name="Shape 7"/>
          <p:cNvSpPr/>
          <p:nvPr/>
        </p:nvSpPr>
        <p:spPr>
          <a:xfrm>
            <a:off x="4526280" y="2125980"/>
            <a:ext cx="548640" cy="891540"/>
          </a:xfrm>
          <a:prstGeom prst="line">
            <a:avLst/>
          </a:prstGeom>
          <a:noFill/>
          <a:ln w="22225">
            <a:solidFill>
              <a:srgbClr val="A8A5D8"/>
            </a:solidFill>
            <a:prstDash val="solid"/>
            <a:tailEnd type="triangle"/>
          </a:ln>
        </p:spPr>
      </p:sp>
      <p:sp>
        <p:nvSpPr>
          <p:cNvPr id="13" name="Shape 8"/>
          <p:cNvSpPr/>
          <p:nvPr/>
        </p:nvSpPr>
        <p:spPr>
          <a:xfrm>
            <a:off x="548640" y="2697480"/>
            <a:ext cx="3931920" cy="777240"/>
          </a:xfrm>
          <a:prstGeom prst="roundRect">
            <a:avLst>
              <a:gd name="adj" fmla="val 14118"/>
            </a:avLst>
          </a:prstGeom>
          <a:solidFill>
            <a:srgbClr val="17143F"/>
          </a:solidFill>
          <a:ln w="12700">
            <a:solidFill>
              <a:srgbClr val="3A3580"/>
            </a:solidFill>
            <a:prstDash val="solid"/>
          </a:ln>
        </p:spPr>
      </p:sp>
      <p:sp>
        <p:nvSpPr>
          <p:cNvPr id="14" name="Shape 9"/>
          <p:cNvSpPr/>
          <p:nvPr/>
        </p:nvSpPr>
        <p:spPr>
          <a:xfrm>
            <a:off x="800100" y="2834640"/>
            <a:ext cx="502920" cy="502920"/>
          </a:xfrm>
          <a:prstGeom prst="ellipse">
            <a:avLst/>
          </a:prstGeom>
          <a:solidFill>
            <a:srgbClr val="221E58"/>
          </a:solidFill>
          <a:ln w="15875">
            <a:solidFill>
              <a:srgbClr val="FBBF24"/>
            </a:solidFill>
            <a:prstDash val="solid"/>
          </a:ln>
        </p:spPr>
      </p:sp>
      <p:pic>
        <p:nvPicPr>
          <p:cNvPr id="15" name="Image 2" descr="preencoded.png">    </p:cNvPr>
          <p:cNvPicPr>
            <a:picLocks noChangeAspect="1"/>
          </p:cNvPicPr>
          <p:nvPr/>
        </p:nvPicPr>
        <p:blipFill>
          <a:blip r:embed="rId4"/>
          <a:stretch>
            <a:fillRect/>
          </a:stretch>
        </p:blipFill>
        <p:spPr>
          <a:xfrm>
            <a:off x="925830" y="2960370"/>
            <a:ext cx="251460" cy="251460"/>
          </a:xfrm>
          <a:prstGeom prst="rect">
            <a:avLst/>
          </a:prstGeom>
        </p:spPr>
      </p:pic>
      <p:sp>
        <p:nvSpPr>
          <p:cNvPr id="16" name="Text 10"/>
          <p:cNvSpPr txBox="1"/>
          <p:nvPr/>
        </p:nvSpPr>
        <p:spPr>
          <a:xfrm>
            <a:off x="1508760" y="2788920"/>
            <a:ext cx="2834640" cy="320040"/>
          </a:xfrm>
          <a:prstGeom prst="rect">
            <a:avLst/>
          </a:prstGeom>
          <a:noFill/>
          <a:ln/>
        </p:spPr>
        <p:txBody>
          <a:bodyPr wrap="square" lIns="0" tIns="0" rIns="0" bIns="0" rtlCol="0" anchor="t"/>
          <a:lstStyle/>
          <a:p>
            <a:pPr indent="0" marL="0">
              <a:buNone/>
            </a:pPr>
            <a:r>
              <a:rPr lang="en-US" sz="1500" b="1" dirty="0">
                <a:solidFill>
                  <a:srgbClr val="F4F3FF"/>
                </a:solidFill>
                <a:latin typeface="Calibri" pitchFamily="34" charset="0"/>
                <a:ea typeface="Calibri" pitchFamily="34" charset="-122"/>
                <a:cs typeface="Calibri" pitchFamily="34" charset="-120"/>
              </a:rPr>
              <a:t>Event handlers</a:t>
            </a:r>
            <a:endParaRPr lang="en-US" sz="1500" dirty="0"/>
          </a:p>
        </p:txBody>
      </p:sp>
      <p:sp>
        <p:nvSpPr>
          <p:cNvPr id="17" name="Text 11"/>
          <p:cNvSpPr txBox="1"/>
          <p:nvPr/>
        </p:nvSpPr>
        <p:spPr>
          <a:xfrm>
            <a:off x="1508760" y="3127248"/>
            <a:ext cx="2834640" cy="274320"/>
          </a:xfrm>
          <a:prstGeom prst="rect">
            <a:avLst/>
          </a:prstGeom>
          <a:noFill/>
          <a:ln/>
        </p:spPr>
        <p:txBody>
          <a:bodyPr wrap="square" lIns="0" tIns="0" rIns="0" bIns="0" rtlCol="0" anchor="t"/>
          <a:lstStyle/>
          <a:p>
            <a:pPr indent="0" marL="0">
              <a:buNone/>
            </a:pPr>
            <a:r>
              <a:rPr lang="en-US" sz="1200" dirty="0">
                <a:solidFill>
                  <a:srgbClr val="A8A5D8"/>
                </a:solidFill>
                <a:latin typeface="Courier New" pitchFamily="34" charset="0"/>
                <a:ea typeface="Courier New" pitchFamily="34" charset="-122"/>
                <a:cs typeface="Courier New" pitchFamily="34" charset="-120"/>
              </a:rPr>
              <a:t>onClick, onChange</a:t>
            </a:r>
            <a:endParaRPr lang="en-US" sz="1200" dirty="0"/>
          </a:p>
        </p:txBody>
      </p:sp>
      <p:sp>
        <p:nvSpPr>
          <p:cNvPr id="18" name="Shape 12"/>
          <p:cNvSpPr/>
          <p:nvPr/>
        </p:nvSpPr>
        <p:spPr>
          <a:xfrm flipV="1">
            <a:off x="4526280" y="3017520"/>
            <a:ext cx="548640" cy="68580"/>
          </a:xfrm>
          <a:prstGeom prst="line">
            <a:avLst/>
          </a:prstGeom>
          <a:noFill/>
          <a:ln w="22225">
            <a:solidFill>
              <a:srgbClr val="A8A5D8"/>
            </a:solidFill>
            <a:prstDash val="solid"/>
            <a:tailEnd type="triangle"/>
          </a:ln>
        </p:spPr>
      </p:sp>
      <p:sp>
        <p:nvSpPr>
          <p:cNvPr id="19" name="Shape 13"/>
          <p:cNvSpPr/>
          <p:nvPr/>
        </p:nvSpPr>
        <p:spPr>
          <a:xfrm>
            <a:off x="548640" y="3657600"/>
            <a:ext cx="3931920" cy="777240"/>
          </a:xfrm>
          <a:prstGeom prst="roundRect">
            <a:avLst>
              <a:gd name="adj" fmla="val 14118"/>
            </a:avLst>
          </a:prstGeom>
          <a:solidFill>
            <a:srgbClr val="17143F"/>
          </a:solidFill>
          <a:ln w="12700">
            <a:solidFill>
              <a:srgbClr val="3A3580"/>
            </a:solidFill>
            <a:prstDash val="solid"/>
          </a:ln>
        </p:spPr>
      </p:sp>
      <p:sp>
        <p:nvSpPr>
          <p:cNvPr id="20" name="Shape 14"/>
          <p:cNvSpPr/>
          <p:nvPr/>
        </p:nvSpPr>
        <p:spPr>
          <a:xfrm>
            <a:off x="800100" y="3794760"/>
            <a:ext cx="502920" cy="502920"/>
          </a:xfrm>
          <a:prstGeom prst="ellipse">
            <a:avLst/>
          </a:prstGeom>
          <a:solidFill>
            <a:srgbClr val="221E58"/>
          </a:solidFill>
          <a:ln w="15875">
            <a:solidFill>
              <a:srgbClr val="FBBF24"/>
            </a:solidFill>
            <a:prstDash val="solid"/>
          </a:ln>
        </p:spPr>
      </p:sp>
      <p:pic>
        <p:nvPicPr>
          <p:cNvPr id="21" name="Image 3" descr="preencoded.png">    </p:cNvPr>
          <p:cNvPicPr>
            <a:picLocks noChangeAspect="1"/>
          </p:cNvPicPr>
          <p:nvPr/>
        </p:nvPicPr>
        <p:blipFill>
          <a:blip r:embed="rId5"/>
          <a:stretch>
            <a:fillRect/>
          </a:stretch>
        </p:blipFill>
        <p:spPr>
          <a:xfrm>
            <a:off x="925830" y="3920490"/>
            <a:ext cx="251460" cy="251460"/>
          </a:xfrm>
          <a:prstGeom prst="rect">
            <a:avLst/>
          </a:prstGeom>
        </p:spPr>
      </p:pic>
      <p:sp>
        <p:nvSpPr>
          <p:cNvPr id="22" name="Text 15"/>
          <p:cNvSpPr txBox="1"/>
          <p:nvPr/>
        </p:nvSpPr>
        <p:spPr>
          <a:xfrm>
            <a:off x="1508760" y="3749040"/>
            <a:ext cx="2834640" cy="320040"/>
          </a:xfrm>
          <a:prstGeom prst="rect">
            <a:avLst/>
          </a:prstGeom>
          <a:noFill/>
          <a:ln/>
        </p:spPr>
        <p:txBody>
          <a:bodyPr wrap="square" lIns="0" tIns="0" rIns="0" bIns="0" rtlCol="0" anchor="t"/>
          <a:lstStyle/>
          <a:p>
            <a:pPr indent="0" marL="0">
              <a:buNone/>
            </a:pPr>
            <a:r>
              <a:rPr lang="en-US" sz="1500" b="1" dirty="0">
                <a:solidFill>
                  <a:srgbClr val="F4F3FF"/>
                </a:solidFill>
                <a:latin typeface="Calibri" pitchFamily="34" charset="0"/>
                <a:ea typeface="Calibri" pitchFamily="34" charset="-122"/>
                <a:cs typeface="Calibri" pitchFamily="34" charset="-120"/>
              </a:rPr>
              <a:t>Browser-only APIs</a:t>
            </a:r>
            <a:endParaRPr lang="en-US" sz="1500" dirty="0"/>
          </a:p>
        </p:txBody>
      </p:sp>
      <p:sp>
        <p:nvSpPr>
          <p:cNvPr id="23" name="Text 16"/>
          <p:cNvSpPr txBox="1"/>
          <p:nvPr/>
        </p:nvSpPr>
        <p:spPr>
          <a:xfrm>
            <a:off x="1508760" y="4087368"/>
            <a:ext cx="2834640" cy="274320"/>
          </a:xfrm>
          <a:prstGeom prst="rect">
            <a:avLst/>
          </a:prstGeom>
          <a:noFill/>
          <a:ln/>
        </p:spPr>
        <p:txBody>
          <a:bodyPr wrap="square" lIns="0" tIns="0" rIns="0" bIns="0" rtlCol="0" anchor="t"/>
          <a:lstStyle/>
          <a:p>
            <a:pPr indent="0" marL="0">
              <a:buNone/>
            </a:pPr>
            <a:r>
              <a:rPr lang="en-US" sz="1200" dirty="0">
                <a:solidFill>
                  <a:srgbClr val="A8A5D8"/>
                </a:solidFill>
                <a:latin typeface="Courier New" pitchFamily="34" charset="0"/>
                <a:ea typeface="Courier New" pitchFamily="34" charset="-122"/>
                <a:cs typeface="Courier New" pitchFamily="34" charset="-120"/>
              </a:rPr>
              <a:t>window, localStorage</a:t>
            </a:r>
            <a:endParaRPr lang="en-US" sz="1200" dirty="0"/>
          </a:p>
        </p:txBody>
      </p:sp>
      <p:sp>
        <p:nvSpPr>
          <p:cNvPr id="24" name="Shape 17"/>
          <p:cNvSpPr/>
          <p:nvPr/>
        </p:nvSpPr>
        <p:spPr>
          <a:xfrm flipV="1">
            <a:off x="4526280" y="3017520"/>
            <a:ext cx="548640" cy="1028700"/>
          </a:xfrm>
          <a:prstGeom prst="line">
            <a:avLst/>
          </a:prstGeom>
          <a:noFill/>
          <a:ln w="22225">
            <a:solidFill>
              <a:srgbClr val="A8A5D8"/>
            </a:solidFill>
            <a:prstDash val="solid"/>
            <a:tailEnd type="triangle"/>
          </a:ln>
        </p:spPr>
      </p:sp>
      <p:sp>
        <p:nvSpPr>
          <p:cNvPr id="25" name="Text 18"/>
          <p:cNvSpPr txBox="1"/>
          <p:nvPr/>
        </p:nvSpPr>
        <p:spPr>
          <a:xfrm>
            <a:off x="5120640" y="2514600"/>
            <a:ext cx="2194560" cy="1005840"/>
          </a:xfrm>
          <a:prstGeom prst="roundRect">
            <a:avLst>
              <a:gd name="adj" fmla="val 9091"/>
            </a:avLst>
          </a:prstGeom>
          <a:solidFill>
            <a:srgbClr val="221E58"/>
          </a:solidFill>
          <a:ln w="25400">
            <a:solidFill>
              <a:srgbClr val="8B7CFF"/>
            </a:solidFill>
            <a:prstDash val="solid"/>
          </a:ln>
        </p:spPr>
        <p:txBody>
          <a:bodyPr wrap="square" lIns="50800" tIns="50800" rIns="50800" bIns="50800" rtlCol="0" anchor="ctr"/>
          <a:lstStyle/>
          <a:p>
            <a:pPr algn="ctr" indent="0" marL="0">
              <a:buNone/>
            </a:pPr>
            <a:r>
              <a:rPr lang="en-US" sz="1600" b="1" dirty="0">
                <a:solidFill>
                  <a:srgbClr val="F4F3FF"/>
                </a:solidFill>
                <a:latin typeface="Calibri" pitchFamily="34" charset="0"/>
                <a:ea typeface="Calibri" pitchFamily="34" charset="-122"/>
                <a:cs typeface="Calibri" pitchFamily="34" charset="-120"/>
              </a:rPr>
              <a:t>Needs any of these?</a:t>
            </a:r>
            <a:endParaRPr lang="en-US" sz="1600" dirty="0"/>
          </a:p>
        </p:txBody>
      </p:sp>
      <p:sp>
        <p:nvSpPr>
          <p:cNvPr id="26" name="Shape 19"/>
          <p:cNvSpPr/>
          <p:nvPr/>
        </p:nvSpPr>
        <p:spPr>
          <a:xfrm flipV="1">
            <a:off x="7360920" y="2286000"/>
            <a:ext cx="914400" cy="594360"/>
          </a:xfrm>
          <a:prstGeom prst="line">
            <a:avLst/>
          </a:prstGeom>
          <a:noFill/>
          <a:ln w="31750">
            <a:solidFill>
              <a:srgbClr val="FBBF24"/>
            </a:solidFill>
            <a:prstDash val="solid"/>
            <a:tailEnd type="triangle"/>
          </a:ln>
        </p:spPr>
      </p:sp>
      <p:sp>
        <p:nvSpPr>
          <p:cNvPr id="27" name="Shape 20"/>
          <p:cNvSpPr/>
          <p:nvPr/>
        </p:nvSpPr>
        <p:spPr>
          <a:xfrm>
            <a:off x="7360920" y="3154680"/>
            <a:ext cx="914400" cy="777240"/>
          </a:xfrm>
          <a:prstGeom prst="line">
            <a:avLst/>
          </a:prstGeom>
          <a:noFill/>
          <a:ln w="31750">
            <a:solidFill>
              <a:srgbClr val="22D3EE"/>
            </a:solidFill>
            <a:prstDash val="solid"/>
            <a:tailEnd type="triangle"/>
          </a:ln>
        </p:spPr>
      </p:sp>
      <p:sp>
        <p:nvSpPr>
          <p:cNvPr id="28" name="Text 21"/>
          <p:cNvSpPr txBox="1"/>
          <p:nvPr/>
        </p:nvSpPr>
        <p:spPr>
          <a:xfrm>
            <a:off x="7635240" y="2331720"/>
            <a:ext cx="548640" cy="274320"/>
          </a:xfrm>
          <a:prstGeom prst="rect">
            <a:avLst/>
          </a:prstGeom>
          <a:noFill/>
          <a:ln/>
        </p:spPr>
        <p:txBody>
          <a:bodyPr wrap="square" lIns="0" tIns="0" rIns="0" bIns="0" rtlCol="0" anchor="t"/>
          <a:lstStyle/>
          <a:p>
            <a:pPr indent="0" marL="0">
              <a:buNone/>
            </a:pPr>
            <a:r>
              <a:rPr lang="en-US" sz="1300" b="1" dirty="0">
                <a:solidFill>
                  <a:srgbClr val="FBBF24"/>
                </a:solidFill>
                <a:latin typeface="Calibri" pitchFamily="34" charset="0"/>
                <a:ea typeface="Calibri" pitchFamily="34" charset="-122"/>
                <a:cs typeface="Calibri" pitchFamily="34" charset="-120"/>
              </a:rPr>
              <a:t>Yes</a:t>
            </a:r>
            <a:endParaRPr lang="en-US" sz="1300" dirty="0"/>
          </a:p>
        </p:txBody>
      </p:sp>
      <p:sp>
        <p:nvSpPr>
          <p:cNvPr id="29" name="Text 22"/>
          <p:cNvSpPr txBox="1"/>
          <p:nvPr/>
        </p:nvSpPr>
        <p:spPr>
          <a:xfrm>
            <a:off x="7635240" y="3657600"/>
            <a:ext cx="548640" cy="274320"/>
          </a:xfrm>
          <a:prstGeom prst="rect">
            <a:avLst/>
          </a:prstGeom>
          <a:noFill/>
          <a:ln/>
        </p:spPr>
        <p:txBody>
          <a:bodyPr wrap="square" lIns="0" tIns="0" rIns="0" bIns="0" rtlCol="0" anchor="t"/>
          <a:lstStyle/>
          <a:p>
            <a:pPr indent="0" marL="0">
              <a:buNone/>
            </a:pPr>
            <a:r>
              <a:rPr lang="en-US" sz="1300" b="1" dirty="0">
                <a:solidFill>
                  <a:srgbClr val="22D3EE"/>
                </a:solidFill>
                <a:latin typeface="Calibri" pitchFamily="34" charset="0"/>
                <a:ea typeface="Calibri" pitchFamily="34" charset="-122"/>
                <a:cs typeface="Calibri" pitchFamily="34" charset="-120"/>
              </a:rPr>
              <a:t>No</a:t>
            </a:r>
            <a:endParaRPr lang="en-US" sz="1300" dirty="0"/>
          </a:p>
        </p:txBody>
      </p:sp>
      <p:sp>
        <p:nvSpPr>
          <p:cNvPr id="30" name="Text 23"/>
          <p:cNvSpPr txBox="1"/>
          <p:nvPr/>
        </p:nvSpPr>
        <p:spPr>
          <a:xfrm>
            <a:off x="8366760" y="1783080"/>
            <a:ext cx="3273552" cy="1051560"/>
          </a:xfrm>
          <a:prstGeom prst="roundRect">
            <a:avLst>
              <a:gd name="adj" fmla="val 8696"/>
            </a:avLst>
          </a:prstGeom>
          <a:solidFill>
            <a:srgbClr val="17143F"/>
          </a:solidFill>
          <a:ln w="22225">
            <a:solidFill>
              <a:srgbClr val="FBBF24"/>
            </a:solidFill>
            <a:prstDash val="solid"/>
          </a:ln>
        </p:spPr>
        <p:txBody>
          <a:bodyPr wrap="square" lIns="50800" tIns="50800" rIns="50800" bIns="50800" rtlCol="0" anchor="ctr"/>
          <a:lstStyle/>
          <a:p>
            <a:pPr algn="ctr" indent="0" marL="0">
              <a:buNone/>
            </a:pPr>
            <a:r>
              <a:rPr lang="en-US" sz="1800" b="1" dirty="0">
                <a:solidFill>
                  <a:srgbClr val="F4F3FF"/>
                </a:solidFill>
                <a:latin typeface="Calibri" pitchFamily="34" charset="0"/>
                <a:ea typeface="Calibri" pitchFamily="34" charset="-122"/>
                <a:cs typeface="Calibri" pitchFamily="34" charset="-120"/>
              </a:rPr>
              <a:t>Client Component</a:t>
            </a:r>
            <a:endParaRPr lang="en-US" sz="1300" dirty="0"/>
          </a:p>
          <a:p>
            <a:pPr algn="ctr" indent="0" marL="0">
              <a:buNone/>
            </a:pPr>
            <a:r>
              <a:rPr lang="en-US" sz="1200" dirty="0">
                <a:solidFill>
                  <a:srgbClr val="FBBF24"/>
                </a:solidFill>
                <a:latin typeface="Courier New" pitchFamily="34" charset="0"/>
                <a:ea typeface="Courier New" pitchFamily="34" charset="-122"/>
                <a:cs typeface="Courier New" pitchFamily="34" charset="-120"/>
              </a:rPr>
              <a:t>"use client" at the top</a:t>
            </a:r>
            <a:endParaRPr lang="en-US" sz="1300" dirty="0"/>
          </a:p>
        </p:txBody>
      </p:sp>
      <p:sp>
        <p:nvSpPr>
          <p:cNvPr id="31" name="Text 24"/>
          <p:cNvSpPr txBox="1"/>
          <p:nvPr/>
        </p:nvSpPr>
        <p:spPr>
          <a:xfrm>
            <a:off x="8366760" y="3429000"/>
            <a:ext cx="3273552" cy="1051560"/>
          </a:xfrm>
          <a:prstGeom prst="roundRect">
            <a:avLst>
              <a:gd name="adj" fmla="val 8696"/>
            </a:avLst>
          </a:prstGeom>
          <a:solidFill>
            <a:srgbClr val="17143F"/>
          </a:solidFill>
          <a:ln w="22225">
            <a:solidFill>
              <a:srgbClr val="22D3EE"/>
            </a:solidFill>
            <a:prstDash val="solid"/>
          </a:ln>
        </p:spPr>
        <p:txBody>
          <a:bodyPr wrap="square" lIns="50800" tIns="50800" rIns="50800" bIns="50800" rtlCol="0" anchor="ctr"/>
          <a:lstStyle/>
          <a:p>
            <a:pPr algn="ctr" indent="0" marL="0">
              <a:buNone/>
            </a:pPr>
            <a:r>
              <a:rPr lang="en-US" sz="1800" b="1" dirty="0">
                <a:solidFill>
                  <a:srgbClr val="F4F3FF"/>
                </a:solidFill>
                <a:latin typeface="Calibri" pitchFamily="34" charset="0"/>
                <a:ea typeface="Calibri" pitchFamily="34" charset="-122"/>
                <a:cs typeface="Calibri" pitchFamily="34" charset="-120"/>
              </a:rPr>
              <a:t>Server Component</a:t>
            </a:r>
            <a:endParaRPr lang="en-US" sz="1300" dirty="0"/>
          </a:p>
          <a:p>
            <a:pPr algn="ctr" indent="0" marL="0">
              <a:buNone/>
            </a:pPr>
            <a:r>
              <a:rPr lang="en-US" sz="1200" dirty="0">
                <a:solidFill>
                  <a:srgbClr val="22D3EE"/>
                </a:solidFill>
                <a:latin typeface="Courier New" pitchFamily="34" charset="0"/>
                <a:ea typeface="Courier New" pitchFamily="34" charset="-122"/>
                <a:cs typeface="Courier New" pitchFamily="34" charset="-120"/>
              </a:rPr>
              <a:t>default, add nothing</a:t>
            </a:r>
            <a:endParaRPr lang="en-US" sz="1300" dirty="0"/>
          </a:p>
        </p:txBody>
      </p:sp>
      <p:sp>
        <p:nvSpPr>
          <p:cNvPr id="32" name="Shape 25"/>
          <p:cNvSpPr/>
          <p:nvPr/>
        </p:nvSpPr>
        <p:spPr>
          <a:xfrm>
            <a:off x="548640" y="4937760"/>
            <a:ext cx="11091672" cy="1188720"/>
          </a:xfrm>
          <a:prstGeom prst="roundRect">
            <a:avLst>
              <a:gd name="adj" fmla="val 9231"/>
            </a:avLst>
          </a:prstGeom>
          <a:solidFill>
            <a:srgbClr val="221E58"/>
          </a:solidFill>
          <a:ln w="12700">
            <a:solidFill>
              <a:srgbClr val="8B7CFF"/>
            </a:solidFill>
            <a:prstDash val="solid"/>
          </a:ln>
        </p:spPr>
      </p:sp>
      <p:pic>
        <p:nvPicPr>
          <p:cNvPr id="33" name="Image 4" descr="preencoded.png">    </p:cNvPr>
          <p:cNvPicPr>
            <a:picLocks noChangeAspect="1"/>
          </p:cNvPicPr>
          <p:nvPr/>
        </p:nvPicPr>
        <p:blipFill>
          <a:blip r:embed="rId6"/>
          <a:stretch>
            <a:fillRect/>
          </a:stretch>
        </p:blipFill>
        <p:spPr>
          <a:xfrm>
            <a:off x="822960" y="5303520"/>
            <a:ext cx="457200" cy="457200"/>
          </a:xfrm>
          <a:prstGeom prst="rect">
            <a:avLst/>
          </a:prstGeom>
        </p:spPr>
      </p:pic>
      <p:sp>
        <p:nvSpPr>
          <p:cNvPr id="34" name="Text 26"/>
          <p:cNvSpPr txBox="1"/>
          <p:nvPr/>
        </p:nvSpPr>
        <p:spPr>
          <a:xfrm>
            <a:off x="1463040" y="5029200"/>
            <a:ext cx="9875520" cy="365760"/>
          </a:xfrm>
          <a:prstGeom prst="rect">
            <a:avLst/>
          </a:prstGeom>
          <a:noFill/>
          <a:ln/>
        </p:spPr>
        <p:txBody>
          <a:bodyPr wrap="square" lIns="0" tIns="0" rIns="0" bIns="0" rtlCol="0" anchor="t"/>
          <a:lstStyle/>
          <a:p>
            <a:pPr indent="0" marL="0">
              <a:buNone/>
            </a:pPr>
            <a:r>
              <a:rPr lang="en-US" sz="1800" b="1" dirty="0">
                <a:solidFill>
                  <a:srgbClr val="F4F3FF"/>
                </a:solidFill>
                <a:latin typeface="Calibri" pitchFamily="34" charset="0"/>
                <a:ea typeface="Calibri" pitchFamily="34" charset="-122"/>
                <a:cs typeface="Calibri" pitchFamily="34" charset="-120"/>
              </a:rPr>
              <a:t>Push the boundary down</a:t>
            </a:r>
            <a:endParaRPr lang="en-US" sz="1800" dirty="0"/>
          </a:p>
        </p:txBody>
      </p:sp>
      <p:sp>
        <p:nvSpPr>
          <p:cNvPr id="35" name="Text 27"/>
          <p:cNvSpPr txBox="1"/>
          <p:nvPr/>
        </p:nvSpPr>
        <p:spPr>
          <a:xfrm>
            <a:off x="1463040" y="5486400"/>
            <a:ext cx="9875520" cy="548640"/>
          </a:xfrm>
          <a:prstGeom prst="rect">
            <a:avLst/>
          </a:prstGeom>
          <a:noFill/>
          <a:ln/>
        </p:spPr>
        <p:txBody>
          <a:bodyPr wrap="square" lIns="0" tIns="0" rIns="0" bIns="0" rtlCol="0" anchor="t"/>
          <a:lstStyle/>
          <a:p>
            <a:pPr indent="0" marL="0">
              <a:buNone/>
            </a:pPr>
            <a:r>
              <a:rPr lang="en-US" sz="1400" dirty="0">
                <a:solidFill>
                  <a:srgbClr val="A8A5D8"/>
                </a:solidFill>
                <a:latin typeface="Calibri" pitchFamily="34" charset="0"/>
                <a:ea typeface="Calibri" pitchFamily="34" charset="-122"/>
                <a:cs typeface="Calibri" pitchFamily="34" charset="-120"/>
              </a:rPr>
              <a:t>Make the small interactive piece (a button, a search box) a Client Component, not the whole page. Only these islands ship JavaScript to the browser.</a:t>
            </a:r>
            <a:endParaRPr lang="en-US" sz="14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NEXT.JS OPTIMIZATIONS</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Next.js optimizes the boring but important parts</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12</a:t>
            </a:r>
            <a:endParaRPr lang="en-US" sz="1100" dirty="0"/>
          </a:p>
        </p:txBody>
      </p:sp>
      <p:sp>
        <p:nvSpPr>
          <p:cNvPr id="7" name="Shape 3"/>
          <p:cNvSpPr/>
          <p:nvPr/>
        </p:nvSpPr>
        <p:spPr>
          <a:xfrm>
            <a:off x="548640" y="1600200"/>
            <a:ext cx="2606040" cy="3063240"/>
          </a:xfrm>
          <a:prstGeom prst="roundRect">
            <a:avLst>
              <a:gd name="adj" fmla="val 4211"/>
            </a:avLst>
          </a:prstGeom>
          <a:solidFill>
            <a:srgbClr val="17143F"/>
          </a:solidFill>
          <a:ln w="12700">
            <a:solidFill>
              <a:srgbClr val="8B7CFF"/>
            </a:solidFill>
            <a:prstDash val="solid"/>
          </a:ln>
        </p:spPr>
      </p:sp>
      <p:sp>
        <p:nvSpPr>
          <p:cNvPr id="8" name="Shape 4"/>
          <p:cNvSpPr/>
          <p:nvPr/>
        </p:nvSpPr>
        <p:spPr>
          <a:xfrm>
            <a:off x="800100" y="1943100"/>
            <a:ext cx="685800" cy="685800"/>
          </a:xfrm>
          <a:prstGeom prst="ellipse">
            <a:avLst/>
          </a:prstGeom>
          <a:solidFill>
            <a:srgbClr val="221E58"/>
          </a:solidFill>
          <a:ln w="15875">
            <a:solidFill>
              <a:srgbClr val="8B7CFF"/>
            </a:solidFill>
            <a:prstDash val="solid"/>
          </a:ln>
        </p:spPr>
      </p:sp>
      <p:pic>
        <p:nvPicPr>
          <p:cNvPr id="9" name="Image 1" descr="preencoded.png">    </p:cNvPr>
          <p:cNvPicPr>
            <a:picLocks noChangeAspect="1"/>
          </p:cNvPicPr>
          <p:nvPr/>
        </p:nvPicPr>
        <p:blipFill>
          <a:blip r:embed="rId3"/>
          <a:stretch>
            <a:fillRect/>
          </a:stretch>
        </p:blipFill>
        <p:spPr>
          <a:xfrm>
            <a:off x="971550" y="2114550"/>
            <a:ext cx="342900" cy="342900"/>
          </a:xfrm>
          <a:prstGeom prst="rect">
            <a:avLst/>
          </a:prstGeom>
        </p:spPr>
      </p:pic>
      <p:sp>
        <p:nvSpPr>
          <p:cNvPr id="10" name="Text 5"/>
          <p:cNvSpPr txBox="1"/>
          <p:nvPr/>
        </p:nvSpPr>
        <p:spPr>
          <a:xfrm>
            <a:off x="777240" y="2880360"/>
            <a:ext cx="2194560" cy="365760"/>
          </a:xfrm>
          <a:prstGeom prst="rect">
            <a:avLst/>
          </a:prstGeom>
          <a:noFill/>
          <a:ln/>
        </p:spPr>
        <p:txBody>
          <a:bodyPr wrap="square" lIns="0" tIns="0" rIns="0" bIns="0" rtlCol="0" anchor="t"/>
          <a:lstStyle/>
          <a:p>
            <a:pPr indent="0" marL="0">
              <a:buNone/>
            </a:pPr>
            <a:r>
              <a:rPr lang="en-US" sz="1900" b="1" dirty="0">
                <a:solidFill>
                  <a:srgbClr val="F4F3FF"/>
                </a:solidFill>
                <a:latin typeface="Courier New" pitchFamily="34" charset="0"/>
                <a:ea typeface="Courier New" pitchFamily="34" charset="-122"/>
                <a:cs typeface="Courier New" pitchFamily="34" charset="-120"/>
              </a:rPr>
              <a:t>next/image</a:t>
            </a:r>
            <a:endParaRPr lang="en-US" sz="1900" dirty="0"/>
          </a:p>
        </p:txBody>
      </p:sp>
      <p:sp>
        <p:nvSpPr>
          <p:cNvPr id="11" name="Text 6"/>
          <p:cNvSpPr txBox="1"/>
          <p:nvPr/>
        </p:nvSpPr>
        <p:spPr>
          <a:xfrm>
            <a:off x="777240" y="3383280"/>
            <a:ext cx="2194560" cy="118872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Resizes, compresses and lazy-loads images. Reserves space so nothing jumps.</a:t>
            </a:r>
            <a:endParaRPr lang="en-US" sz="1300" dirty="0"/>
          </a:p>
        </p:txBody>
      </p:sp>
      <p:sp>
        <p:nvSpPr>
          <p:cNvPr id="12" name="Shape 7"/>
          <p:cNvSpPr/>
          <p:nvPr/>
        </p:nvSpPr>
        <p:spPr>
          <a:xfrm>
            <a:off x="3374136" y="1600200"/>
            <a:ext cx="2606040" cy="3063240"/>
          </a:xfrm>
          <a:prstGeom prst="roundRect">
            <a:avLst>
              <a:gd name="adj" fmla="val 4211"/>
            </a:avLst>
          </a:prstGeom>
          <a:solidFill>
            <a:srgbClr val="17143F"/>
          </a:solidFill>
          <a:ln w="12700">
            <a:solidFill>
              <a:srgbClr val="22D3EE"/>
            </a:solidFill>
            <a:prstDash val="solid"/>
          </a:ln>
        </p:spPr>
      </p:sp>
      <p:sp>
        <p:nvSpPr>
          <p:cNvPr id="13" name="Shape 8"/>
          <p:cNvSpPr/>
          <p:nvPr/>
        </p:nvSpPr>
        <p:spPr>
          <a:xfrm>
            <a:off x="3625596" y="1943100"/>
            <a:ext cx="685800" cy="685800"/>
          </a:xfrm>
          <a:prstGeom prst="ellipse">
            <a:avLst/>
          </a:prstGeom>
          <a:solidFill>
            <a:srgbClr val="221E58"/>
          </a:solidFill>
          <a:ln w="15875">
            <a:solidFill>
              <a:srgbClr val="22D3EE"/>
            </a:solidFill>
            <a:prstDash val="solid"/>
          </a:ln>
        </p:spPr>
      </p:sp>
      <p:pic>
        <p:nvPicPr>
          <p:cNvPr id="14" name="Image 2" descr="preencoded.png">    </p:cNvPr>
          <p:cNvPicPr>
            <a:picLocks noChangeAspect="1"/>
          </p:cNvPicPr>
          <p:nvPr/>
        </p:nvPicPr>
        <p:blipFill>
          <a:blip r:embed="rId4"/>
          <a:stretch>
            <a:fillRect/>
          </a:stretch>
        </p:blipFill>
        <p:spPr>
          <a:xfrm>
            <a:off x="3797046" y="2114550"/>
            <a:ext cx="342900" cy="342900"/>
          </a:xfrm>
          <a:prstGeom prst="rect">
            <a:avLst/>
          </a:prstGeom>
        </p:spPr>
      </p:pic>
      <p:sp>
        <p:nvSpPr>
          <p:cNvPr id="15" name="Text 9"/>
          <p:cNvSpPr txBox="1"/>
          <p:nvPr/>
        </p:nvSpPr>
        <p:spPr>
          <a:xfrm>
            <a:off x="3602736" y="2880360"/>
            <a:ext cx="2194560" cy="365760"/>
          </a:xfrm>
          <a:prstGeom prst="rect">
            <a:avLst/>
          </a:prstGeom>
          <a:noFill/>
          <a:ln/>
        </p:spPr>
        <p:txBody>
          <a:bodyPr wrap="square" lIns="0" tIns="0" rIns="0" bIns="0" rtlCol="0" anchor="t"/>
          <a:lstStyle/>
          <a:p>
            <a:pPr indent="0" marL="0">
              <a:buNone/>
            </a:pPr>
            <a:r>
              <a:rPr lang="en-US" sz="1900" b="1" dirty="0">
                <a:solidFill>
                  <a:srgbClr val="F4F3FF"/>
                </a:solidFill>
                <a:latin typeface="Courier New" pitchFamily="34" charset="0"/>
                <a:ea typeface="Courier New" pitchFamily="34" charset="-122"/>
                <a:cs typeface="Courier New" pitchFamily="34" charset="-120"/>
              </a:rPr>
              <a:t>next/font</a:t>
            </a:r>
            <a:endParaRPr lang="en-US" sz="1900" dirty="0"/>
          </a:p>
        </p:txBody>
      </p:sp>
      <p:sp>
        <p:nvSpPr>
          <p:cNvPr id="16" name="Text 10"/>
          <p:cNvSpPr txBox="1"/>
          <p:nvPr/>
        </p:nvSpPr>
        <p:spPr>
          <a:xfrm>
            <a:off x="3602736" y="3383280"/>
            <a:ext cx="2194560" cy="118872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Self-hosts fonts. No extra request to font servers and no layout shift.</a:t>
            </a:r>
            <a:endParaRPr lang="en-US" sz="1300" dirty="0"/>
          </a:p>
        </p:txBody>
      </p:sp>
      <p:sp>
        <p:nvSpPr>
          <p:cNvPr id="17" name="Shape 11"/>
          <p:cNvSpPr/>
          <p:nvPr/>
        </p:nvSpPr>
        <p:spPr>
          <a:xfrm>
            <a:off x="6199632" y="1600200"/>
            <a:ext cx="2606040" cy="3063240"/>
          </a:xfrm>
          <a:prstGeom prst="roundRect">
            <a:avLst>
              <a:gd name="adj" fmla="val 4211"/>
            </a:avLst>
          </a:prstGeom>
          <a:solidFill>
            <a:srgbClr val="17143F"/>
          </a:solidFill>
          <a:ln w="12700">
            <a:solidFill>
              <a:srgbClr val="FBBF24"/>
            </a:solidFill>
            <a:prstDash val="solid"/>
          </a:ln>
        </p:spPr>
      </p:sp>
      <p:sp>
        <p:nvSpPr>
          <p:cNvPr id="18" name="Shape 12"/>
          <p:cNvSpPr/>
          <p:nvPr/>
        </p:nvSpPr>
        <p:spPr>
          <a:xfrm>
            <a:off x="6451092" y="1943100"/>
            <a:ext cx="685800" cy="685800"/>
          </a:xfrm>
          <a:prstGeom prst="ellipse">
            <a:avLst/>
          </a:prstGeom>
          <a:solidFill>
            <a:srgbClr val="221E58"/>
          </a:solidFill>
          <a:ln w="15875">
            <a:solidFill>
              <a:srgbClr val="FBBF24"/>
            </a:solidFill>
            <a:prstDash val="solid"/>
          </a:ln>
        </p:spPr>
      </p:sp>
      <p:pic>
        <p:nvPicPr>
          <p:cNvPr id="19" name="Image 3" descr="preencoded.png">    </p:cNvPr>
          <p:cNvPicPr>
            <a:picLocks noChangeAspect="1"/>
          </p:cNvPicPr>
          <p:nvPr/>
        </p:nvPicPr>
        <p:blipFill>
          <a:blip r:embed="rId5"/>
          <a:stretch>
            <a:fillRect/>
          </a:stretch>
        </p:blipFill>
        <p:spPr>
          <a:xfrm>
            <a:off x="6622542" y="2114550"/>
            <a:ext cx="342900" cy="342900"/>
          </a:xfrm>
          <a:prstGeom prst="rect">
            <a:avLst/>
          </a:prstGeom>
        </p:spPr>
      </p:pic>
      <p:sp>
        <p:nvSpPr>
          <p:cNvPr id="20" name="Text 13"/>
          <p:cNvSpPr txBox="1"/>
          <p:nvPr/>
        </p:nvSpPr>
        <p:spPr>
          <a:xfrm>
            <a:off x="6428232" y="2880360"/>
            <a:ext cx="2194560" cy="365760"/>
          </a:xfrm>
          <a:prstGeom prst="rect">
            <a:avLst/>
          </a:prstGeom>
          <a:noFill/>
          <a:ln/>
        </p:spPr>
        <p:txBody>
          <a:bodyPr wrap="square" lIns="0" tIns="0" rIns="0" bIns="0" rtlCol="0" anchor="t"/>
          <a:lstStyle/>
          <a:p>
            <a:pPr indent="0" marL="0">
              <a:buNone/>
            </a:pPr>
            <a:r>
              <a:rPr lang="en-US" sz="1900" b="1" dirty="0">
                <a:solidFill>
                  <a:srgbClr val="F4F3FF"/>
                </a:solidFill>
                <a:latin typeface="Courier New" pitchFamily="34" charset="0"/>
                <a:ea typeface="Courier New" pitchFamily="34" charset="-122"/>
                <a:cs typeface="Courier New" pitchFamily="34" charset="-120"/>
              </a:rPr>
              <a:t>next/script</a:t>
            </a:r>
            <a:endParaRPr lang="en-US" sz="1900" dirty="0"/>
          </a:p>
        </p:txBody>
      </p:sp>
      <p:sp>
        <p:nvSpPr>
          <p:cNvPr id="21" name="Text 14"/>
          <p:cNvSpPr txBox="1"/>
          <p:nvPr/>
        </p:nvSpPr>
        <p:spPr>
          <a:xfrm>
            <a:off x="6428232" y="3383280"/>
            <a:ext cx="2194560" cy="118872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Controls when third-party scripts load so they do not block the page.</a:t>
            </a:r>
            <a:endParaRPr lang="en-US" sz="1300" dirty="0"/>
          </a:p>
        </p:txBody>
      </p:sp>
      <p:sp>
        <p:nvSpPr>
          <p:cNvPr id="22" name="Shape 15"/>
          <p:cNvSpPr/>
          <p:nvPr/>
        </p:nvSpPr>
        <p:spPr>
          <a:xfrm>
            <a:off x="9025128" y="1600200"/>
            <a:ext cx="2606040" cy="3063240"/>
          </a:xfrm>
          <a:prstGeom prst="roundRect">
            <a:avLst>
              <a:gd name="adj" fmla="val 4211"/>
            </a:avLst>
          </a:prstGeom>
          <a:solidFill>
            <a:srgbClr val="17143F"/>
          </a:solidFill>
          <a:ln w="12700">
            <a:solidFill>
              <a:srgbClr val="34D399"/>
            </a:solidFill>
            <a:prstDash val="solid"/>
          </a:ln>
        </p:spPr>
      </p:sp>
      <p:sp>
        <p:nvSpPr>
          <p:cNvPr id="23" name="Shape 16"/>
          <p:cNvSpPr/>
          <p:nvPr/>
        </p:nvSpPr>
        <p:spPr>
          <a:xfrm>
            <a:off x="9276588" y="1943100"/>
            <a:ext cx="685800" cy="685800"/>
          </a:xfrm>
          <a:prstGeom prst="ellipse">
            <a:avLst/>
          </a:prstGeom>
          <a:solidFill>
            <a:srgbClr val="221E58"/>
          </a:solidFill>
          <a:ln w="15875">
            <a:solidFill>
              <a:srgbClr val="34D399"/>
            </a:solidFill>
            <a:prstDash val="solid"/>
          </a:ln>
        </p:spPr>
      </p:sp>
      <p:pic>
        <p:nvPicPr>
          <p:cNvPr id="24" name="Image 4" descr="preencoded.png">    </p:cNvPr>
          <p:cNvPicPr>
            <a:picLocks noChangeAspect="1"/>
          </p:cNvPicPr>
          <p:nvPr/>
        </p:nvPicPr>
        <p:blipFill>
          <a:blip r:embed="rId6"/>
          <a:stretch>
            <a:fillRect/>
          </a:stretch>
        </p:blipFill>
        <p:spPr>
          <a:xfrm>
            <a:off x="9448038" y="2114550"/>
            <a:ext cx="342900" cy="342900"/>
          </a:xfrm>
          <a:prstGeom prst="rect">
            <a:avLst/>
          </a:prstGeom>
        </p:spPr>
      </p:pic>
      <p:sp>
        <p:nvSpPr>
          <p:cNvPr id="25" name="Text 17"/>
          <p:cNvSpPr txBox="1"/>
          <p:nvPr/>
        </p:nvSpPr>
        <p:spPr>
          <a:xfrm>
            <a:off x="9253728" y="2880360"/>
            <a:ext cx="2194560" cy="365760"/>
          </a:xfrm>
          <a:prstGeom prst="rect">
            <a:avLst/>
          </a:prstGeom>
          <a:noFill/>
          <a:ln/>
        </p:spPr>
        <p:txBody>
          <a:bodyPr wrap="square" lIns="0" tIns="0" rIns="0" bIns="0" rtlCol="0" anchor="t"/>
          <a:lstStyle/>
          <a:p>
            <a:pPr indent="0" marL="0">
              <a:buNone/>
            </a:pPr>
            <a:r>
              <a:rPr lang="en-US" sz="1900" b="1" dirty="0">
                <a:solidFill>
                  <a:srgbClr val="F4F3FF"/>
                </a:solidFill>
                <a:latin typeface="Calibri" pitchFamily="34" charset="0"/>
                <a:ea typeface="Calibri" pitchFamily="34" charset="-122"/>
                <a:cs typeface="Calibri" pitchFamily="34" charset="-120"/>
              </a:rPr>
              <a:t>Code splitting</a:t>
            </a:r>
            <a:endParaRPr lang="en-US" sz="1900" dirty="0"/>
          </a:p>
        </p:txBody>
      </p:sp>
      <p:sp>
        <p:nvSpPr>
          <p:cNvPr id="26" name="Text 18"/>
          <p:cNvSpPr txBox="1"/>
          <p:nvPr/>
        </p:nvSpPr>
        <p:spPr>
          <a:xfrm>
            <a:off x="9253728" y="3383280"/>
            <a:ext cx="2194560" cy="118872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Each route loads only its own JavaScript. Chunks for visible links are prefetched.</a:t>
            </a:r>
            <a:endParaRPr lang="en-US" sz="1300" dirty="0"/>
          </a:p>
        </p:txBody>
      </p:sp>
      <p:sp>
        <p:nvSpPr>
          <p:cNvPr id="27" name="Text 19"/>
          <p:cNvSpPr txBox="1"/>
          <p:nvPr/>
        </p:nvSpPr>
        <p:spPr>
          <a:xfrm>
            <a:off x="548640" y="4937760"/>
            <a:ext cx="3611880" cy="868680"/>
          </a:xfrm>
          <a:prstGeom prst="roundRect">
            <a:avLst>
              <a:gd name="adj" fmla="val 10526"/>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100" dirty="0">
                <a:solidFill>
                  <a:srgbClr val="22D3EE"/>
                </a:solidFill>
                <a:latin typeface="Courier New" pitchFamily="34" charset="0"/>
                <a:ea typeface="Courier New" pitchFamily="34" charset="-122"/>
                <a:cs typeface="Courier New" pitchFamily="34" charset="-120"/>
              </a:rPr>
              <a:t>&lt;Image</a:t>
            </a:r>
            <a:pPr algn="l" indent="0" marL="0">
              <a:buNone/>
            </a:pPr>
            <a:r>
              <a:rPr lang="en-US" sz="1100" dirty="0">
                <a:solidFill>
                  <a:srgbClr val="D6D3FF"/>
                </a:solidFill>
                <a:latin typeface="Courier New" pitchFamily="34" charset="0"/>
                <a:ea typeface="Courier New" pitchFamily="34" charset="-122"/>
                <a:cs typeface="Courier New" pitchFamily="34" charset="-120"/>
              </a:rPr>
              <a:t> </a:t>
            </a:r>
            <a:pPr algn="l" indent="0" marL="0">
              <a:buNone/>
            </a:pPr>
            <a:r>
              <a:rPr lang="en-US" sz="1100" dirty="0">
                <a:solidFill>
                  <a:srgbClr val="E6E4FF"/>
                </a:solidFill>
                <a:latin typeface="Courier New" pitchFamily="34" charset="0"/>
                <a:ea typeface="Courier New" pitchFamily="34" charset="-122"/>
                <a:cs typeface="Courier New" pitchFamily="34" charset="-120"/>
              </a:rPr>
              <a:t>src</a:t>
            </a:r>
            <a:pPr algn="l" indent="0" marL="0">
              <a:buNone/>
            </a:pPr>
            <a:r>
              <a:rPr lang="en-US" sz="1100" dirty="0">
                <a:solidFill>
                  <a:srgbClr val="D6D3FF"/>
                </a:solidFill>
                <a:latin typeface="Courier New" pitchFamily="34" charset="0"/>
                <a:ea typeface="Courier New" pitchFamily="34" charset="-122"/>
                <a:cs typeface="Courier New" pitchFamily="34" charset="-120"/>
              </a:rPr>
              <a:t>=</a:t>
            </a:r>
            <a:pPr algn="l" indent="0" marL="0">
              <a:buNone/>
            </a:pPr>
            <a:r>
              <a:rPr lang="en-US" sz="1100" dirty="0">
                <a:solidFill>
                  <a:srgbClr val="86EFAC"/>
                </a:solidFill>
                <a:latin typeface="Courier New" pitchFamily="34" charset="0"/>
                <a:ea typeface="Courier New" pitchFamily="34" charset="-122"/>
                <a:cs typeface="Courier New" pitchFamily="34" charset="-120"/>
              </a:rPr>
              <a:t>"/hero.png"</a:t>
            </a:r>
            <a:pPr algn="l" indent="0" marL="0">
              <a:buNone/>
            </a:pPr>
            <a:r>
              <a:rPr lang="en-US" sz="1100" dirty="0">
                <a:solidFill>
                  <a:srgbClr val="D6D3FF"/>
                </a:solidFill>
                <a:latin typeface="Courier New" pitchFamily="34" charset="0"/>
                <a:ea typeface="Courier New" pitchFamily="34" charset="-122"/>
                <a:cs typeface="Courier New" pitchFamily="34" charset="-120"/>
              </a:rPr>
              <a:t> </a:t>
            </a:r>
            <a:pPr algn="l" indent="0" marL="0">
              <a:buNone/>
            </a:pPr>
            <a:r>
              <a:rPr lang="en-US" sz="1100" dirty="0">
                <a:solidFill>
                  <a:srgbClr val="E6E4FF"/>
                </a:solidFill>
                <a:latin typeface="Courier New" pitchFamily="34" charset="0"/>
                <a:ea typeface="Courier New" pitchFamily="34" charset="-122"/>
                <a:cs typeface="Courier New" pitchFamily="34" charset="-120"/>
              </a:rPr>
              <a:t>alt</a:t>
            </a:r>
            <a:pPr algn="l" indent="0" marL="0">
              <a:buNone/>
            </a:pPr>
            <a:r>
              <a:rPr lang="en-US" sz="1100" dirty="0">
                <a:solidFill>
                  <a:srgbClr val="D6D3FF"/>
                </a:solidFill>
                <a:latin typeface="Courier New" pitchFamily="34" charset="0"/>
                <a:ea typeface="Courier New" pitchFamily="34" charset="-122"/>
                <a:cs typeface="Courier New" pitchFamily="34" charset="-120"/>
              </a:rPr>
              <a:t>=</a:t>
            </a:r>
            <a:pPr algn="l" indent="0" marL="0">
              <a:buNone/>
            </a:pPr>
            <a:r>
              <a:rPr lang="en-US" sz="1100" dirty="0">
                <a:solidFill>
                  <a:srgbClr val="86EFAC"/>
                </a:solidFill>
                <a:latin typeface="Courier New" pitchFamily="34" charset="0"/>
                <a:ea typeface="Courier New" pitchFamily="34" charset="-122"/>
                <a:cs typeface="Courier New" pitchFamily="34" charset="-120"/>
              </a:rPr>
              <a:t>"Hero"</a:t>
            </a:r>
            <a:endParaRPr lang="en-US" sz="1100" dirty="0"/>
          </a:p>
          <a:p>
            <a:pPr algn="l" indent="0" marL="0">
              <a:buNone/>
            </a:pPr>
            <a:r>
              <a:rPr lang="en-US" sz="1100" dirty="0">
                <a:solidFill>
                  <a:srgbClr val="D6D3FF"/>
                </a:solidFill>
                <a:latin typeface="Courier New" pitchFamily="34" charset="0"/>
                <a:ea typeface="Courier New" pitchFamily="34" charset="-122"/>
                <a:cs typeface="Courier New" pitchFamily="34" charset="-120"/>
              </a:rPr>
              <a:t>  </a:t>
            </a:r>
            <a:pPr algn="l" indent="0" marL="0">
              <a:buNone/>
            </a:pPr>
            <a:r>
              <a:rPr lang="en-US" sz="1100" dirty="0">
                <a:solidFill>
                  <a:srgbClr val="E6E4FF"/>
                </a:solidFill>
                <a:latin typeface="Courier New" pitchFamily="34" charset="0"/>
                <a:ea typeface="Courier New" pitchFamily="34" charset="-122"/>
                <a:cs typeface="Courier New" pitchFamily="34" charset="-120"/>
              </a:rPr>
              <a:t>width</a:t>
            </a:r>
            <a:pPr algn="l" indent="0" marL="0">
              <a:buNone/>
            </a:pPr>
            <a:r>
              <a:rPr lang="en-US" sz="1100" dirty="0">
                <a:solidFill>
                  <a:srgbClr val="D6D3FF"/>
                </a:solidFill>
                <a:latin typeface="Courier New" pitchFamily="34" charset="0"/>
                <a:ea typeface="Courier New" pitchFamily="34" charset="-122"/>
                <a:cs typeface="Courier New" pitchFamily="34" charset="-120"/>
              </a:rPr>
              <a:t>={800} </a:t>
            </a:r>
            <a:pPr algn="l" indent="0" marL="0">
              <a:buNone/>
            </a:pPr>
            <a:r>
              <a:rPr lang="en-US" sz="1100" dirty="0">
                <a:solidFill>
                  <a:srgbClr val="E6E4FF"/>
                </a:solidFill>
                <a:latin typeface="Courier New" pitchFamily="34" charset="0"/>
                <a:ea typeface="Courier New" pitchFamily="34" charset="-122"/>
                <a:cs typeface="Courier New" pitchFamily="34" charset="-120"/>
              </a:rPr>
              <a:t>height</a:t>
            </a:r>
            <a:pPr algn="l" indent="0" marL="0">
              <a:buNone/>
            </a:pPr>
            <a:r>
              <a:rPr lang="en-US" sz="1100" dirty="0">
                <a:solidFill>
                  <a:srgbClr val="D6D3FF"/>
                </a:solidFill>
                <a:latin typeface="Courier New" pitchFamily="34" charset="0"/>
                <a:ea typeface="Courier New" pitchFamily="34" charset="-122"/>
                <a:cs typeface="Courier New" pitchFamily="34" charset="-120"/>
              </a:rPr>
              <a:t>={400} /&gt;</a:t>
            </a:r>
            <a:endParaRPr lang="en-US" sz="1100" dirty="0"/>
          </a:p>
        </p:txBody>
      </p:sp>
      <p:sp>
        <p:nvSpPr>
          <p:cNvPr id="28" name="Text 20"/>
          <p:cNvSpPr txBox="1"/>
          <p:nvPr/>
        </p:nvSpPr>
        <p:spPr>
          <a:xfrm>
            <a:off x="4288536" y="4937760"/>
            <a:ext cx="3611880" cy="868680"/>
          </a:xfrm>
          <a:prstGeom prst="roundRect">
            <a:avLst>
              <a:gd name="adj" fmla="val 10526"/>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100" dirty="0">
                <a:solidFill>
                  <a:srgbClr val="C4B5FD"/>
                </a:solidFill>
                <a:latin typeface="Courier New" pitchFamily="34" charset="0"/>
                <a:ea typeface="Courier New" pitchFamily="34" charset="-122"/>
                <a:cs typeface="Courier New" pitchFamily="34" charset="-120"/>
              </a:rPr>
              <a:t>const</a:t>
            </a:r>
            <a:pPr algn="l" indent="0" marL="0">
              <a:buNone/>
            </a:pPr>
            <a:r>
              <a:rPr lang="en-US" sz="1100" dirty="0">
                <a:solidFill>
                  <a:srgbClr val="D6D3FF"/>
                </a:solidFill>
                <a:latin typeface="Courier New" pitchFamily="34" charset="0"/>
                <a:ea typeface="Courier New" pitchFamily="34" charset="-122"/>
                <a:cs typeface="Courier New" pitchFamily="34" charset="-120"/>
              </a:rPr>
              <a:t> </a:t>
            </a:r>
            <a:pPr algn="l" indent="0" marL="0">
              <a:buNone/>
            </a:pPr>
            <a:r>
              <a:rPr lang="en-US" sz="1100" dirty="0">
                <a:solidFill>
                  <a:srgbClr val="E6E4FF"/>
                </a:solidFill>
                <a:latin typeface="Courier New" pitchFamily="34" charset="0"/>
                <a:ea typeface="Courier New" pitchFamily="34" charset="-122"/>
                <a:cs typeface="Courier New" pitchFamily="34" charset="-120"/>
              </a:rPr>
              <a:t>inter</a:t>
            </a:r>
            <a:pPr algn="l" indent="0" marL="0">
              <a:buNone/>
            </a:pPr>
            <a:r>
              <a:rPr lang="en-US" sz="1100" dirty="0">
                <a:solidFill>
                  <a:srgbClr val="D6D3FF"/>
                </a:solidFill>
                <a:latin typeface="Courier New" pitchFamily="34" charset="0"/>
                <a:ea typeface="Courier New" pitchFamily="34" charset="-122"/>
                <a:cs typeface="Courier New" pitchFamily="34" charset="-120"/>
              </a:rPr>
              <a:t> = </a:t>
            </a:r>
            <a:pPr algn="l" indent="0" marL="0">
              <a:buNone/>
            </a:pPr>
            <a:r>
              <a:rPr lang="en-US" sz="1100" dirty="0">
                <a:solidFill>
                  <a:srgbClr val="E6E4FF"/>
                </a:solidFill>
                <a:latin typeface="Courier New" pitchFamily="34" charset="0"/>
                <a:ea typeface="Courier New" pitchFamily="34" charset="-122"/>
                <a:cs typeface="Courier New" pitchFamily="34" charset="-120"/>
              </a:rPr>
              <a:t>Inter</a:t>
            </a:r>
            <a:pPr algn="l" indent="0" marL="0">
              <a:buNone/>
            </a:pPr>
            <a:r>
              <a:rPr lang="en-US" sz="1100" dirty="0">
                <a:solidFill>
                  <a:srgbClr val="D6D3FF"/>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rgbClr val="D6D3FF"/>
                </a:solidFill>
                <a:latin typeface="Courier New" pitchFamily="34" charset="0"/>
                <a:ea typeface="Courier New" pitchFamily="34" charset="-122"/>
                <a:cs typeface="Courier New" pitchFamily="34" charset="-120"/>
              </a:rPr>
              <a:t>  </a:t>
            </a:r>
            <a:pPr algn="l" indent="0" marL="0">
              <a:buNone/>
            </a:pPr>
            <a:r>
              <a:rPr lang="en-US" sz="1100" dirty="0">
                <a:solidFill>
                  <a:srgbClr val="E6E4FF"/>
                </a:solidFill>
                <a:latin typeface="Courier New" pitchFamily="34" charset="0"/>
                <a:ea typeface="Courier New" pitchFamily="34" charset="-122"/>
                <a:cs typeface="Courier New" pitchFamily="34" charset="-120"/>
              </a:rPr>
              <a:t>subsets</a:t>
            </a:r>
            <a:pPr algn="l" indent="0" marL="0">
              <a:buNone/>
            </a:pPr>
            <a:r>
              <a:rPr lang="en-US" sz="1100" dirty="0">
                <a:solidFill>
                  <a:srgbClr val="D6D3FF"/>
                </a:solidFill>
                <a:latin typeface="Courier New" pitchFamily="34" charset="0"/>
                <a:ea typeface="Courier New" pitchFamily="34" charset="-122"/>
                <a:cs typeface="Courier New" pitchFamily="34" charset="-120"/>
              </a:rPr>
              <a:t>: [</a:t>
            </a:r>
            <a:pPr algn="l" indent="0" marL="0">
              <a:buNone/>
            </a:pPr>
            <a:r>
              <a:rPr lang="en-US" sz="1100" dirty="0">
                <a:solidFill>
                  <a:srgbClr val="86EFAC"/>
                </a:solidFill>
                <a:latin typeface="Courier New" pitchFamily="34" charset="0"/>
                <a:ea typeface="Courier New" pitchFamily="34" charset="-122"/>
                <a:cs typeface="Courier New" pitchFamily="34" charset="-120"/>
              </a:rPr>
              <a:t>"latin"</a:t>
            </a:r>
            <a:pPr algn="l" indent="0" marL="0">
              <a:buNone/>
            </a:pPr>
            <a:r>
              <a:rPr lang="en-US" sz="1100" dirty="0">
                <a:solidFill>
                  <a:srgbClr val="D6D3FF"/>
                </a:solidFill>
                <a:latin typeface="Courier New" pitchFamily="34" charset="0"/>
                <a:ea typeface="Courier New" pitchFamily="34" charset="-122"/>
                <a:cs typeface="Courier New" pitchFamily="34" charset="-120"/>
              </a:rPr>
              <a:t>] });</a:t>
            </a:r>
            <a:endParaRPr lang="en-US" sz="1100" dirty="0"/>
          </a:p>
        </p:txBody>
      </p:sp>
      <p:sp>
        <p:nvSpPr>
          <p:cNvPr id="29" name="Text 21"/>
          <p:cNvSpPr txBox="1"/>
          <p:nvPr/>
        </p:nvSpPr>
        <p:spPr>
          <a:xfrm>
            <a:off x="8028432" y="4937760"/>
            <a:ext cx="3611880" cy="868680"/>
          </a:xfrm>
          <a:prstGeom prst="roundRect">
            <a:avLst>
              <a:gd name="adj" fmla="val 10526"/>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100" dirty="0">
                <a:solidFill>
                  <a:srgbClr val="22D3EE"/>
                </a:solidFill>
                <a:latin typeface="Courier New" pitchFamily="34" charset="0"/>
                <a:ea typeface="Courier New" pitchFamily="34" charset="-122"/>
                <a:cs typeface="Courier New" pitchFamily="34" charset="-120"/>
              </a:rPr>
              <a:t>&lt;Script</a:t>
            </a:r>
            <a:pPr algn="l" indent="0" marL="0">
              <a:buNone/>
            </a:pPr>
            <a:r>
              <a:rPr lang="en-US" sz="1100" dirty="0">
                <a:solidFill>
                  <a:srgbClr val="D6D3FF"/>
                </a:solidFill>
                <a:latin typeface="Courier New" pitchFamily="34" charset="0"/>
                <a:ea typeface="Courier New" pitchFamily="34" charset="-122"/>
                <a:cs typeface="Courier New" pitchFamily="34" charset="-120"/>
              </a:rPr>
              <a:t> </a:t>
            </a:r>
            <a:pPr algn="l" indent="0" marL="0">
              <a:buNone/>
            </a:pPr>
            <a:r>
              <a:rPr lang="en-US" sz="1100" dirty="0">
                <a:solidFill>
                  <a:srgbClr val="E6E4FF"/>
                </a:solidFill>
                <a:latin typeface="Courier New" pitchFamily="34" charset="0"/>
                <a:ea typeface="Courier New" pitchFamily="34" charset="-122"/>
                <a:cs typeface="Courier New" pitchFamily="34" charset="-120"/>
              </a:rPr>
              <a:t>src</a:t>
            </a:r>
            <a:pPr algn="l" indent="0" marL="0">
              <a:buNone/>
            </a:pPr>
            <a:r>
              <a:rPr lang="en-US" sz="1100" dirty="0">
                <a:solidFill>
                  <a:srgbClr val="D6D3FF"/>
                </a:solidFill>
                <a:latin typeface="Courier New" pitchFamily="34" charset="0"/>
                <a:ea typeface="Courier New" pitchFamily="34" charset="-122"/>
                <a:cs typeface="Courier New" pitchFamily="34" charset="-120"/>
              </a:rPr>
              <a:t>=</a:t>
            </a:r>
            <a:pPr algn="l" indent="0" marL="0">
              <a:buNone/>
            </a:pPr>
            <a:r>
              <a:rPr lang="en-US" sz="1100" dirty="0">
                <a:solidFill>
                  <a:srgbClr val="86EFAC"/>
                </a:solidFill>
                <a:latin typeface="Courier New" pitchFamily="34" charset="0"/>
                <a:ea typeface="Courier New" pitchFamily="34" charset="-122"/>
                <a:cs typeface="Courier New" pitchFamily="34" charset="-120"/>
              </a:rPr>
              <a:t>"/analytics.js"</a:t>
            </a:r>
            <a:endParaRPr lang="en-US" sz="1100" dirty="0"/>
          </a:p>
          <a:p>
            <a:pPr algn="l" indent="0" marL="0">
              <a:buNone/>
            </a:pPr>
            <a:r>
              <a:rPr lang="en-US" sz="1100" dirty="0">
                <a:solidFill>
                  <a:srgbClr val="D6D3FF"/>
                </a:solidFill>
                <a:latin typeface="Courier New" pitchFamily="34" charset="0"/>
                <a:ea typeface="Courier New" pitchFamily="34" charset="-122"/>
                <a:cs typeface="Courier New" pitchFamily="34" charset="-120"/>
              </a:rPr>
              <a:t>  </a:t>
            </a:r>
            <a:pPr algn="l" indent="0" marL="0">
              <a:buNone/>
            </a:pPr>
            <a:r>
              <a:rPr lang="en-US" sz="1100" dirty="0">
                <a:solidFill>
                  <a:srgbClr val="E6E4FF"/>
                </a:solidFill>
                <a:latin typeface="Courier New" pitchFamily="34" charset="0"/>
                <a:ea typeface="Courier New" pitchFamily="34" charset="-122"/>
                <a:cs typeface="Courier New" pitchFamily="34" charset="-120"/>
              </a:rPr>
              <a:t>strategy</a:t>
            </a:r>
            <a:pPr algn="l" indent="0" marL="0">
              <a:buNone/>
            </a:pPr>
            <a:r>
              <a:rPr lang="en-US" sz="1100" dirty="0">
                <a:solidFill>
                  <a:srgbClr val="D6D3FF"/>
                </a:solidFill>
                <a:latin typeface="Courier New" pitchFamily="34" charset="0"/>
                <a:ea typeface="Courier New" pitchFamily="34" charset="-122"/>
                <a:cs typeface="Courier New" pitchFamily="34" charset="-120"/>
              </a:rPr>
              <a:t>=</a:t>
            </a:r>
            <a:pPr algn="l" indent="0" marL="0">
              <a:buNone/>
            </a:pPr>
            <a:r>
              <a:rPr lang="en-US" sz="1100" dirty="0">
                <a:solidFill>
                  <a:srgbClr val="86EFAC"/>
                </a:solidFill>
                <a:latin typeface="Courier New" pitchFamily="34" charset="0"/>
                <a:ea typeface="Courier New" pitchFamily="34" charset="-122"/>
                <a:cs typeface="Courier New" pitchFamily="34" charset="-120"/>
              </a:rPr>
              <a:t>"lazyOnload"</a:t>
            </a:r>
            <a:pPr algn="l" indent="0" marL="0">
              <a:buNone/>
            </a:pPr>
            <a:r>
              <a:rPr lang="en-US" sz="1100" dirty="0">
                <a:solidFill>
                  <a:srgbClr val="D6D3FF"/>
                </a:solidFill>
                <a:latin typeface="Courier New" pitchFamily="34" charset="0"/>
                <a:ea typeface="Courier New" pitchFamily="34" charset="-122"/>
                <a:cs typeface="Courier New" pitchFamily="34" charset="-120"/>
              </a:rPr>
              <a:t> /&gt;</a:t>
            </a:r>
            <a:endParaRPr lang="en-US" sz="1100" dirty="0"/>
          </a:p>
        </p:txBody>
      </p:sp>
      <p:sp>
        <p:nvSpPr>
          <p:cNvPr id="30" name="Text 22"/>
          <p:cNvSpPr txBox="1"/>
          <p:nvPr/>
        </p:nvSpPr>
        <p:spPr>
          <a:xfrm>
            <a:off x="548640" y="5943600"/>
            <a:ext cx="7315200" cy="274320"/>
          </a:xfrm>
          <a:prstGeom prst="rect">
            <a:avLst/>
          </a:prstGeom>
          <a:noFill/>
          <a:ln/>
        </p:spPr>
        <p:txBody>
          <a:bodyPr wrap="square" lIns="0" tIns="0" rIns="0" bIns="0" rtlCol="0" anchor="t"/>
          <a:lstStyle/>
          <a:p>
            <a:pPr indent="0" marL="0">
              <a:buNone/>
            </a:pPr>
            <a:r>
              <a:rPr lang="en-US" sz="1200" i="1" dirty="0">
                <a:solidFill>
                  <a:srgbClr val="A8A5D8"/>
                </a:solidFill>
                <a:latin typeface="Calibri" pitchFamily="34" charset="0"/>
                <a:ea typeface="Calibri" pitchFamily="34" charset="-122"/>
                <a:cs typeface="Calibri" pitchFamily="34" charset="-120"/>
              </a:rPr>
              <a:t>Built in. You mostly just use the component.</a:t>
            </a:r>
            <a:endParaRPr lang="en-US" sz="12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Logomark.png">    </p:cNvPr>
          <p:cNvPicPr>
            <a:picLocks noChangeAspect="1"/>
          </p:cNvPicPr>
          <p:nvPr/>
        </p:nvPicPr>
        <p:blipFill>
          <a:blip r:embed="rId2"/>
          <a:stretch>
            <a:fillRect/>
          </a:stretch>
        </p:blipFill>
        <p:spPr>
          <a:xfrm>
            <a:off x="8869680" y="1463040"/>
            <a:ext cx="2194560" cy="3364992"/>
          </a:xfrm>
          <a:prstGeom prst="rect">
            <a:avLst/>
          </a:prstGeom>
        </p:spPr>
      </p:pic>
      <p:sp>
        <p:nvSpPr>
          <p:cNvPr id="3" name="Text 0"/>
          <p:cNvSpPr txBox="1"/>
          <p:nvPr/>
        </p:nvSpPr>
        <p:spPr>
          <a:xfrm>
            <a:off x="548640" y="2011680"/>
            <a:ext cx="5486400" cy="274320"/>
          </a:xfrm>
          <a:prstGeom prst="rect">
            <a:avLst/>
          </a:prstGeom>
          <a:noFill/>
          <a:ln/>
        </p:spPr>
        <p:txBody>
          <a:bodyPr wrap="square" lIns="0" tIns="0" rIns="0" bIns="0" rtlCol="0" anchor="t"/>
          <a:lstStyle/>
          <a:p>
            <a:pPr indent="0" marL="0">
              <a:buNone/>
            </a:pPr>
            <a:r>
              <a:rPr lang="en-US" sz="1400" b="1" spc="400" kern="0" dirty="0">
                <a:solidFill>
                  <a:srgbClr val="E64BDA"/>
                </a:solidFill>
                <a:latin typeface="Calibri" pitchFamily="34" charset="0"/>
                <a:ea typeface="Calibri" pitchFamily="34" charset="-122"/>
                <a:cs typeface="Calibri" pitchFamily="34" charset="-120"/>
              </a:rPr>
              <a:t>PART 2</a:t>
            </a:r>
            <a:endParaRPr lang="en-US" sz="1400" dirty="0"/>
          </a:p>
        </p:txBody>
      </p:sp>
      <p:sp>
        <p:nvSpPr>
          <p:cNvPr id="4" name="Text 1"/>
          <p:cNvSpPr txBox="1"/>
          <p:nvPr/>
        </p:nvSpPr>
        <p:spPr>
          <a:xfrm>
            <a:off x="548640" y="2423160"/>
            <a:ext cx="7680960" cy="2011680"/>
          </a:xfrm>
          <a:prstGeom prst="rect">
            <a:avLst/>
          </a:prstGeom>
          <a:noFill/>
          <a:ln/>
        </p:spPr>
        <p:txBody>
          <a:bodyPr wrap="square" lIns="0" tIns="0" rIns="0" bIns="0" rtlCol="0" anchor="t"/>
          <a:lstStyle/>
          <a:p>
            <a:pPr indent="0" marL="0">
              <a:buNone/>
            </a:pPr>
            <a:r>
              <a:rPr lang="en-US" sz="4800" b="1" dirty="0">
                <a:solidFill>
                  <a:srgbClr val="F4F3FF"/>
                </a:solidFill>
                <a:latin typeface="Calibri" pitchFamily="34" charset="0"/>
                <a:ea typeface="Calibri" pitchFamily="34" charset="-122"/>
                <a:cs typeface="Calibri" pitchFamily="34" charset="-120"/>
              </a:rPr>
              <a:t>Where and when does your UI become HTML?</a:t>
            </a:r>
            <a:endParaRPr lang="en-US" sz="4800" dirty="0"/>
          </a:p>
        </p:txBody>
      </p:sp>
      <p:sp>
        <p:nvSpPr>
          <p:cNvPr id="5" name="Text 2"/>
          <p:cNvSpPr txBox="1"/>
          <p:nvPr/>
        </p:nvSpPr>
        <p:spPr>
          <a:xfrm>
            <a:off x="548640" y="4572000"/>
            <a:ext cx="6949440" cy="822960"/>
          </a:xfrm>
          <a:prstGeom prst="rect">
            <a:avLst/>
          </a:prstGeom>
          <a:noFill/>
          <a:ln/>
        </p:spPr>
        <p:txBody>
          <a:bodyPr wrap="square" lIns="0" tIns="0" rIns="0" bIns="0" rtlCol="0" anchor="t"/>
          <a:lstStyle/>
          <a:p>
            <a:pPr indent="0" marL="0">
              <a:buNone/>
            </a:pPr>
            <a:r>
              <a:rPr lang="en-US" sz="2000" dirty="0">
                <a:solidFill>
                  <a:srgbClr val="A8A5D8"/>
                </a:solidFill>
                <a:latin typeface="Calibri" pitchFamily="34" charset="0"/>
                <a:ea typeface="Calibri" pitchFamily="34" charset="-122"/>
                <a:cs typeface="Calibri" pitchFamily="34" charset="-120"/>
              </a:rPr>
              <a:t>Rendering, data fetching and caching are one connected decision.</a:t>
            </a:r>
            <a:endParaRPr lang="en-US" sz="2000" dirty="0"/>
          </a:p>
        </p:txBody>
      </p:sp>
      <p:pic>
        <p:nvPicPr>
          <p:cNvPr id="6" name="Image 1" descr="assets/logo_full_white.png">    </p:cNvPr>
          <p:cNvPicPr>
            <a:picLocks noChangeAspect="1"/>
          </p:cNvPicPr>
          <p:nvPr/>
        </p:nvPicPr>
        <p:blipFill>
          <a:blip r:embed="rId3"/>
          <a:stretch>
            <a:fillRect/>
          </a:stretch>
        </p:blipFill>
        <p:spPr>
          <a:xfrm>
            <a:off x="548640" y="6400800"/>
            <a:ext cx="1316736" cy="256032"/>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RENDERING</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What does "rendering" actually mean?</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14</a:t>
            </a:r>
            <a:endParaRPr lang="en-US" sz="1100" dirty="0"/>
          </a:p>
        </p:txBody>
      </p:sp>
      <p:sp>
        <p:nvSpPr>
          <p:cNvPr id="7" name="Text 3"/>
          <p:cNvSpPr txBox="1"/>
          <p:nvPr/>
        </p:nvSpPr>
        <p:spPr>
          <a:xfrm>
            <a:off x="548640" y="1600200"/>
            <a:ext cx="2331720" cy="1005840"/>
          </a:xfrm>
          <a:prstGeom prst="roundRect">
            <a:avLst>
              <a:gd name="adj" fmla="val 9091"/>
            </a:avLst>
          </a:prstGeom>
          <a:solidFill>
            <a:srgbClr val="17143F"/>
          </a:solidFill>
          <a:ln w="12700">
            <a:solidFill>
              <a:srgbClr val="8B7CFF"/>
            </a:solidFill>
            <a:prstDash val="solid"/>
          </a:ln>
        </p:spPr>
        <p:txBody>
          <a:bodyPr wrap="square" lIns="50800" tIns="50800" rIns="50800" bIns="50800" rtlCol="0" anchor="ctr"/>
          <a:lstStyle/>
          <a:p>
            <a:pPr algn="ctr" indent="0" marL="0">
              <a:buNone/>
            </a:pPr>
            <a:r>
              <a:rPr lang="en-US" sz="1800" b="1" dirty="0">
                <a:solidFill>
                  <a:srgbClr val="F4F3FF"/>
                </a:solidFill>
                <a:latin typeface="Calibri" pitchFamily="34" charset="0"/>
                <a:ea typeface="Calibri" pitchFamily="34" charset="-122"/>
                <a:cs typeface="Calibri" pitchFamily="34" charset="-120"/>
              </a:rPr>
              <a:t>Components</a:t>
            </a:r>
            <a:endParaRPr lang="en-US" sz="1300" dirty="0"/>
          </a:p>
          <a:p>
            <a:pPr algn="ctr" indent="0" marL="0">
              <a:buNone/>
            </a:pPr>
            <a:r>
              <a:rPr lang="en-US" sz="1200" dirty="0">
                <a:solidFill>
                  <a:srgbClr val="A8A5D8"/>
                </a:solidFill>
                <a:latin typeface="Calibri" pitchFamily="34" charset="0"/>
                <a:ea typeface="Calibri" pitchFamily="34" charset="-122"/>
                <a:cs typeface="Calibri" pitchFamily="34" charset="-120"/>
              </a:rPr>
              <a:t>React + JSX</a:t>
            </a:r>
            <a:endParaRPr lang="en-US" sz="1300" dirty="0"/>
          </a:p>
        </p:txBody>
      </p:sp>
      <p:sp>
        <p:nvSpPr>
          <p:cNvPr id="8" name="Shape 4"/>
          <p:cNvSpPr/>
          <p:nvPr/>
        </p:nvSpPr>
        <p:spPr>
          <a:xfrm>
            <a:off x="2926080" y="2103120"/>
            <a:ext cx="502920" cy="0"/>
          </a:xfrm>
          <a:prstGeom prst="line">
            <a:avLst/>
          </a:prstGeom>
          <a:noFill/>
          <a:ln w="25400">
            <a:solidFill>
              <a:srgbClr val="A8A5D8"/>
            </a:solidFill>
            <a:prstDash val="solid"/>
            <a:tailEnd type="triangle"/>
          </a:ln>
        </p:spPr>
      </p:sp>
      <p:sp>
        <p:nvSpPr>
          <p:cNvPr id="9" name="Text 5"/>
          <p:cNvSpPr txBox="1"/>
          <p:nvPr/>
        </p:nvSpPr>
        <p:spPr>
          <a:xfrm>
            <a:off x="3474720" y="1600200"/>
            <a:ext cx="2331720" cy="1005840"/>
          </a:xfrm>
          <a:prstGeom prst="roundRect">
            <a:avLst>
              <a:gd name="adj" fmla="val 9091"/>
            </a:avLst>
          </a:prstGeom>
          <a:solidFill>
            <a:srgbClr val="221E58"/>
          </a:solidFill>
          <a:ln w="28575">
            <a:solidFill>
              <a:srgbClr val="E64BDA"/>
            </a:solidFill>
            <a:prstDash val="solid"/>
          </a:ln>
        </p:spPr>
        <p:txBody>
          <a:bodyPr wrap="square" lIns="50800" tIns="50800" rIns="50800" bIns="50800" rtlCol="0" anchor="ctr"/>
          <a:lstStyle/>
          <a:p>
            <a:pPr algn="ctr" indent="0" marL="0">
              <a:buNone/>
            </a:pPr>
            <a:r>
              <a:rPr lang="en-US" sz="1800" b="1" dirty="0">
                <a:solidFill>
                  <a:srgbClr val="F4F3FF"/>
                </a:solidFill>
                <a:latin typeface="Calibri" pitchFamily="34" charset="0"/>
                <a:ea typeface="Calibri" pitchFamily="34" charset="-122"/>
                <a:cs typeface="Calibri" pitchFamily="34" charset="-120"/>
              </a:rPr>
              <a:t>Rendering</a:t>
            </a:r>
            <a:endParaRPr lang="en-US" sz="1300" dirty="0"/>
          </a:p>
          <a:p>
            <a:pPr algn="ctr" indent="0" marL="0">
              <a:buNone/>
            </a:pPr>
            <a:r>
              <a:rPr lang="en-US" sz="1200" dirty="0">
                <a:solidFill>
                  <a:srgbClr val="A8A5D8"/>
                </a:solidFill>
                <a:latin typeface="Calibri" pitchFamily="34" charset="0"/>
                <a:ea typeface="Calibri" pitchFamily="34" charset="-122"/>
                <a:cs typeface="Calibri" pitchFamily="34" charset="-120"/>
              </a:rPr>
              <a:t>turn components into HTML</a:t>
            </a:r>
            <a:endParaRPr lang="en-US" sz="1300" dirty="0"/>
          </a:p>
        </p:txBody>
      </p:sp>
      <p:sp>
        <p:nvSpPr>
          <p:cNvPr id="10" name="Shape 6"/>
          <p:cNvSpPr/>
          <p:nvPr/>
        </p:nvSpPr>
        <p:spPr>
          <a:xfrm>
            <a:off x="5852160" y="2103120"/>
            <a:ext cx="502920" cy="0"/>
          </a:xfrm>
          <a:prstGeom prst="line">
            <a:avLst/>
          </a:prstGeom>
          <a:noFill/>
          <a:ln w="25400">
            <a:solidFill>
              <a:srgbClr val="A8A5D8"/>
            </a:solidFill>
            <a:prstDash val="solid"/>
            <a:tailEnd type="triangle"/>
          </a:ln>
        </p:spPr>
      </p:sp>
      <p:sp>
        <p:nvSpPr>
          <p:cNvPr id="11" name="Text 7"/>
          <p:cNvSpPr txBox="1"/>
          <p:nvPr/>
        </p:nvSpPr>
        <p:spPr>
          <a:xfrm>
            <a:off x="6400800" y="1600200"/>
            <a:ext cx="2331720" cy="1005840"/>
          </a:xfrm>
          <a:prstGeom prst="roundRect">
            <a:avLst>
              <a:gd name="adj" fmla="val 9091"/>
            </a:avLst>
          </a:prstGeom>
          <a:solidFill>
            <a:srgbClr val="17143F"/>
          </a:solidFill>
          <a:ln w="12700">
            <a:solidFill>
              <a:srgbClr val="22D3EE"/>
            </a:solidFill>
            <a:prstDash val="solid"/>
          </a:ln>
        </p:spPr>
        <p:txBody>
          <a:bodyPr wrap="square" lIns="50800" tIns="50800" rIns="50800" bIns="50800" rtlCol="0" anchor="ctr"/>
          <a:lstStyle/>
          <a:p>
            <a:pPr algn="ctr" indent="0" marL="0">
              <a:buNone/>
            </a:pPr>
            <a:r>
              <a:rPr lang="en-US" sz="1800" b="1" dirty="0">
                <a:solidFill>
                  <a:srgbClr val="F4F3FF"/>
                </a:solidFill>
                <a:latin typeface="Calibri" pitchFamily="34" charset="0"/>
                <a:ea typeface="Calibri" pitchFamily="34" charset="-122"/>
                <a:cs typeface="Calibri" pitchFamily="34" charset="-120"/>
              </a:rPr>
              <a:t>HTML</a:t>
            </a:r>
            <a:endParaRPr lang="en-US" sz="1300" dirty="0"/>
          </a:p>
          <a:p>
            <a:pPr algn="ctr" indent="0" marL="0">
              <a:buNone/>
            </a:pPr>
            <a:r>
              <a:rPr lang="en-US" sz="1200" dirty="0">
                <a:solidFill>
                  <a:srgbClr val="A8A5D8"/>
                </a:solidFill>
                <a:latin typeface="Calibri" pitchFamily="34" charset="0"/>
                <a:ea typeface="Calibri" pitchFamily="34" charset="-122"/>
                <a:cs typeface="Calibri" pitchFamily="34" charset="-120"/>
              </a:rPr>
              <a:t>the page structure</a:t>
            </a:r>
            <a:endParaRPr lang="en-US" sz="1300" dirty="0"/>
          </a:p>
        </p:txBody>
      </p:sp>
      <p:sp>
        <p:nvSpPr>
          <p:cNvPr id="12" name="Shape 8"/>
          <p:cNvSpPr/>
          <p:nvPr/>
        </p:nvSpPr>
        <p:spPr>
          <a:xfrm>
            <a:off x="8778240" y="2103120"/>
            <a:ext cx="502920" cy="0"/>
          </a:xfrm>
          <a:prstGeom prst="line">
            <a:avLst/>
          </a:prstGeom>
          <a:noFill/>
          <a:ln w="25400">
            <a:solidFill>
              <a:srgbClr val="A8A5D8"/>
            </a:solidFill>
            <a:prstDash val="solid"/>
            <a:tailEnd type="triangle"/>
          </a:ln>
        </p:spPr>
      </p:sp>
      <p:sp>
        <p:nvSpPr>
          <p:cNvPr id="13" name="Text 9"/>
          <p:cNvSpPr txBox="1"/>
          <p:nvPr/>
        </p:nvSpPr>
        <p:spPr>
          <a:xfrm>
            <a:off x="9326880" y="1600200"/>
            <a:ext cx="2331720" cy="1005840"/>
          </a:xfrm>
          <a:prstGeom prst="roundRect">
            <a:avLst>
              <a:gd name="adj" fmla="val 9091"/>
            </a:avLst>
          </a:prstGeom>
          <a:solidFill>
            <a:srgbClr val="17143F"/>
          </a:solidFill>
          <a:ln w="12700">
            <a:solidFill>
              <a:srgbClr val="34D399"/>
            </a:solidFill>
            <a:prstDash val="solid"/>
          </a:ln>
        </p:spPr>
        <p:txBody>
          <a:bodyPr wrap="square" lIns="50800" tIns="50800" rIns="50800" bIns="50800" rtlCol="0" anchor="ctr"/>
          <a:lstStyle/>
          <a:p>
            <a:pPr algn="ctr" indent="0" marL="0">
              <a:buNone/>
            </a:pPr>
            <a:r>
              <a:rPr lang="en-US" sz="1800" b="1" dirty="0">
                <a:solidFill>
                  <a:srgbClr val="F4F3FF"/>
                </a:solidFill>
                <a:latin typeface="Calibri" pitchFamily="34" charset="0"/>
                <a:ea typeface="Calibri" pitchFamily="34" charset="-122"/>
                <a:cs typeface="Calibri" pitchFamily="34" charset="-120"/>
              </a:rPr>
              <a:t>Pixels</a:t>
            </a:r>
            <a:endParaRPr lang="en-US" sz="1300" dirty="0"/>
          </a:p>
          <a:p>
            <a:pPr algn="ctr" indent="0" marL="0">
              <a:buNone/>
            </a:pPr>
            <a:r>
              <a:rPr lang="en-US" sz="1200" dirty="0">
                <a:solidFill>
                  <a:srgbClr val="A8A5D8"/>
                </a:solidFill>
                <a:latin typeface="Calibri" pitchFamily="34" charset="0"/>
                <a:ea typeface="Calibri" pitchFamily="34" charset="-122"/>
                <a:cs typeface="Calibri" pitchFamily="34" charset="-120"/>
              </a:rPr>
              <a:t>what the user sees</a:t>
            </a:r>
            <a:endParaRPr lang="en-US" sz="1300" dirty="0"/>
          </a:p>
        </p:txBody>
      </p:sp>
      <p:sp>
        <p:nvSpPr>
          <p:cNvPr id="14" name="Shape 10"/>
          <p:cNvSpPr/>
          <p:nvPr/>
        </p:nvSpPr>
        <p:spPr>
          <a:xfrm>
            <a:off x="548640" y="2926080"/>
            <a:ext cx="5468112" cy="2514600"/>
          </a:xfrm>
          <a:prstGeom prst="roundRect">
            <a:avLst>
              <a:gd name="adj" fmla="val 4364"/>
            </a:avLst>
          </a:prstGeom>
          <a:solidFill>
            <a:srgbClr val="17143F"/>
          </a:solidFill>
          <a:ln w="12700">
            <a:solidFill>
              <a:srgbClr val="22D3EE"/>
            </a:solidFill>
            <a:prstDash val="solid"/>
          </a:ln>
        </p:spPr>
      </p:sp>
      <p:sp>
        <p:nvSpPr>
          <p:cNvPr id="15" name="Shape 11"/>
          <p:cNvSpPr/>
          <p:nvPr/>
        </p:nvSpPr>
        <p:spPr>
          <a:xfrm>
            <a:off x="777240" y="3200400"/>
            <a:ext cx="640080" cy="640080"/>
          </a:xfrm>
          <a:prstGeom prst="ellipse">
            <a:avLst/>
          </a:prstGeom>
          <a:solidFill>
            <a:srgbClr val="221E58"/>
          </a:solidFill>
          <a:ln w="15875">
            <a:solidFill>
              <a:srgbClr val="22D3EE"/>
            </a:solidFill>
            <a:prstDash val="solid"/>
          </a:ln>
        </p:spPr>
      </p:sp>
      <p:pic>
        <p:nvPicPr>
          <p:cNvPr id="16" name="Image 1" descr="preencoded.png">    </p:cNvPr>
          <p:cNvPicPr>
            <a:picLocks noChangeAspect="1"/>
          </p:cNvPicPr>
          <p:nvPr/>
        </p:nvPicPr>
        <p:blipFill>
          <a:blip r:embed="rId3"/>
          <a:stretch>
            <a:fillRect/>
          </a:stretch>
        </p:blipFill>
        <p:spPr>
          <a:xfrm>
            <a:off x="937260" y="3360420"/>
            <a:ext cx="320040" cy="320040"/>
          </a:xfrm>
          <a:prstGeom prst="rect">
            <a:avLst/>
          </a:prstGeom>
        </p:spPr>
      </p:pic>
      <p:sp>
        <p:nvSpPr>
          <p:cNvPr id="17" name="Text 12"/>
          <p:cNvSpPr txBox="1"/>
          <p:nvPr/>
        </p:nvSpPr>
        <p:spPr>
          <a:xfrm>
            <a:off x="1600200" y="3291840"/>
            <a:ext cx="4206240" cy="457200"/>
          </a:xfrm>
          <a:prstGeom prst="rect">
            <a:avLst/>
          </a:prstGeom>
          <a:noFill/>
          <a:ln/>
        </p:spPr>
        <p:txBody>
          <a:bodyPr wrap="square" lIns="0" tIns="0" rIns="0" bIns="0" rtlCol="0" anchor="t"/>
          <a:lstStyle/>
          <a:p>
            <a:pPr indent="0" marL="0">
              <a:buNone/>
            </a:pPr>
            <a:r>
              <a:rPr lang="en-US" sz="2200" b="1" dirty="0">
                <a:solidFill>
                  <a:srgbClr val="F4F3FF"/>
                </a:solidFill>
                <a:latin typeface="Calibri" pitchFamily="34" charset="0"/>
                <a:ea typeface="Calibri" pitchFamily="34" charset="-122"/>
                <a:cs typeface="Calibri" pitchFamily="34" charset="-120"/>
              </a:rPr>
              <a:t>WHERE does it happen?</a:t>
            </a:r>
            <a:endParaRPr lang="en-US" sz="2200" dirty="0"/>
          </a:p>
        </p:txBody>
      </p:sp>
      <p:sp>
        <p:nvSpPr>
          <p:cNvPr id="18" name="Text 13"/>
          <p:cNvSpPr txBox="1"/>
          <p:nvPr/>
        </p:nvSpPr>
        <p:spPr>
          <a:xfrm>
            <a:off x="868680" y="4114800"/>
            <a:ext cx="4828032" cy="502920"/>
          </a:xfrm>
          <a:prstGeom prst="roundRect">
            <a:avLst>
              <a:gd name="adj" fmla="val 18182"/>
            </a:avLst>
          </a:prstGeom>
          <a:solidFill>
            <a:srgbClr val="221E58"/>
          </a:solidFill>
          <a:ln w="12700">
            <a:solidFill>
              <a:srgbClr val="22D3EE"/>
            </a:solidFill>
            <a:prstDash val="solid"/>
          </a:ln>
        </p:spPr>
        <p:txBody>
          <a:bodyPr wrap="square" lIns="50800" tIns="50800" rIns="50800" bIns="50800" rtlCol="0" anchor="ctr"/>
          <a:lstStyle/>
          <a:p>
            <a:pPr algn="ctr" indent="0" marL="0">
              <a:buNone/>
            </a:pPr>
            <a:r>
              <a:rPr lang="en-US" sz="1500" b="1" dirty="0">
                <a:solidFill>
                  <a:srgbClr val="F4F3FF"/>
                </a:solidFill>
                <a:latin typeface="Calibri" pitchFamily="34" charset="0"/>
                <a:ea typeface="Calibri" pitchFamily="34" charset="-122"/>
                <a:cs typeface="Calibri" pitchFamily="34" charset="-120"/>
              </a:rPr>
              <a:t>On the server</a:t>
            </a:r>
            <a:endParaRPr lang="en-US" sz="1500" dirty="0"/>
          </a:p>
        </p:txBody>
      </p:sp>
      <p:sp>
        <p:nvSpPr>
          <p:cNvPr id="19" name="Text 14"/>
          <p:cNvSpPr txBox="1"/>
          <p:nvPr/>
        </p:nvSpPr>
        <p:spPr>
          <a:xfrm>
            <a:off x="868680" y="4736592"/>
            <a:ext cx="4828032" cy="502920"/>
          </a:xfrm>
          <a:prstGeom prst="roundRect">
            <a:avLst>
              <a:gd name="adj" fmla="val 18182"/>
            </a:avLst>
          </a:prstGeom>
          <a:solidFill>
            <a:srgbClr val="221E58"/>
          </a:solidFill>
          <a:ln w="12700">
            <a:solidFill>
              <a:srgbClr val="22D3EE"/>
            </a:solidFill>
            <a:prstDash val="solid"/>
          </a:ln>
        </p:spPr>
        <p:txBody>
          <a:bodyPr wrap="square" lIns="50800" tIns="50800" rIns="50800" bIns="50800" rtlCol="0" anchor="ctr"/>
          <a:lstStyle/>
          <a:p>
            <a:pPr algn="ctr" indent="0" marL="0">
              <a:buNone/>
            </a:pPr>
            <a:r>
              <a:rPr lang="en-US" sz="1500" b="1" dirty="0">
                <a:solidFill>
                  <a:srgbClr val="F4F3FF"/>
                </a:solidFill>
                <a:latin typeface="Calibri" pitchFamily="34" charset="0"/>
                <a:ea typeface="Calibri" pitchFamily="34" charset="-122"/>
                <a:cs typeface="Calibri" pitchFamily="34" charset="-120"/>
              </a:rPr>
              <a:t>In the browser</a:t>
            </a:r>
            <a:endParaRPr lang="en-US" sz="1500" dirty="0"/>
          </a:p>
        </p:txBody>
      </p:sp>
      <p:sp>
        <p:nvSpPr>
          <p:cNvPr id="20" name="Shape 15"/>
          <p:cNvSpPr/>
          <p:nvPr/>
        </p:nvSpPr>
        <p:spPr>
          <a:xfrm>
            <a:off x="6172200" y="2926080"/>
            <a:ext cx="5468112" cy="2514600"/>
          </a:xfrm>
          <a:prstGeom prst="roundRect">
            <a:avLst>
              <a:gd name="adj" fmla="val 4364"/>
            </a:avLst>
          </a:prstGeom>
          <a:solidFill>
            <a:srgbClr val="17143F"/>
          </a:solidFill>
          <a:ln w="12700">
            <a:solidFill>
              <a:srgbClr val="FBBF24"/>
            </a:solidFill>
            <a:prstDash val="solid"/>
          </a:ln>
        </p:spPr>
      </p:sp>
      <p:sp>
        <p:nvSpPr>
          <p:cNvPr id="21" name="Shape 16"/>
          <p:cNvSpPr/>
          <p:nvPr/>
        </p:nvSpPr>
        <p:spPr>
          <a:xfrm>
            <a:off x="6400800" y="3200400"/>
            <a:ext cx="640080" cy="640080"/>
          </a:xfrm>
          <a:prstGeom prst="ellipse">
            <a:avLst/>
          </a:prstGeom>
          <a:solidFill>
            <a:srgbClr val="221E58"/>
          </a:solidFill>
          <a:ln w="15875">
            <a:solidFill>
              <a:srgbClr val="FBBF24"/>
            </a:solidFill>
            <a:prstDash val="solid"/>
          </a:ln>
        </p:spPr>
      </p:sp>
      <p:pic>
        <p:nvPicPr>
          <p:cNvPr id="22" name="Image 2" descr="preencoded.png">    </p:cNvPr>
          <p:cNvPicPr>
            <a:picLocks noChangeAspect="1"/>
          </p:cNvPicPr>
          <p:nvPr/>
        </p:nvPicPr>
        <p:blipFill>
          <a:blip r:embed="rId4"/>
          <a:stretch>
            <a:fillRect/>
          </a:stretch>
        </p:blipFill>
        <p:spPr>
          <a:xfrm>
            <a:off x="6560820" y="3360420"/>
            <a:ext cx="320040" cy="320040"/>
          </a:xfrm>
          <a:prstGeom prst="rect">
            <a:avLst/>
          </a:prstGeom>
        </p:spPr>
      </p:pic>
      <p:sp>
        <p:nvSpPr>
          <p:cNvPr id="23" name="Text 17"/>
          <p:cNvSpPr txBox="1"/>
          <p:nvPr/>
        </p:nvSpPr>
        <p:spPr>
          <a:xfrm>
            <a:off x="7223760" y="3291840"/>
            <a:ext cx="4206240" cy="457200"/>
          </a:xfrm>
          <a:prstGeom prst="rect">
            <a:avLst/>
          </a:prstGeom>
          <a:noFill/>
          <a:ln/>
        </p:spPr>
        <p:txBody>
          <a:bodyPr wrap="square" lIns="0" tIns="0" rIns="0" bIns="0" rtlCol="0" anchor="t"/>
          <a:lstStyle/>
          <a:p>
            <a:pPr indent="0" marL="0">
              <a:buNone/>
            </a:pPr>
            <a:r>
              <a:rPr lang="en-US" sz="2200" b="1" dirty="0">
                <a:solidFill>
                  <a:srgbClr val="F4F3FF"/>
                </a:solidFill>
                <a:latin typeface="Calibri" pitchFamily="34" charset="0"/>
                <a:ea typeface="Calibri" pitchFamily="34" charset="-122"/>
                <a:cs typeface="Calibri" pitchFamily="34" charset="-120"/>
              </a:rPr>
              <a:t>WHEN does it happen?</a:t>
            </a:r>
            <a:endParaRPr lang="en-US" sz="2200" dirty="0"/>
          </a:p>
        </p:txBody>
      </p:sp>
      <p:sp>
        <p:nvSpPr>
          <p:cNvPr id="24" name="Text 18"/>
          <p:cNvSpPr txBox="1"/>
          <p:nvPr/>
        </p:nvSpPr>
        <p:spPr>
          <a:xfrm>
            <a:off x="6492240" y="4114800"/>
            <a:ext cx="4828032" cy="502920"/>
          </a:xfrm>
          <a:prstGeom prst="roundRect">
            <a:avLst>
              <a:gd name="adj" fmla="val 18182"/>
            </a:avLst>
          </a:prstGeom>
          <a:solidFill>
            <a:srgbClr val="221E58"/>
          </a:solidFill>
          <a:ln w="12700">
            <a:solidFill>
              <a:srgbClr val="FBBF24"/>
            </a:solidFill>
            <a:prstDash val="solid"/>
          </a:ln>
        </p:spPr>
        <p:txBody>
          <a:bodyPr wrap="square" lIns="50800" tIns="50800" rIns="50800" bIns="50800" rtlCol="0" anchor="ctr"/>
          <a:lstStyle/>
          <a:p>
            <a:pPr algn="ctr" indent="0" marL="0">
              <a:buNone/>
            </a:pPr>
            <a:r>
              <a:rPr lang="en-US" sz="1500" b="1" dirty="0">
                <a:solidFill>
                  <a:srgbClr val="F4F3FF"/>
                </a:solidFill>
                <a:latin typeface="Calibri" pitchFamily="34" charset="0"/>
                <a:ea typeface="Calibri" pitchFamily="34" charset="-122"/>
                <a:cs typeface="Calibri" pitchFamily="34" charset="-120"/>
              </a:rPr>
              <a:t>At build time</a:t>
            </a:r>
            <a:endParaRPr lang="en-US" sz="1500" dirty="0"/>
          </a:p>
        </p:txBody>
      </p:sp>
      <p:sp>
        <p:nvSpPr>
          <p:cNvPr id="25" name="Text 19"/>
          <p:cNvSpPr txBox="1"/>
          <p:nvPr/>
        </p:nvSpPr>
        <p:spPr>
          <a:xfrm>
            <a:off x="6492240" y="4736592"/>
            <a:ext cx="4828032" cy="502920"/>
          </a:xfrm>
          <a:prstGeom prst="roundRect">
            <a:avLst>
              <a:gd name="adj" fmla="val 18182"/>
            </a:avLst>
          </a:prstGeom>
          <a:solidFill>
            <a:srgbClr val="221E58"/>
          </a:solidFill>
          <a:ln w="12700">
            <a:solidFill>
              <a:srgbClr val="FBBF24"/>
            </a:solidFill>
            <a:prstDash val="solid"/>
          </a:ln>
        </p:spPr>
        <p:txBody>
          <a:bodyPr wrap="square" lIns="50800" tIns="50800" rIns="50800" bIns="50800" rtlCol="0" anchor="ctr"/>
          <a:lstStyle/>
          <a:p>
            <a:pPr algn="ctr" indent="0" marL="0">
              <a:buNone/>
            </a:pPr>
            <a:r>
              <a:rPr lang="en-US" sz="1500" b="1" dirty="0">
                <a:solidFill>
                  <a:srgbClr val="F4F3FF"/>
                </a:solidFill>
                <a:latin typeface="Calibri" pitchFamily="34" charset="0"/>
                <a:ea typeface="Calibri" pitchFamily="34" charset="-122"/>
                <a:cs typeface="Calibri" pitchFamily="34" charset="-120"/>
              </a:rPr>
              <a:t>At request time, or on a schedule</a:t>
            </a:r>
            <a:endParaRPr lang="en-US" sz="1500" dirty="0"/>
          </a:p>
        </p:txBody>
      </p:sp>
      <p:sp>
        <p:nvSpPr>
          <p:cNvPr id="26" name="Shape 20"/>
          <p:cNvSpPr/>
          <p:nvPr/>
        </p:nvSpPr>
        <p:spPr>
          <a:xfrm>
            <a:off x="548640" y="5623560"/>
            <a:ext cx="11091672" cy="548640"/>
          </a:xfrm>
          <a:prstGeom prst="roundRect">
            <a:avLst>
              <a:gd name="adj" fmla="val 20000"/>
            </a:avLst>
          </a:prstGeom>
          <a:solidFill>
            <a:srgbClr val="221E58"/>
          </a:solidFill>
          <a:ln w="12700">
            <a:solidFill>
              <a:srgbClr val="8B7CFF"/>
            </a:solidFill>
            <a:prstDash val="solid"/>
          </a:ln>
        </p:spPr>
      </p:sp>
      <p:sp>
        <p:nvSpPr>
          <p:cNvPr id="27" name="Text 21"/>
          <p:cNvSpPr txBox="1"/>
          <p:nvPr/>
        </p:nvSpPr>
        <p:spPr>
          <a:xfrm>
            <a:off x="777240" y="5623560"/>
            <a:ext cx="10607040" cy="548640"/>
          </a:xfrm>
          <a:prstGeom prst="rect">
            <a:avLst/>
          </a:prstGeom>
          <a:noFill/>
          <a:ln/>
        </p:spPr>
        <p:txBody>
          <a:bodyPr wrap="square" lIns="0" tIns="0" rIns="0" bIns="0" rtlCol="0" anchor="ctr"/>
          <a:lstStyle/>
          <a:p>
            <a:pPr indent="0" marL="0">
              <a:buNone/>
            </a:pPr>
            <a:r>
              <a:rPr lang="en-US" sz="1600" b="1" dirty="0">
                <a:solidFill>
                  <a:srgbClr val="F4F3FF"/>
                </a:solidFill>
                <a:latin typeface="Calibri" pitchFamily="34" charset="0"/>
                <a:ea typeface="Calibri" pitchFamily="34" charset="-122"/>
                <a:cs typeface="Calibri" pitchFamily="34" charset="-120"/>
              </a:rPr>
              <a:t>CSR, SSR, SSG and ISR are just different answers to WHERE and WHEN.</a:t>
            </a:r>
            <a:endParaRPr lang="en-US" sz="16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RENDERING  |  CSR</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Client-Side Rendering: the browser does the work</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15</a:t>
            </a:r>
            <a:endParaRPr lang="en-US" sz="1100" dirty="0"/>
          </a:p>
        </p:txBody>
      </p:sp>
      <p:sp>
        <p:nvSpPr>
          <p:cNvPr id="7" name="Shape 3"/>
          <p:cNvSpPr/>
          <p:nvPr/>
        </p:nvSpPr>
        <p:spPr>
          <a:xfrm>
            <a:off x="1005840" y="1600200"/>
            <a:ext cx="1828800" cy="457200"/>
          </a:xfrm>
          <a:prstGeom prst="roundRect">
            <a:avLst>
              <a:gd name="adj" fmla="val 50000"/>
            </a:avLst>
          </a:prstGeom>
          <a:solidFill>
            <a:srgbClr val="17143F"/>
          </a:solidFill>
          <a:ln w="12700">
            <a:solidFill>
              <a:srgbClr val="FBBF24"/>
            </a:solidFill>
            <a:prstDash val="solid"/>
          </a:ln>
        </p:spPr>
      </p:sp>
      <p:pic>
        <p:nvPicPr>
          <p:cNvPr id="8" name="Image 1" descr="preencoded.png">    </p:cNvPr>
          <p:cNvPicPr>
            <a:picLocks noChangeAspect="1"/>
          </p:cNvPicPr>
          <p:nvPr/>
        </p:nvPicPr>
        <p:blipFill>
          <a:blip r:embed="rId3"/>
          <a:stretch>
            <a:fillRect/>
          </a:stretch>
        </p:blipFill>
        <p:spPr>
          <a:xfrm>
            <a:off x="1143000" y="1709928"/>
            <a:ext cx="237744" cy="237744"/>
          </a:xfrm>
          <a:prstGeom prst="rect">
            <a:avLst/>
          </a:prstGeom>
        </p:spPr>
      </p:pic>
      <p:sp>
        <p:nvSpPr>
          <p:cNvPr id="9" name="Text 4"/>
          <p:cNvSpPr txBox="1"/>
          <p:nvPr/>
        </p:nvSpPr>
        <p:spPr>
          <a:xfrm>
            <a:off x="1463040" y="1600200"/>
            <a:ext cx="1280160" cy="457200"/>
          </a:xfrm>
          <a:prstGeom prst="rect">
            <a:avLst/>
          </a:prstGeom>
          <a:noFill/>
          <a:ln/>
        </p:spPr>
        <p:txBody>
          <a:bodyPr wrap="square" lIns="0" tIns="0" rIns="0" bIns="0" rtlCol="0" anchor="ctr"/>
          <a:lstStyle/>
          <a:p>
            <a:pPr indent="0" marL="0">
              <a:buNone/>
            </a:pPr>
            <a:r>
              <a:rPr lang="en-US" sz="1400" b="1" dirty="0">
                <a:solidFill>
                  <a:srgbClr val="F4F3FF"/>
                </a:solidFill>
                <a:latin typeface="Calibri" pitchFamily="34" charset="0"/>
                <a:ea typeface="Calibri" pitchFamily="34" charset="-122"/>
                <a:cs typeface="Calibri" pitchFamily="34" charset="-120"/>
              </a:rPr>
              <a:t>Browser</a:t>
            </a:r>
            <a:endParaRPr lang="en-US" sz="1400" dirty="0"/>
          </a:p>
        </p:txBody>
      </p:sp>
      <p:sp>
        <p:nvSpPr>
          <p:cNvPr id="10" name="Shape 5"/>
          <p:cNvSpPr/>
          <p:nvPr/>
        </p:nvSpPr>
        <p:spPr>
          <a:xfrm>
            <a:off x="5029200" y="1600200"/>
            <a:ext cx="1828800" cy="457200"/>
          </a:xfrm>
          <a:prstGeom prst="roundRect">
            <a:avLst>
              <a:gd name="adj" fmla="val 50000"/>
            </a:avLst>
          </a:prstGeom>
          <a:solidFill>
            <a:srgbClr val="17143F"/>
          </a:solidFill>
          <a:ln w="12700">
            <a:solidFill>
              <a:srgbClr val="22D3EE"/>
            </a:solidFill>
            <a:prstDash val="solid"/>
          </a:ln>
        </p:spPr>
      </p:sp>
      <p:pic>
        <p:nvPicPr>
          <p:cNvPr id="11" name="Image 2" descr="preencoded.png">    </p:cNvPr>
          <p:cNvPicPr>
            <a:picLocks noChangeAspect="1"/>
          </p:cNvPicPr>
          <p:nvPr/>
        </p:nvPicPr>
        <p:blipFill>
          <a:blip r:embed="rId4"/>
          <a:stretch>
            <a:fillRect/>
          </a:stretch>
        </p:blipFill>
        <p:spPr>
          <a:xfrm>
            <a:off x="5166360" y="1709928"/>
            <a:ext cx="237744" cy="237744"/>
          </a:xfrm>
          <a:prstGeom prst="rect">
            <a:avLst/>
          </a:prstGeom>
        </p:spPr>
      </p:pic>
      <p:sp>
        <p:nvSpPr>
          <p:cNvPr id="12" name="Text 6"/>
          <p:cNvSpPr txBox="1"/>
          <p:nvPr/>
        </p:nvSpPr>
        <p:spPr>
          <a:xfrm>
            <a:off x="5486400" y="1600200"/>
            <a:ext cx="1280160" cy="457200"/>
          </a:xfrm>
          <a:prstGeom prst="rect">
            <a:avLst/>
          </a:prstGeom>
          <a:noFill/>
          <a:ln/>
        </p:spPr>
        <p:txBody>
          <a:bodyPr wrap="square" lIns="0" tIns="0" rIns="0" bIns="0" rtlCol="0" anchor="ctr"/>
          <a:lstStyle/>
          <a:p>
            <a:pPr indent="0" marL="0">
              <a:buNone/>
            </a:pPr>
            <a:r>
              <a:rPr lang="en-US" sz="1400" b="1" dirty="0">
                <a:solidFill>
                  <a:srgbClr val="F4F3FF"/>
                </a:solidFill>
                <a:latin typeface="Calibri" pitchFamily="34" charset="0"/>
                <a:ea typeface="Calibri" pitchFamily="34" charset="-122"/>
                <a:cs typeface="Calibri" pitchFamily="34" charset="-120"/>
              </a:rPr>
              <a:t>Server</a:t>
            </a:r>
            <a:endParaRPr lang="en-US" sz="1400" dirty="0"/>
          </a:p>
        </p:txBody>
      </p:sp>
      <p:sp>
        <p:nvSpPr>
          <p:cNvPr id="13" name="Shape 7"/>
          <p:cNvSpPr/>
          <p:nvPr/>
        </p:nvSpPr>
        <p:spPr>
          <a:xfrm>
            <a:off x="1920240" y="2103120"/>
            <a:ext cx="0" cy="4224528"/>
          </a:xfrm>
          <a:prstGeom prst="line">
            <a:avLst/>
          </a:prstGeom>
          <a:noFill/>
          <a:ln w="19050">
            <a:solidFill>
              <a:srgbClr val="3A3580"/>
            </a:solidFill>
            <a:prstDash val="dash"/>
          </a:ln>
        </p:spPr>
      </p:sp>
      <p:sp>
        <p:nvSpPr>
          <p:cNvPr id="14" name="Shape 8"/>
          <p:cNvSpPr/>
          <p:nvPr/>
        </p:nvSpPr>
        <p:spPr>
          <a:xfrm>
            <a:off x="5943600" y="2103120"/>
            <a:ext cx="0" cy="4224528"/>
          </a:xfrm>
          <a:prstGeom prst="line">
            <a:avLst/>
          </a:prstGeom>
          <a:noFill/>
          <a:ln w="19050">
            <a:solidFill>
              <a:srgbClr val="3A3580"/>
            </a:solidFill>
            <a:prstDash val="dash"/>
          </a:ln>
        </p:spPr>
      </p:sp>
      <p:sp>
        <p:nvSpPr>
          <p:cNvPr id="15" name="A1_m"/>
          <p:cNvSpPr/>
          <p:nvPr/>
        </p:nvSpPr>
        <p:spPr>
          <a:xfrm>
            <a:off x="1965960" y="2651760"/>
            <a:ext cx="3931920" cy="0"/>
          </a:xfrm>
          <a:prstGeom prst="line">
            <a:avLst/>
          </a:prstGeom>
          <a:noFill/>
          <a:ln w="28575">
            <a:solidFill>
              <a:srgbClr val="8B7CFF"/>
            </a:solidFill>
            <a:prstDash val="solid"/>
            <a:tailEnd type="triangle"/>
          </a:ln>
        </p:spPr>
      </p:sp>
      <p:sp>
        <p:nvSpPr>
          <p:cNvPr id="16" name="A1_ml"/>
          <p:cNvSpPr txBox="1"/>
          <p:nvPr/>
        </p:nvSpPr>
        <p:spPr>
          <a:xfrm>
            <a:off x="2011680" y="2304288"/>
            <a:ext cx="3840480" cy="274320"/>
          </a:xfrm>
          <a:prstGeom prst="rect">
            <a:avLst/>
          </a:prstGeom>
          <a:noFill/>
          <a:ln/>
        </p:spPr>
        <p:txBody>
          <a:bodyPr wrap="square" lIns="0" tIns="0" rIns="0" bIns="0" rtlCol="0" anchor="b"/>
          <a:lstStyle/>
          <a:p>
            <a:pPr algn="ctr" indent="0" marL="0">
              <a:buNone/>
            </a:pPr>
            <a:r>
              <a:rPr lang="en-US" sz="1200" b="1" dirty="0">
                <a:solidFill>
                  <a:srgbClr val="F4F3FF"/>
                </a:solidFill>
                <a:latin typeface="Calibri" pitchFamily="34" charset="0"/>
                <a:ea typeface="Calibri" pitchFamily="34" charset="-122"/>
                <a:cs typeface="Calibri" pitchFamily="34" charset="-120"/>
              </a:rPr>
              <a:t>GET /dashboard</a:t>
            </a:r>
            <a:endParaRPr lang="en-US" sz="1200" dirty="0"/>
          </a:p>
        </p:txBody>
      </p:sp>
      <p:sp>
        <p:nvSpPr>
          <p:cNvPr id="17" name="A2_m"/>
          <p:cNvSpPr/>
          <p:nvPr/>
        </p:nvSpPr>
        <p:spPr>
          <a:xfrm flipH="1">
            <a:off x="1965960" y="3310128"/>
            <a:ext cx="3931920" cy="0"/>
          </a:xfrm>
          <a:prstGeom prst="line">
            <a:avLst/>
          </a:prstGeom>
          <a:noFill/>
          <a:ln w="28575">
            <a:solidFill>
              <a:srgbClr val="FBBF24"/>
            </a:solidFill>
            <a:prstDash val="solid"/>
            <a:tailEnd type="triangle"/>
          </a:ln>
        </p:spPr>
      </p:sp>
      <p:sp>
        <p:nvSpPr>
          <p:cNvPr id="18" name="A2_ml"/>
          <p:cNvSpPr txBox="1"/>
          <p:nvPr/>
        </p:nvSpPr>
        <p:spPr>
          <a:xfrm>
            <a:off x="2011680" y="2962656"/>
            <a:ext cx="3840480" cy="274320"/>
          </a:xfrm>
          <a:prstGeom prst="rect">
            <a:avLst/>
          </a:prstGeom>
          <a:noFill/>
          <a:ln/>
        </p:spPr>
        <p:txBody>
          <a:bodyPr wrap="square" lIns="0" tIns="0" rIns="0" bIns="0" rtlCol="0" anchor="b"/>
          <a:lstStyle/>
          <a:p>
            <a:pPr algn="ctr" indent="0" marL="0">
              <a:buNone/>
            </a:pPr>
            <a:r>
              <a:rPr lang="en-US" sz="1200" b="1" dirty="0">
                <a:solidFill>
                  <a:srgbClr val="F4F3FF"/>
                </a:solidFill>
                <a:latin typeface="Calibri" pitchFamily="34" charset="0"/>
                <a:ea typeface="Calibri" pitchFamily="34" charset="-122"/>
                <a:cs typeface="Calibri" pitchFamily="34" charset="-120"/>
              </a:rPr>
              <a:t>Almost empty HTML + JS bundle</a:t>
            </a:r>
            <a:endParaRPr lang="en-US" sz="1200" dirty="0"/>
          </a:p>
        </p:txBody>
      </p:sp>
      <p:sp>
        <p:nvSpPr>
          <p:cNvPr id="19" name="A3_n"/>
          <p:cNvSpPr txBox="1"/>
          <p:nvPr/>
        </p:nvSpPr>
        <p:spPr>
          <a:xfrm>
            <a:off x="594360" y="3675888"/>
            <a:ext cx="2651760" cy="548640"/>
          </a:xfrm>
          <a:prstGeom prst="roundRect">
            <a:avLst>
              <a:gd name="adj" fmla="val 16667"/>
            </a:avLst>
          </a:prstGeom>
          <a:solidFill>
            <a:srgbClr val="221E58"/>
          </a:solidFill>
          <a:ln w="19050">
            <a:solidFill>
              <a:srgbClr val="FBBF24"/>
            </a:solidFill>
            <a:prstDash val="solid"/>
          </a:ln>
        </p:spPr>
        <p:txBody>
          <a:bodyPr wrap="square" lIns="50800" tIns="50800" rIns="50800" bIns="50800" rtlCol="0" anchor="ctr"/>
          <a:lstStyle/>
          <a:p>
            <a:pPr algn="ctr" indent="0" marL="0">
              <a:buNone/>
            </a:pPr>
            <a:r>
              <a:rPr lang="en-US" sz="1200" dirty="0">
                <a:solidFill>
                  <a:srgbClr val="F4F3FF"/>
                </a:solidFill>
                <a:latin typeface="Calibri" pitchFamily="34" charset="0"/>
                <a:ea typeface="Calibri" pitchFamily="34" charset="-122"/>
                <a:cs typeface="Calibri" pitchFamily="34" charset="-120"/>
              </a:rPr>
              <a:t>JS runs. User sees a blank page or spinner</a:t>
            </a:r>
            <a:endParaRPr lang="en-US" sz="1200" dirty="0"/>
          </a:p>
        </p:txBody>
      </p:sp>
      <p:sp>
        <p:nvSpPr>
          <p:cNvPr id="20" name="A4_m"/>
          <p:cNvSpPr/>
          <p:nvPr/>
        </p:nvSpPr>
        <p:spPr>
          <a:xfrm>
            <a:off x="1965960" y="4626864"/>
            <a:ext cx="3931920" cy="0"/>
          </a:xfrm>
          <a:prstGeom prst="line">
            <a:avLst/>
          </a:prstGeom>
          <a:noFill/>
          <a:ln w="28575">
            <a:solidFill>
              <a:srgbClr val="8B7CFF"/>
            </a:solidFill>
            <a:prstDash val="solid"/>
            <a:tailEnd type="triangle"/>
          </a:ln>
        </p:spPr>
      </p:sp>
      <p:sp>
        <p:nvSpPr>
          <p:cNvPr id="21" name="A4_ml"/>
          <p:cNvSpPr txBox="1"/>
          <p:nvPr/>
        </p:nvSpPr>
        <p:spPr>
          <a:xfrm>
            <a:off x="2011680" y="4279392"/>
            <a:ext cx="3840480" cy="274320"/>
          </a:xfrm>
          <a:prstGeom prst="rect">
            <a:avLst/>
          </a:prstGeom>
          <a:noFill/>
          <a:ln/>
        </p:spPr>
        <p:txBody>
          <a:bodyPr wrap="square" lIns="0" tIns="0" rIns="0" bIns="0" rtlCol="0" anchor="b"/>
          <a:lstStyle/>
          <a:p>
            <a:pPr algn="ctr" indent="0" marL="0">
              <a:buNone/>
            </a:pPr>
            <a:r>
              <a:rPr lang="en-US" sz="1200" b="1" dirty="0">
                <a:solidFill>
                  <a:srgbClr val="F4F3FF"/>
                </a:solidFill>
                <a:latin typeface="Calibri" pitchFamily="34" charset="0"/>
                <a:ea typeface="Calibri" pitchFamily="34" charset="-122"/>
                <a:cs typeface="Calibri" pitchFamily="34" charset="-120"/>
              </a:rPr>
              <a:t>fetch("/api/data")</a:t>
            </a:r>
            <a:endParaRPr lang="en-US" sz="1200" dirty="0"/>
          </a:p>
        </p:txBody>
      </p:sp>
      <p:sp>
        <p:nvSpPr>
          <p:cNvPr id="22" name="A5_m"/>
          <p:cNvSpPr/>
          <p:nvPr/>
        </p:nvSpPr>
        <p:spPr>
          <a:xfrm flipH="1">
            <a:off x="1965960" y="5285232"/>
            <a:ext cx="3931920" cy="0"/>
          </a:xfrm>
          <a:prstGeom prst="line">
            <a:avLst/>
          </a:prstGeom>
          <a:noFill/>
          <a:ln w="28575">
            <a:solidFill>
              <a:srgbClr val="8B7CFF"/>
            </a:solidFill>
            <a:prstDash val="solid"/>
            <a:tailEnd type="triangle"/>
          </a:ln>
        </p:spPr>
      </p:sp>
      <p:sp>
        <p:nvSpPr>
          <p:cNvPr id="23" name="A5_ml"/>
          <p:cNvSpPr txBox="1"/>
          <p:nvPr/>
        </p:nvSpPr>
        <p:spPr>
          <a:xfrm>
            <a:off x="2011680" y="4937760"/>
            <a:ext cx="3840480" cy="274320"/>
          </a:xfrm>
          <a:prstGeom prst="rect">
            <a:avLst/>
          </a:prstGeom>
          <a:noFill/>
          <a:ln/>
        </p:spPr>
        <p:txBody>
          <a:bodyPr wrap="square" lIns="0" tIns="0" rIns="0" bIns="0" rtlCol="0" anchor="b"/>
          <a:lstStyle/>
          <a:p>
            <a:pPr algn="ctr" indent="0" marL="0">
              <a:buNone/>
            </a:pPr>
            <a:r>
              <a:rPr lang="en-US" sz="1200" b="1" dirty="0">
                <a:solidFill>
                  <a:srgbClr val="F4F3FF"/>
                </a:solidFill>
                <a:latin typeface="Calibri" pitchFamily="34" charset="0"/>
                <a:ea typeface="Calibri" pitchFamily="34" charset="-122"/>
                <a:cs typeface="Calibri" pitchFamily="34" charset="-120"/>
              </a:rPr>
              <a:t>JSON data</a:t>
            </a:r>
            <a:endParaRPr lang="en-US" sz="1200" dirty="0"/>
          </a:p>
        </p:txBody>
      </p:sp>
      <p:sp>
        <p:nvSpPr>
          <p:cNvPr id="24" name="A6_n"/>
          <p:cNvSpPr txBox="1"/>
          <p:nvPr/>
        </p:nvSpPr>
        <p:spPr>
          <a:xfrm>
            <a:off x="594360" y="5650992"/>
            <a:ext cx="2651760" cy="548640"/>
          </a:xfrm>
          <a:prstGeom prst="roundRect">
            <a:avLst>
              <a:gd name="adj" fmla="val 16667"/>
            </a:avLst>
          </a:prstGeom>
          <a:solidFill>
            <a:srgbClr val="221E58"/>
          </a:solidFill>
          <a:ln w="19050">
            <a:solidFill>
              <a:srgbClr val="34D399"/>
            </a:solidFill>
            <a:prstDash val="solid"/>
          </a:ln>
        </p:spPr>
        <p:txBody>
          <a:bodyPr wrap="square" lIns="50800" tIns="50800" rIns="50800" bIns="50800" rtlCol="0" anchor="ctr"/>
          <a:lstStyle/>
          <a:p>
            <a:pPr algn="ctr" indent="0" marL="0">
              <a:buNone/>
            </a:pPr>
            <a:r>
              <a:rPr lang="en-US" sz="1200" dirty="0">
                <a:solidFill>
                  <a:srgbClr val="F4F3FF"/>
                </a:solidFill>
                <a:latin typeface="Calibri" pitchFamily="34" charset="0"/>
                <a:ea typeface="Calibri" pitchFamily="34" charset="-122"/>
                <a:cs typeface="Calibri" pitchFamily="34" charset="-120"/>
              </a:rPr>
              <a:t>React renders the UI in the browser</a:t>
            </a:r>
            <a:endParaRPr lang="en-US" sz="1200" dirty="0"/>
          </a:p>
        </p:txBody>
      </p:sp>
      <p:sp>
        <p:nvSpPr>
          <p:cNvPr id="25" name="Shape 19"/>
          <p:cNvSpPr/>
          <p:nvPr/>
        </p:nvSpPr>
        <p:spPr>
          <a:xfrm>
            <a:off x="7818120" y="1600200"/>
            <a:ext cx="3822192" cy="786384"/>
          </a:xfrm>
          <a:prstGeom prst="roundRect">
            <a:avLst>
              <a:gd name="adj" fmla="val 13953"/>
            </a:avLst>
          </a:prstGeom>
          <a:solidFill>
            <a:srgbClr val="17143F"/>
          </a:solidFill>
          <a:ln w="12700">
            <a:solidFill>
              <a:srgbClr val="3A3580"/>
            </a:solidFill>
            <a:prstDash val="solid"/>
          </a:ln>
        </p:spPr>
      </p:sp>
      <p:sp>
        <p:nvSpPr>
          <p:cNvPr id="26" name="Text 20"/>
          <p:cNvSpPr txBox="1"/>
          <p:nvPr/>
        </p:nvSpPr>
        <p:spPr>
          <a:xfrm>
            <a:off x="8019288" y="1691640"/>
            <a:ext cx="3456432" cy="228600"/>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WHERE</a:t>
            </a:r>
            <a:endParaRPr lang="en-US" sz="1000" dirty="0"/>
          </a:p>
        </p:txBody>
      </p:sp>
      <p:sp>
        <p:nvSpPr>
          <p:cNvPr id="27" name="Text 21"/>
          <p:cNvSpPr txBox="1"/>
          <p:nvPr/>
        </p:nvSpPr>
        <p:spPr>
          <a:xfrm>
            <a:off x="8019288" y="1929384"/>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In the browser</a:t>
            </a:r>
            <a:endParaRPr lang="en-US" sz="1300" dirty="0"/>
          </a:p>
        </p:txBody>
      </p:sp>
      <p:sp>
        <p:nvSpPr>
          <p:cNvPr id="28" name="Shape 22"/>
          <p:cNvSpPr/>
          <p:nvPr/>
        </p:nvSpPr>
        <p:spPr>
          <a:xfrm>
            <a:off x="7818120" y="2505456"/>
            <a:ext cx="3822192" cy="786384"/>
          </a:xfrm>
          <a:prstGeom prst="roundRect">
            <a:avLst>
              <a:gd name="adj" fmla="val 13953"/>
            </a:avLst>
          </a:prstGeom>
          <a:solidFill>
            <a:srgbClr val="17143F"/>
          </a:solidFill>
          <a:ln w="12700">
            <a:solidFill>
              <a:srgbClr val="3A3580"/>
            </a:solidFill>
            <a:prstDash val="solid"/>
          </a:ln>
        </p:spPr>
      </p:sp>
      <p:sp>
        <p:nvSpPr>
          <p:cNvPr id="29" name="Text 23"/>
          <p:cNvSpPr txBox="1"/>
          <p:nvPr/>
        </p:nvSpPr>
        <p:spPr>
          <a:xfrm>
            <a:off x="8019288" y="2596896"/>
            <a:ext cx="3456432" cy="228600"/>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WHEN</a:t>
            </a:r>
            <a:endParaRPr lang="en-US" sz="1000" dirty="0"/>
          </a:p>
        </p:txBody>
      </p:sp>
      <p:sp>
        <p:nvSpPr>
          <p:cNvPr id="30" name="Text 24"/>
          <p:cNvSpPr txBox="1"/>
          <p:nvPr/>
        </p:nvSpPr>
        <p:spPr>
          <a:xfrm>
            <a:off x="8019288" y="2834640"/>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After the page loads, on every visit</a:t>
            </a:r>
            <a:endParaRPr lang="en-US" sz="1300" dirty="0"/>
          </a:p>
        </p:txBody>
      </p:sp>
      <p:sp>
        <p:nvSpPr>
          <p:cNvPr id="31" name="Shape 25"/>
          <p:cNvSpPr/>
          <p:nvPr/>
        </p:nvSpPr>
        <p:spPr>
          <a:xfrm>
            <a:off x="7818120" y="3410712"/>
            <a:ext cx="3822192" cy="786384"/>
          </a:xfrm>
          <a:prstGeom prst="roundRect">
            <a:avLst>
              <a:gd name="adj" fmla="val 13953"/>
            </a:avLst>
          </a:prstGeom>
          <a:solidFill>
            <a:srgbClr val="17143F"/>
          </a:solidFill>
          <a:ln w="12700">
            <a:solidFill>
              <a:srgbClr val="3A3580"/>
            </a:solidFill>
            <a:prstDash val="solid"/>
          </a:ln>
        </p:spPr>
      </p:sp>
      <p:sp>
        <p:nvSpPr>
          <p:cNvPr id="32" name="Text 26"/>
          <p:cNvSpPr txBox="1"/>
          <p:nvPr/>
        </p:nvSpPr>
        <p:spPr>
          <a:xfrm>
            <a:off x="8019288" y="3502152"/>
            <a:ext cx="3456432" cy="228600"/>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GOOD FOR</a:t>
            </a:r>
            <a:endParaRPr lang="en-US" sz="1000" dirty="0"/>
          </a:p>
        </p:txBody>
      </p:sp>
      <p:sp>
        <p:nvSpPr>
          <p:cNvPr id="33" name="Text 27"/>
          <p:cNvSpPr txBox="1"/>
          <p:nvPr/>
        </p:nvSpPr>
        <p:spPr>
          <a:xfrm>
            <a:off x="8019288" y="3739896"/>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Private dashboards, highly interactive UI</a:t>
            </a:r>
            <a:endParaRPr lang="en-US" sz="1300" dirty="0"/>
          </a:p>
        </p:txBody>
      </p:sp>
      <p:sp>
        <p:nvSpPr>
          <p:cNvPr id="34" name="Shape 28"/>
          <p:cNvSpPr/>
          <p:nvPr/>
        </p:nvSpPr>
        <p:spPr>
          <a:xfrm>
            <a:off x="7818120" y="4315968"/>
            <a:ext cx="3822192" cy="786384"/>
          </a:xfrm>
          <a:prstGeom prst="roundRect">
            <a:avLst>
              <a:gd name="adj" fmla="val 13953"/>
            </a:avLst>
          </a:prstGeom>
          <a:solidFill>
            <a:srgbClr val="17143F"/>
          </a:solidFill>
          <a:ln w="12700">
            <a:solidFill>
              <a:srgbClr val="3A3580"/>
            </a:solidFill>
            <a:prstDash val="solid"/>
          </a:ln>
        </p:spPr>
      </p:sp>
      <p:sp>
        <p:nvSpPr>
          <p:cNvPr id="35" name="Text 29"/>
          <p:cNvSpPr txBox="1"/>
          <p:nvPr/>
        </p:nvSpPr>
        <p:spPr>
          <a:xfrm>
            <a:off x="8019288" y="4407408"/>
            <a:ext cx="3456432" cy="228600"/>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TRADE-OFF</a:t>
            </a:r>
            <a:endParaRPr lang="en-US" sz="1000" dirty="0"/>
          </a:p>
        </p:txBody>
      </p:sp>
      <p:sp>
        <p:nvSpPr>
          <p:cNvPr id="36" name="Text 30"/>
          <p:cNvSpPr txBox="1"/>
          <p:nvPr/>
        </p:nvSpPr>
        <p:spPr>
          <a:xfrm>
            <a:off x="8019288" y="4645152"/>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Blank first paint, more JS, weak SEO</a:t>
            </a:r>
            <a:endParaRPr lang="en-US" sz="1300" dirty="0"/>
          </a:p>
        </p:txBody>
      </p:sp>
      <p:sp>
        <p:nvSpPr>
          <p:cNvPr id="37" name="Shape 31"/>
          <p:cNvSpPr/>
          <p:nvPr/>
        </p:nvSpPr>
        <p:spPr>
          <a:xfrm>
            <a:off x="7818120" y="5221224"/>
            <a:ext cx="3822192" cy="786384"/>
          </a:xfrm>
          <a:prstGeom prst="roundRect">
            <a:avLst>
              <a:gd name="adj" fmla="val 13953"/>
            </a:avLst>
          </a:prstGeom>
          <a:solidFill>
            <a:srgbClr val="17143F"/>
          </a:solidFill>
          <a:ln w="19050">
            <a:solidFill>
              <a:srgbClr val="FBBF24"/>
            </a:solidFill>
            <a:prstDash val="solid"/>
          </a:ln>
        </p:spPr>
      </p:sp>
      <p:sp>
        <p:nvSpPr>
          <p:cNvPr id="38" name="Text 32"/>
          <p:cNvSpPr txBox="1"/>
          <p:nvPr/>
        </p:nvSpPr>
        <p:spPr>
          <a:xfrm>
            <a:off x="8019288" y="5312664"/>
            <a:ext cx="3456432" cy="228600"/>
          </a:xfrm>
          <a:prstGeom prst="rect">
            <a:avLst/>
          </a:prstGeom>
          <a:noFill/>
          <a:ln/>
        </p:spPr>
        <p:txBody>
          <a:bodyPr wrap="square" lIns="0" tIns="0" rIns="0" bIns="0" rtlCol="0" anchor="t"/>
          <a:lstStyle/>
          <a:p>
            <a:pPr indent="0" marL="0">
              <a:buNone/>
            </a:pPr>
            <a:r>
              <a:rPr lang="en-US" sz="1000" b="1" spc="200" kern="0" dirty="0">
                <a:solidFill>
                  <a:srgbClr val="FBBF24"/>
                </a:solidFill>
                <a:latin typeface="Calibri" pitchFamily="34" charset="0"/>
                <a:ea typeface="Calibri" pitchFamily="34" charset="-122"/>
                <a:cs typeface="Calibri" pitchFamily="34" charset="-120"/>
              </a:rPr>
              <a:t>IN NEXT.JS</a:t>
            </a:r>
            <a:endParaRPr lang="en-US" sz="1000" dirty="0"/>
          </a:p>
        </p:txBody>
      </p:sp>
      <p:sp>
        <p:nvSpPr>
          <p:cNvPr id="39" name="Text 33"/>
          <p:cNvSpPr txBox="1"/>
          <p:nvPr/>
        </p:nvSpPr>
        <p:spPr>
          <a:xfrm>
            <a:off x="8019288" y="5550408"/>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Client Components fetching in the browser</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50"/>
                                        <p:tgtEl>
                                          <p:spTgt spid="15"/>
                                        </p:tgtEl>
                                      </p:cBhvr>
                                    </p:animEffect>
                                  </p:childTnLst>
                                </p:cTn>
                              </p:par>
                              <p:par>
                                <p:cTn id="6" presetID="10" presetClass="entr" presetSubtype="0" fill="hold" nodeType="withEffect">
                                  <p:stCondLst>
                                    <p:cond delay="0"/>
                                  </p:stCondLst>
                                  <p:childTnLst>
                                    <p:set>
                                      <p:cBhvr>
                                        <p:cTn id="7" dur="1" fill="hold">
                                          <p:stCondLst>
                                            <p:cond delay="0"/>
                                          </p:stCondLst>
                                        </p:cTn>
                                        <p:tgtEl>
                                          <p:spTgt spid="16"/>
                                        </p:tgtEl>
                                        <p:attrNameLst>
                                          <p:attrName>style.visibility</p:attrName>
                                        </p:attrNameLst>
                                      </p:cBhvr>
                                      <p:to>
                                        <p:strVal val="visible"/>
                                      </p:to>
                                    </p:set>
                                    <p:animEffect transition="in" filter="fade">
                                      <p:cBhvr>
                                        <p:cTn id="8" dur="450"/>
                                        <p:tgtEl>
                                          <p:spTgt spid="16"/>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450"/>
                                        <p:tgtEl>
                                          <p:spTgt spid="18"/>
                                        </p:tgtEl>
                                      </p:cBhvr>
                                    </p:animEffect>
                                  </p:childTnLst>
                                </p:cTn>
                              </p:par>
                            </p:childTnLst>
                          </p:cTn>
                        </p:par>
                      </p:childTnLst>
                    </p:cTn>
                  </p:par>
                  <p:par>
                    <p:cTn id="22" fill="hold">
                      <p:stCondLst>
                        <p:cond delay="indefinite"/>
                      </p:stCondLst>
                      <p:childTnLst>
                        <p:par>
                          <p:cTn id="23"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50"/>
                                        <p:tgtEl>
                                          <p:spTgt spid="19"/>
                                        </p:tgtEl>
                                      </p:cBhvr>
                                    </p:animEffect>
                                  </p:childTnLst>
                                </p:cTn>
                              </p:par>
                            </p:childTnLst>
                          </p:cTn>
                        </p:par>
                      </p:childTnLst>
                    </p:cTn>
                  </p:par>
                  <p:par>
                    <p:cTn id="30" fill="hold">
                      <p:stCondLst>
                        <p:cond delay="indefinite"/>
                      </p:stCondLst>
                      <p:childTnLst>
                        <p:par>
                          <p:cTn id="31"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par>
                                <p:cTn id="27" presetID="10"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childTnLst>
                                </p:cTn>
                              </p:par>
                            </p:childTnLst>
                          </p:cTn>
                        </p:par>
                      </p:childTnLst>
                    </p:cTn>
                  </p:par>
                  <p:par>
                    <p:cTn id="38" fill="hold">
                      <p:stCondLst>
                        <p:cond delay="indefinite"/>
                      </p:stCondLst>
                      <p:childTnLst>
                        <p:par>
                          <p:cTn id="39"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par>
                                <p:cTn id="35" presetID="10"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childTnLst>
                          </p:cTn>
                        </p:par>
                      </p:childTnLst>
                    </p:cTn>
                  </p:par>
                  <p:par>
                    <p:cTn id="43" fill="hold">
                      <p:stCondLst>
                        <p:cond delay="indefinite"/>
                      </p:stCondLst>
                      <p:childTnLst>
                        <p:par>
                          <p:cTn id="44"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RENDERING  |  SSR</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Server-Side Rendering: fresh HTML per request</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16</a:t>
            </a:r>
            <a:endParaRPr lang="en-US" sz="1100" dirty="0"/>
          </a:p>
        </p:txBody>
      </p:sp>
      <p:sp>
        <p:nvSpPr>
          <p:cNvPr id="7" name="Shape 3"/>
          <p:cNvSpPr/>
          <p:nvPr/>
        </p:nvSpPr>
        <p:spPr>
          <a:xfrm>
            <a:off x="1005840" y="1600200"/>
            <a:ext cx="1828800" cy="457200"/>
          </a:xfrm>
          <a:prstGeom prst="roundRect">
            <a:avLst>
              <a:gd name="adj" fmla="val 50000"/>
            </a:avLst>
          </a:prstGeom>
          <a:solidFill>
            <a:srgbClr val="17143F"/>
          </a:solidFill>
          <a:ln w="12700">
            <a:solidFill>
              <a:srgbClr val="FBBF24"/>
            </a:solidFill>
            <a:prstDash val="solid"/>
          </a:ln>
        </p:spPr>
      </p:sp>
      <p:pic>
        <p:nvPicPr>
          <p:cNvPr id="8" name="Image 1" descr="preencoded.png">    </p:cNvPr>
          <p:cNvPicPr>
            <a:picLocks noChangeAspect="1"/>
          </p:cNvPicPr>
          <p:nvPr/>
        </p:nvPicPr>
        <p:blipFill>
          <a:blip r:embed="rId3"/>
          <a:stretch>
            <a:fillRect/>
          </a:stretch>
        </p:blipFill>
        <p:spPr>
          <a:xfrm>
            <a:off x="1143000" y="1709928"/>
            <a:ext cx="237744" cy="237744"/>
          </a:xfrm>
          <a:prstGeom prst="rect">
            <a:avLst/>
          </a:prstGeom>
        </p:spPr>
      </p:pic>
      <p:sp>
        <p:nvSpPr>
          <p:cNvPr id="9" name="Text 4"/>
          <p:cNvSpPr txBox="1"/>
          <p:nvPr/>
        </p:nvSpPr>
        <p:spPr>
          <a:xfrm>
            <a:off x="1463040" y="1600200"/>
            <a:ext cx="1280160" cy="457200"/>
          </a:xfrm>
          <a:prstGeom prst="rect">
            <a:avLst/>
          </a:prstGeom>
          <a:noFill/>
          <a:ln/>
        </p:spPr>
        <p:txBody>
          <a:bodyPr wrap="square" lIns="0" tIns="0" rIns="0" bIns="0" rtlCol="0" anchor="ctr"/>
          <a:lstStyle/>
          <a:p>
            <a:pPr indent="0" marL="0">
              <a:buNone/>
            </a:pPr>
            <a:r>
              <a:rPr lang="en-US" sz="1400" b="1" dirty="0">
                <a:solidFill>
                  <a:srgbClr val="F4F3FF"/>
                </a:solidFill>
                <a:latin typeface="Calibri" pitchFamily="34" charset="0"/>
                <a:ea typeface="Calibri" pitchFamily="34" charset="-122"/>
                <a:cs typeface="Calibri" pitchFamily="34" charset="-120"/>
              </a:rPr>
              <a:t>Browser</a:t>
            </a:r>
            <a:endParaRPr lang="en-US" sz="1400" dirty="0"/>
          </a:p>
        </p:txBody>
      </p:sp>
      <p:sp>
        <p:nvSpPr>
          <p:cNvPr id="10" name="Shape 5"/>
          <p:cNvSpPr/>
          <p:nvPr/>
        </p:nvSpPr>
        <p:spPr>
          <a:xfrm>
            <a:off x="5029200" y="1600200"/>
            <a:ext cx="1828800" cy="457200"/>
          </a:xfrm>
          <a:prstGeom prst="roundRect">
            <a:avLst>
              <a:gd name="adj" fmla="val 50000"/>
            </a:avLst>
          </a:prstGeom>
          <a:solidFill>
            <a:srgbClr val="17143F"/>
          </a:solidFill>
          <a:ln w="12700">
            <a:solidFill>
              <a:srgbClr val="22D3EE"/>
            </a:solidFill>
            <a:prstDash val="solid"/>
          </a:ln>
        </p:spPr>
      </p:sp>
      <p:pic>
        <p:nvPicPr>
          <p:cNvPr id="11" name="Image 2" descr="preencoded.png">    </p:cNvPr>
          <p:cNvPicPr>
            <a:picLocks noChangeAspect="1"/>
          </p:cNvPicPr>
          <p:nvPr/>
        </p:nvPicPr>
        <p:blipFill>
          <a:blip r:embed="rId4"/>
          <a:stretch>
            <a:fillRect/>
          </a:stretch>
        </p:blipFill>
        <p:spPr>
          <a:xfrm>
            <a:off x="5166360" y="1709928"/>
            <a:ext cx="237744" cy="237744"/>
          </a:xfrm>
          <a:prstGeom prst="rect">
            <a:avLst/>
          </a:prstGeom>
        </p:spPr>
      </p:pic>
      <p:sp>
        <p:nvSpPr>
          <p:cNvPr id="12" name="Text 6"/>
          <p:cNvSpPr txBox="1"/>
          <p:nvPr/>
        </p:nvSpPr>
        <p:spPr>
          <a:xfrm>
            <a:off x="5486400" y="1600200"/>
            <a:ext cx="1280160" cy="457200"/>
          </a:xfrm>
          <a:prstGeom prst="rect">
            <a:avLst/>
          </a:prstGeom>
          <a:noFill/>
          <a:ln/>
        </p:spPr>
        <p:txBody>
          <a:bodyPr wrap="square" lIns="0" tIns="0" rIns="0" bIns="0" rtlCol="0" anchor="ctr"/>
          <a:lstStyle/>
          <a:p>
            <a:pPr indent="0" marL="0">
              <a:buNone/>
            </a:pPr>
            <a:r>
              <a:rPr lang="en-US" sz="1400" b="1" dirty="0">
                <a:solidFill>
                  <a:srgbClr val="F4F3FF"/>
                </a:solidFill>
                <a:latin typeface="Calibri" pitchFamily="34" charset="0"/>
                <a:ea typeface="Calibri" pitchFamily="34" charset="-122"/>
                <a:cs typeface="Calibri" pitchFamily="34" charset="-120"/>
              </a:rPr>
              <a:t>Server</a:t>
            </a:r>
            <a:endParaRPr lang="en-US" sz="1400" dirty="0"/>
          </a:p>
        </p:txBody>
      </p:sp>
      <p:sp>
        <p:nvSpPr>
          <p:cNvPr id="13" name="Shape 7"/>
          <p:cNvSpPr/>
          <p:nvPr/>
        </p:nvSpPr>
        <p:spPr>
          <a:xfrm>
            <a:off x="1920240" y="2103120"/>
            <a:ext cx="0" cy="4297680"/>
          </a:xfrm>
          <a:prstGeom prst="line">
            <a:avLst/>
          </a:prstGeom>
          <a:noFill/>
          <a:ln w="19050">
            <a:solidFill>
              <a:srgbClr val="3A3580"/>
            </a:solidFill>
            <a:prstDash val="dash"/>
          </a:ln>
        </p:spPr>
      </p:sp>
      <p:sp>
        <p:nvSpPr>
          <p:cNvPr id="14" name="Shape 8"/>
          <p:cNvSpPr/>
          <p:nvPr/>
        </p:nvSpPr>
        <p:spPr>
          <a:xfrm>
            <a:off x="5943600" y="2103120"/>
            <a:ext cx="0" cy="4297680"/>
          </a:xfrm>
          <a:prstGeom prst="line">
            <a:avLst/>
          </a:prstGeom>
          <a:noFill/>
          <a:ln w="19050">
            <a:solidFill>
              <a:srgbClr val="3A3580"/>
            </a:solidFill>
            <a:prstDash val="dash"/>
          </a:ln>
        </p:spPr>
      </p:sp>
      <p:sp>
        <p:nvSpPr>
          <p:cNvPr id="15" name="A1_m"/>
          <p:cNvSpPr/>
          <p:nvPr/>
        </p:nvSpPr>
        <p:spPr>
          <a:xfrm>
            <a:off x="1965960" y="2651760"/>
            <a:ext cx="3931920" cy="0"/>
          </a:xfrm>
          <a:prstGeom prst="line">
            <a:avLst/>
          </a:prstGeom>
          <a:noFill/>
          <a:ln w="28575">
            <a:solidFill>
              <a:srgbClr val="8B7CFF"/>
            </a:solidFill>
            <a:prstDash val="solid"/>
            <a:tailEnd type="triangle"/>
          </a:ln>
        </p:spPr>
      </p:sp>
      <p:sp>
        <p:nvSpPr>
          <p:cNvPr id="16" name="A1_ml"/>
          <p:cNvSpPr txBox="1"/>
          <p:nvPr/>
        </p:nvSpPr>
        <p:spPr>
          <a:xfrm>
            <a:off x="2011680" y="2304288"/>
            <a:ext cx="3840480" cy="274320"/>
          </a:xfrm>
          <a:prstGeom prst="rect">
            <a:avLst/>
          </a:prstGeom>
          <a:noFill/>
          <a:ln/>
        </p:spPr>
        <p:txBody>
          <a:bodyPr wrap="square" lIns="0" tIns="0" rIns="0" bIns="0" rtlCol="0" anchor="b"/>
          <a:lstStyle/>
          <a:p>
            <a:pPr algn="ctr" indent="0" marL="0">
              <a:buNone/>
            </a:pPr>
            <a:r>
              <a:rPr lang="en-US" sz="1200" b="1" dirty="0">
                <a:solidFill>
                  <a:srgbClr val="F4F3FF"/>
                </a:solidFill>
                <a:latin typeface="Calibri" pitchFamily="34" charset="0"/>
                <a:ea typeface="Calibri" pitchFamily="34" charset="-122"/>
                <a:cs typeface="Calibri" pitchFamily="34" charset="-120"/>
              </a:rPr>
              <a:t>GET /feed</a:t>
            </a:r>
            <a:endParaRPr lang="en-US" sz="1200" dirty="0"/>
          </a:p>
        </p:txBody>
      </p:sp>
      <p:sp>
        <p:nvSpPr>
          <p:cNvPr id="17" name="A2_n"/>
          <p:cNvSpPr txBox="1"/>
          <p:nvPr/>
        </p:nvSpPr>
        <p:spPr>
          <a:xfrm>
            <a:off x="4617720" y="3163824"/>
            <a:ext cx="2651760" cy="548640"/>
          </a:xfrm>
          <a:prstGeom prst="roundRect">
            <a:avLst>
              <a:gd name="adj" fmla="val 16667"/>
            </a:avLst>
          </a:prstGeom>
          <a:solidFill>
            <a:srgbClr val="221E58"/>
          </a:solidFill>
          <a:ln w="19050">
            <a:solidFill>
              <a:srgbClr val="22D3EE"/>
            </a:solidFill>
            <a:prstDash val="solid"/>
          </a:ln>
        </p:spPr>
        <p:txBody>
          <a:bodyPr wrap="square" lIns="50800" tIns="50800" rIns="50800" bIns="50800" rtlCol="0" anchor="ctr"/>
          <a:lstStyle/>
          <a:p>
            <a:pPr algn="ctr" indent="0" marL="0">
              <a:buNone/>
            </a:pPr>
            <a:r>
              <a:rPr lang="en-US" sz="1200" dirty="0">
                <a:solidFill>
                  <a:srgbClr val="F4F3FF"/>
                </a:solidFill>
                <a:latin typeface="Calibri" pitchFamily="34" charset="0"/>
                <a:ea typeface="Calibri" pitchFamily="34" charset="-122"/>
                <a:cs typeface="Calibri" pitchFamily="34" charset="-120"/>
              </a:rPr>
              <a:t>Fetch data + render HTML, for this request</a:t>
            </a:r>
            <a:endParaRPr lang="en-US" sz="1200" dirty="0"/>
          </a:p>
        </p:txBody>
      </p:sp>
      <p:sp>
        <p:nvSpPr>
          <p:cNvPr id="18" name="A3_m"/>
          <p:cNvSpPr/>
          <p:nvPr/>
        </p:nvSpPr>
        <p:spPr>
          <a:xfrm flipH="1">
            <a:off x="1965960" y="4261104"/>
            <a:ext cx="3931920" cy="0"/>
          </a:xfrm>
          <a:prstGeom prst="line">
            <a:avLst/>
          </a:prstGeom>
          <a:noFill/>
          <a:ln w="28575">
            <a:solidFill>
              <a:srgbClr val="22D3EE"/>
            </a:solidFill>
            <a:prstDash val="solid"/>
            <a:tailEnd type="triangle"/>
          </a:ln>
        </p:spPr>
      </p:sp>
      <p:sp>
        <p:nvSpPr>
          <p:cNvPr id="19" name="A3_ml"/>
          <p:cNvSpPr txBox="1"/>
          <p:nvPr/>
        </p:nvSpPr>
        <p:spPr>
          <a:xfrm>
            <a:off x="2011680" y="3913632"/>
            <a:ext cx="3840480" cy="274320"/>
          </a:xfrm>
          <a:prstGeom prst="rect">
            <a:avLst/>
          </a:prstGeom>
          <a:noFill/>
          <a:ln/>
        </p:spPr>
        <p:txBody>
          <a:bodyPr wrap="square" lIns="0" tIns="0" rIns="0" bIns="0" rtlCol="0" anchor="b"/>
          <a:lstStyle/>
          <a:p>
            <a:pPr algn="ctr" indent="0" marL="0">
              <a:buNone/>
            </a:pPr>
            <a:r>
              <a:rPr lang="en-US" sz="1200" b="1" dirty="0">
                <a:solidFill>
                  <a:srgbClr val="F4F3FF"/>
                </a:solidFill>
                <a:latin typeface="Calibri" pitchFamily="34" charset="0"/>
                <a:ea typeface="Calibri" pitchFamily="34" charset="-122"/>
                <a:cs typeface="Calibri" pitchFamily="34" charset="-120"/>
              </a:rPr>
              <a:t>Complete HTML page</a:t>
            </a:r>
            <a:endParaRPr lang="en-US" sz="1200" dirty="0"/>
          </a:p>
        </p:txBody>
      </p:sp>
      <p:sp>
        <p:nvSpPr>
          <p:cNvPr id="20" name="A4_n"/>
          <p:cNvSpPr txBox="1"/>
          <p:nvPr/>
        </p:nvSpPr>
        <p:spPr>
          <a:xfrm>
            <a:off x="594360" y="4773168"/>
            <a:ext cx="2651760" cy="548640"/>
          </a:xfrm>
          <a:prstGeom prst="roundRect">
            <a:avLst>
              <a:gd name="adj" fmla="val 16667"/>
            </a:avLst>
          </a:prstGeom>
          <a:solidFill>
            <a:srgbClr val="221E58"/>
          </a:solidFill>
          <a:ln w="19050">
            <a:solidFill>
              <a:srgbClr val="34D399"/>
            </a:solidFill>
            <a:prstDash val="solid"/>
          </a:ln>
        </p:spPr>
        <p:txBody>
          <a:bodyPr wrap="square" lIns="50800" tIns="50800" rIns="50800" bIns="50800" rtlCol="0" anchor="ctr"/>
          <a:lstStyle/>
          <a:p>
            <a:pPr algn="ctr" indent="0" marL="0">
              <a:buNone/>
            </a:pPr>
            <a:r>
              <a:rPr lang="en-US" sz="1200" dirty="0">
                <a:solidFill>
                  <a:srgbClr val="F4F3FF"/>
                </a:solidFill>
                <a:latin typeface="Calibri" pitchFamily="34" charset="0"/>
                <a:ea typeface="Calibri" pitchFamily="34" charset="-122"/>
                <a:cs typeface="Calibri" pitchFamily="34" charset="-120"/>
              </a:rPr>
              <a:t>User sees real content immediately</a:t>
            </a:r>
            <a:endParaRPr lang="en-US" sz="1200" dirty="0"/>
          </a:p>
        </p:txBody>
      </p:sp>
      <p:sp>
        <p:nvSpPr>
          <p:cNvPr id="21" name="A5_n"/>
          <p:cNvSpPr txBox="1"/>
          <p:nvPr/>
        </p:nvSpPr>
        <p:spPr>
          <a:xfrm>
            <a:off x="594360" y="5577840"/>
            <a:ext cx="2651760" cy="548640"/>
          </a:xfrm>
          <a:prstGeom prst="roundRect">
            <a:avLst>
              <a:gd name="adj" fmla="val 16667"/>
            </a:avLst>
          </a:prstGeom>
          <a:solidFill>
            <a:srgbClr val="221E58"/>
          </a:solidFill>
          <a:ln w="19050">
            <a:solidFill>
              <a:srgbClr val="FBBF24"/>
            </a:solidFill>
            <a:prstDash val="solid"/>
          </a:ln>
        </p:spPr>
        <p:txBody>
          <a:bodyPr wrap="square" lIns="50800" tIns="50800" rIns="50800" bIns="50800" rtlCol="0" anchor="ctr"/>
          <a:lstStyle/>
          <a:p>
            <a:pPr algn="ctr" indent="0" marL="0">
              <a:buNone/>
            </a:pPr>
            <a:r>
              <a:rPr lang="en-US" sz="1200" dirty="0">
                <a:solidFill>
                  <a:srgbClr val="F4F3FF"/>
                </a:solidFill>
                <a:latin typeface="Calibri" pitchFamily="34" charset="0"/>
                <a:ea typeface="Calibri" pitchFamily="34" charset="-122"/>
                <a:cs typeface="Calibri" pitchFamily="34" charset="-120"/>
              </a:rPr>
              <a:t>Hydration: JS makes it interactive</a:t>
            </a:r>
            <a:endParaRPr lang="en-US" sz="1200" dirty="0"/>
          </a:p>
        </p:txBody>
      </p:sp>
      <p:sp>
        <p:nvSpPr>
          <p:cNvPr id="22" name="Shape 16"/>
          <p:cNvSpPr/>
          <p:nvPr/>
        </p:nvSpPr>
        <p:spPr>
          <a:xfrm>
            <a:off x="7818120" y="1600200"/>
            <a:ext cx="3822192" cy="786384"/>
          </a:xfrm>
          <a:prstGeom prst="roundRect">
            <a:avLst>
              <a:gd name="adj" fmla="val 13953"/>
            </a:avLst>
          </a:prstGeom>
          <a:solidFill>
            <a:srgbClr val="17143F"/>
          </a:solidFill>
          <a:ln w="12700">
            <a:solidFill>
              <a:srgbClr val="3A3580"/>
            </a:solidFill>
            <a:prstDash val="solid"/>
          </a:ln>
        </p:spPr>
      </p:sp>
      <p:sp>
        <p:nvSpPr>
          <p:cNvPr id="23" name="Text 17"/>
          <p:cNvSpPr txBox="1"/>
          <p:nvPr/>
        </p:nvSpPr>
        <p:spPr>
          <a:xfrm>
            <a:off x="8019288" y="1691640"/>
            <a:ext cx="3456432" cy="228600"/>
          </a:xfrm>
          <a:prstGeom prst="rect">
            <a:avLst/>
          </a:prstGeom>
          <a:noFill/>
          <a:ln/>
        </p:spPr>
        <p:txBody>
          <a:bodyPr wrap="square" lIns="0" tIns="0" rIns="0" bIns="0" rtlCol="0" anchor="t"/>
          <a:lstStyle/>
          <a:p>
            <a:pPr indent="0" marL="0">
              <a:buNone/>
            </a:pPr>
            <a:r>
              <a:rPr lang="en-US" sz="1000" b="1" spc="200" kern="0" dirty="0">
                <a:solidFill>
                  <a:srgbClr val="22D3EE"/>
                </a:solidFill>
                <a:latin typeface="Calibri" pitchFamily="34" charset="0"/>
                <a:ea typeface="Calibri" pitchFamily="34" charset="-122"/>
                <a:cs typeface="Calibri" pitchFamily="34" charset="-120"/>
              </a:rPr>
              <a:t>WHERE</a:t>
            </a:r>
            <a:endParaRPr lang="en-US" sz="1000" dirty="0"/>
          </a:p>
        </p:txBody>
      </p:sp>
      <p:sp>
        <p:nvSpPr>
          <p:cNvPr id="24" name="Text 18"/>
          <p:cNvSpPr txBox="1"/>
          <p:nvPr/>
        </p:nvSpPr>
        <p:spPr>
          <a:xfrm>
            <a:off x="8019288" y="1929384"/>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On the server</a:t>
            </a:r>
            <a:endParaRPr lang="en-US" sz="1300" dirty="0"/>
          </a:p>
        </p:txBody>
      </p:sp>
      <p:sp>
        <p:nvSpPr>
          <p:cNvPr id="25" name="Shape 19"/>
          <p:cNvSpPr/>
          <p:nvPr/>
        </p:nvSpPr>
        <p:spPr>
          <a:xfrm>
            <a:off x="7818120" y="2505456"/>
            <a:ext cx="3822192" cy="786384"/>
          </a:xfrm>
          <a:prstGeom prst="roundRect">
            <a:avLst>
              <a:gd name="adj" fmla="val 13953"/>
            </a:avLst>
          </a:prstGeom>
          <a:solidFill>
            <a:srgbClr val="17143F"/>
          </a:solidFill>
          <a:ln w="12700">
            <a:solidFill>
              <a:srgbClr val="3A3580"/>
            </a:solidFill>
            <a:prstDash val="solid"/>
          </a:ln>
        </p:spPr>
      </p:sp>
      <p:sp>
        <p:nvSpPr>
          <p:cNvPr id="26" name="Text 20"/>
          <p:cNvSpPr txBox="1"/>
          <p:nvPr/>
        </p:nvSpPr>
        <p:spPr>
          <a:xfrm>
            <a:off x="8019288" y="2596896"/>
            <a:ext cx="3456432" cy="228600"/>
          </a:xfrm>
          <a:prstGeom prst="rect">
            <a:avLst/>
          </a:prstGeom>
          <a:noFill/>
          <a:ln/>
        </p:spPr>
        <p:txBody>
          <a:bodyPr wrap="square" lIns="0" tIns="0" rIns="0" bIns="0" rtlCol="0" anchor="t"/>
          <a:lstStyle/>
          <a:p>
            <a:pPr indent="0" marL="0">
              <a:buNone/>
            </a:pPr>
            <a:r>
              <a:rPr lang="en-US" sz="1000" b="1" spc="200" kern="0" dirty="0">
                <a:solidFill>
                  <a:srgbClr val="22D3EE"/>
                </a:solidFill>
                <a:latin typeface="Calibri" pitchFamily="34" charset="0"/>
                <a:ea typeface="Calibri" pitchFamily="34" charset="-122"/>
                <a:cs typeface="Calibri" pitchFamily="34" charset="-120"/>
              </a:rPr>
              <a:t>WHEN</a:t>
            </a:r>
            <a:endParaRPr lang="en-US" sz="1000" dirty="0"/>
          </a:p>
        </p:txBody>
      </p:sp>
      <p:sp>
        <p:nvSpPr>
          <p:cNvPr id="27" name="Text 21"/>
          <p:cNvSpPr txBox="1"/>
          <p:nvPr/>
        </p:nvSpPr>
        <p:spPr>
          <a:xfrm>
            <a:off x="8019288" y="2834640"/>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At request time, every request</a:t>
            </a:r>
            <a:endParaRPr lang="en-US" sz="1300" dirty="0"/>
          </a:p>
        </p:txBody>
      </p:sp>
      <p:sp>
        <p:nvSpPr>
          <p:cNvPr id="28" name="Shape 22"/>
          <p:cNvSpPr/>
          <p:nvPr/>
        </p:nvSpPr>
        <p:spPr>
          <a:xfrm>
            <a:off x="7818120" y="3410712"/>
            <a:ext cx="3822192" cy="786384"/>
          </a:xfrm>
          <a:prstGeom prst="roundRect">
            <a:avLst>
              <a:gd name="adj" fmla="val 13953"/>
            </a:avLst>
          </a:prstGeom>
          <a:solidFill>
            <a:srgbClr val="17143F"/>
          </a:solidFill>
          <a:ln w="12700">
            <a:solidFill>
              <a:srgbClr val="3A3580"/>
            </a:solidFill>
            <a:prstDash val="solid"/>
          </a:ln>
        </p:spPr>
      </p:sp>
      <p:sp>
        <p:nvSpPr>
          <p:cNvPr id="29" name="Text 23"/>
          <p:cNvSpPr txBox="1"/>
          <p:nvPr/>
        </p:nvSpPr>
        <p:spPr>
          <a:xfrm>
            <a:off x="8019288" y="3502152"/>
            <a:ext cx="3456432" cy="228600"/>
          </a:xfrm>
          <a:prstGeom prst="rect">
            <a:avLst/>
          </a:prstGeom>
          <a:noFill/>
          <a:ln/>
        </p:spPr>
        <p:txBody>
          <a:bodyPr wrap="square" lIns="0" tIns="0" rIns="0" bIns="0" rtlCol="0" anchor="t"/>
          <a:lstStyle/>
          <a:p>
            <a:pPr indent="0" marL="0">
              <a:buNone/>
            </a:pPr>
            <a:r>
              <a:rPr lang="en-US" sz="1000" b="1" spc="200" kern="0" dirty="0">
                <a:solidFill>
                  <a:srgbClr val="22D3EE"/>
                </a:solidFill>
                <a:latin typeface="Calibri" pitchFamily="34" charset="0"/>
                <a:ea typeface="Calibri" pitchFamily="34" charset="-122"/>
                <a:cs typeface="Calibri" pitchFamily="34" charset="-120"/>
              </a:rPr>
              <a:t>GOOD FOR</a:t>
            </a:r>
            <a:endParaRPr lang="en-US" sz="1000" dirty="0"/>
          </a:p>
        </p:txBody>
      </p:sp>
      <p:sp>
        <p:nvSpPr>
          <p:cNvPr id="30" name="Text 24"/>
          <p:cNvSpPr txBox="1"/>
          <p:nvPr/>
        </p:nvSpPr>
        <p:spPr>
          <a:xfrm>
            <a:off x="8019288" y="3739896"/>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Personalized or fast-changing pages, SEO</a:t>
            </a:r>
            <a:endParaRPr lang="en-US" sz="1300" dirty="0"/>
          </a:p>
        </p:txBody>
      </p:sp>
      <p:sp>
        <p:nvSpPr>
          <p:cNvPr id="31" name="Shape 25"/>
          <p:cNvSpPr/>
          <p:nvPr/>
        </p:nvSpPr>
        <p:spPr>
          <a:xfrm>
            <a:off x="7818120" y="4315968"/>
            <a:ext cx="3822192" cy="786384"/>
          </a:xfrm>
          <a:prstGeom prst="roundRect">
            <a:avLst>
              <a:gd name="adj" fmla="val 13953"/>
            </a:avLst>
          </a:prstGeom>
          <a:solidFill>
            <a:srgbClr val="17143F"/>
          </a:solidFill>
          <a:ln w="12700">
            <a:solidFill>
              <a:srgbClr val="3A3580"/>
            </a:solidFill>
            <a:prstDash val="solid"/>
          </a:ln>
        </p:spPr>
      </p:sp>
      <p:sp>
        <p:nvSpPr>
          <p:cNvPr id="32" name="Text 26"/>
          <p:cNvSpPr txBox="1"/>
          <p:nvPr/>
        </p:nvSpPr>
        <p:spPr>
          <a:xfrm>
            <a:off x="8019288" y="4407408"/>
            <a:ext cx="3456432" cy="228600"/>
          </a:xfrm>
          <a:prstGeom prst="rect">
            <a:avLst/>
          </a:prstGeom>
          <a:noFill/>
          <a:ln/>
        </p:spPr>
        <p:txBody>
          <a:bodyPr wrap="square" lIns="0" tIns="0" rIns="0" bIns="0" rtlCol="0" anchor="t"/>
          <a:lstStyle/>
          <a:p>
            <a:pPr indent="0" marL="0">
              <a:buNone/>
            </a:pPr>
            <a:r>
              <a:rPr lang="en-US" sz="1000" b="1" spc="200" kern="0" dirty="0">
                <a:solidFill>
                  <a:srgbClr val="22D3EE"/>
                </a:solidFill>
                <a:latin typeface="Calibri" pitchFamily="34" charset="0"/>
                <a:ea typeface="Calibri" pitchFamily="34" charset="-122"/>
                <a:cs typeface="Calibri" pitchFamily="34" charset="-120"/>
              </a:rPr>
              <a:t>TRADE-OFF</a:t>
            </a:r>
            <a:endParaRPr lang="en-US" sz="1000" dirty="0"/>
          </a:p>
        </p:txBody>
      </p:sp>
      <p:sp>
        <p:nvSpPr>
          <p:cNvPr id="33" name="Text 27"/>
          <p:cNvSpPr txBox="1"/>
          <p:nvPr/>
        </p:nvSpPr>
        <p:spPr>
          <a:xfrm>
            <a:off x="8019288" y="4645152"/>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Server works on every visit, slower than static</a:t>
            </a:r>
            <a:endParaRPr lang="en-US" sz="1300" dirty="0"/>
          </a:p>
        </p:txBody>
      </p:sp>
      <p:sp>
        <p:nvSpPr>
          <p:cNvPr id="34" name="Shape 28"/>
          <p:cNvSpPr/>
          <p:nvPr/>
        </p:nvSpPr>
        <p:spPr>
          <a:xfrm>
            <a:off x="7818120" y="5221224"/>
            <a:ext cx="3822192" cy="786384"/>
          </a:xfrm>
          <a:prstGeom prst="roundRect">
            <a:avLst>
              <a:gd name="adj" fmla="val 13953"/>
            </a:avLst>
          </a:prstGeom>
          <a:solidFill>
            <a:srgbClr val="17143F"/>
          </a:solidFill>
          <a:ln w="19050">
            <a:solidFill>
              <a:srgbClr val="22D3EE"/>
            </a:solidFill>
            <a:prstDash val="solid"/>
          </a:ln>
        </p:spPr>
      </p:sp>
      <p:sp>
        <p:nvSpPr>
          <p:cNvPr id="35" name="Text 29"/>
          <p:cNvSpPr txBox="1"/>
          <p:nvPr/>
        </p:nvSpPr>
        <p:spPr>
          <a:xfrm>
            <a:off x="8019288" y="5312664"/>
            <a:ext cx="3456432" cy="228600"/>
          </a:xfrm>
          <a:prstGeom prst="rect">
            <a:avLst/>
          </a:prstGeom>
          <a:noFill/>
          <a:ln/>
        </p:spPr>
        <p:txBody>
          <a:bodyPr wrap="square" lIns="0" tIns="0" rIns="0" bIns="0" rtlCol="0" anchor="t"/>
          <a:lstStyle/>
          <a:p>
            <a:pPr indent="0" marL="0">
              <a:buNone/>
            </a:pPr>
            <a:r>
              <a:rPr lang="en-US" sz="1000" b="1" spc="200" kern="0" dirty="0">
                <a:solidFill>
                  <a:srgbClr val="22D3EE"/>
                </a:solidFill>
                <a:latin typeface="Calibri" pitchFamily="34" charset="0"/>
                <a:ea typeface="Calibri" pitchFamily="34" charset="-122"/>
                <a:cs typeface="Calibri" pitchFamily="34" charset="-120"/>
              </a:rPr>
              <a:t>IN NEXT.JS</a:t>
            </a:r>
            <a:endParaRPr lang="en-US" sz="1000" dirty="0"/>
          </a:p>
        </p:txBody>
      </p:sp>
      <p:sp>
        <p:nvSpPr>
          <p:cNvPr id="36" name="Text 30"/>
          <p:cNvSpPr txBox="1"/>
          <p:nvPr/>
        </p:nvSpPr>
        <p:spPr>
          <a:xfrm>
            <a:off x="8019288" y="5550408"/>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Dynamic rendering (uncached data or per-request info)</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50"/>
                                        <p:tgtEl>
                                          <p:spTgt spid="15"/>
                                        </p:tgtEl>
                                      </p:cBhvr>
                                    </p:animEffect>
                                  </p:childTnLst>
                                </p:cTn>
                              </p:par>
                              <p:par>
                                <p:cTn id="6" presetID="10" presetClass="entr" presetSubtype="0" fill="hold" nodeType="withEffect">
                                  <p:stCondLst>
                                    <p:cond delay="0"/>
                                  </p:stCondLst>
                                  <p:childTnLst>
                                    <p:set>
                                      <p:cBhvr>
                                        <p:cTn id="7" dur="1" fill="hold">
                                          <p:stCondLst>
                                            <p:cond delay="0"/>
                                          </p:stCondLst>
                                        </p:cTn>
                                        <p:tgtEl>
                                          <p:spTgt spid="16"/>
                                        </p:tgtEl>
                                        <p:attrNameLst>
                                          <p:attrName>style.visibility</p:attrName>
                                        </p:attrNameLst>
                                      </p:cBhvr>
                                      <p:to>
                                        <p:strVal val="visible"/>
                                      </p:to>
                                    </p:set>
                                    <p:animEffect transition="in" filter="fade">
                                      <p:cBhvr>
                                        <p:cTn id="8" dur="450"/>
                                        <p:tgtEl>
                                          <p:spTgt spid="16"/>
                                        </p:tgtEl>
                                      </p:cBhvr>
                                    </p:animEffect>
                                  </p:childTnLst>
                                </p:cTn>
                              </p:par>
                            </p:childTnLst>
                          </p:cTn>
                        </p:par>
                      </p:childTnLst>
                    </p:cTn>
                  </p:par>
                  <p:par>
                    <p:cTn id="14" fill="hold">
                      <p:stCondLst>
                        <p:cond delay="indefinite"/>
                      </p:stCondLst>
                      <p:childTnLst>
                        <p:par>
                          <p:cTn id="15"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450"/>
                                        <p:tgtEl>
                                          <p:spTgt spid="17"/>
                                        </p:tgtEl>
                                      </p:cBhvr>
                                    </p:animEffect>
                                  </p:childTnLst>
                                </p:cTn>
                              </p:par>
                            </p:childTnLst>
                          </p:cTn>
                        </p:par>
                      </p:childTnLst>
                    </p:cTn>
                  </p:par>
                  <p:par>
                    <p:cTn id="22" fill="hold">
                      <p:stCondLst>
                        <p:cond delay="indefinite"/>
                      </p:stCondLst>
                      <p:childTnLst>
                        <p:par>
                          <p:cTn id="23"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450"/>
                                        <p:tgtEl>
                                          <p:spTgt spid="18"/>
                                        </p:tgtEl>
                                      </p:cBhvr>
                                    </p:animEffect>
                                  </p:childTnLst>
                                </p:cTn>
                              </p:par>
                              <p:par>
                                <p:cTn id="19" presetID="10"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50"/>
                                        <p:tgtEl>
                                          <p:spTgt spid="19"/>
                                        </p:tgtEl>
                                      </p:cBhvr>
                                    </p:animEffect>
                                  </p:childTnLst>
                                </p:cTn>
                              </p:par>
                            </p:childTnLst>
                          </p:cTn>
                        </p:par>
                      </p:childTnLst>
                    </p:cTn>
                  </p:par>
                  <p:par>
                    <p:cTn id="27" fill="hold">
                      <p:stCondLst>
                        <p:cond delay="indefinite"/>
                      </p:stCondLst>
                      <p:childTnLst>
                        <p:par>
                          <p:cTn id="28"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childTnLst>
                          </p:cTn>
                        </p:par>
                      </p:childTnLst>
                    </p:cTn>
                  </p:par>
                  <p:par>
                    <p:cTn id="32" fill="hold">
                      <p:stCondLst>
                        <p:cond delay="indefinite"/>
                      </p:stCondLst>
                      <p:childTnLst>
                        <p:par>
                          <p:cTn id="33"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RENDERING  |  SSG</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Static Site Generation: build once, serve fast</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17</a:t>
            </a:r>
            <a:endParaRPr lang="en-US" sz="1100" dirty="0"/>
          </a:p>
        </p:txBody>
      </p:sp>
      <p:sp>
        <p:nvSpPr>
          <p:cNvPr id="7" name="Shape 3"/>
          <p:cNvSpPr/>
          <p:nvPr/>
        </p:nvSpPr>
        <p:spPr>
          <a:xfrm>
            <a:off x="1005840" y="1600200"/>
            <a:ext cx="1828800" cy="457200"/>
          </a:xfrm>
          <a:prstGeom prst="roundRect">
            <a:avLst>
              <a:gd name="adj" fmla="val 50000"/>
            </a:avLst>
          </a:prstGeom>
          <a:solidFill>
            <a:srgbClr val="17143F"/>
          </a:solidFill>
          <a:ln w="12700">
            <a:solidFill>
              <a:srgbClr val="FBBF24"/>
            </a:solidFill>
            <a:prstDash val="solid"/>
          </a:ln>
        </p:spPr>
      </p:sp>
      <p:pic>
        <p:nvPicPr>
          <p:cNvPr id="8" name="Image 1" descr="preencoded.png">    </p:cNvPr>
          <p:cNvPicPr>
            <a:picLocks noChangeAspect="1"/>
          </p:cNvPicPr>
          <p:nvPr/>
        </p:nvPicPr>
        <p:blipFill>
          <a:blip r:embed="rId3"/>
          <a:stretch>
            <a:fillRect/>
          </a:stretch>
        </p:blipFill>
        <p:spPr>
          <a:xfrm>
            <a:off x="1143000" y="1709928"/>
            <a:ext cx="237744" cy="237744"/>
          </a:xfrm>
          <a:prstGeom prst="rect">
            <a:avLst/>
          </a:prstGeom>
        </p:spPr>
      </p:pic>
      <p:sp>
        <p:nvSpPr>
          <p:cNvPr id="9" name="Text 4"/>
          <p:cNvSpPr txBox="1"/>
          <p:nvPr/>
        </p:nvSpPr>
        <p:spPr>
          <a:xfrm>
            <a:off x="1463040" y="1600200"/>
            <a:ext cx="1280160" cy="457200"/>
          </a:xfrm>
          <a:prstGeom prst="rect">
            <a:avLst/>
          </a:prstGeom>
          <a:noFill/>
          <a:ln/>
        </p:spPr>
        <p:txBody>
          <a:bodyPr wrap="square" lIns="0" tIns="0" rIns="0" bIns="0" rtlCol="0" anchor="ctr"/>
          <a:lstStyle/>
          <a:p>
            <a:pPr indent="0" marL="0">
              <a:buNone/>
            </a:pPr>
            <a:r>
              <a:rPr lang="en-US" sz="1400" b="1" dirty="0">
                <a:solidFill>
                  <a:srgbClr val="F4F3FF"/>
                </a:solidFill>
                <a:latin typeface="Calibri" pitchFamily="34" charset="0"/>
                <a:ea typeface="Calibri" pitchFamily="34" charset="-122"/>
                <a:cs typeface="Calibri" pitchFamily="34" charset="-120"/>
              </a:rPr>
              <a:t>Browser</a:t>
            </a:r>
            <a:endParaRPr lang="en-US" sz="1400" dirty="0"/>
          </a:p>
        </p:txBody>
      </p:sp>
      <p:sp>
        <p:nvSpPr>
          <p:cNvPr id="10" name="Shape 5"/>
          <p:cNvSpPr/>
          <p:nvPr/>
        </p:nvSpPr>
        <p:spPr>
          <a:xfrm>
            <a:off x="5029200" y="1600200"/>
            <a:ext cx="1828800" cy="457200"/>
          </a:xfrm>
          <a:prstGeom prst="roundRect">
            <a:avLst>
              <a:gd name="adj" fmla="val 50000"/>
            </a:avLst>
          </a:prstGeom>
          <a:solidFill>
            <a:srgbClr val="17143F"/>
          </a:solidFill>
          <a:ln w="12700">
            <a:solidFill>
              <a:srgbClr val="22D3EE"/>
            </a:solidFill>
            <a:prstDash val="solid"/>
          </a:ln>
        </p:spPr>
      </p:sp>
      <p:pic>
        <p:nvPicPr>
          <p:cNvPr id="11" name="Image 2" descr="preencoded.png">    </p:cNvPr>
          <p:cNvPicPr>
            <a:picLocks noChangeAspect="1"/>
          </p:cNvPicPr>
          <p:nvPr/>
        </p:nvPicPr>
        <p:blipFill>
          <a:blip r:embed="rId4"/>
          <a:stretch>
            <a:fillRect/>
          </a:stretch>
        </p:blipFill>
        <p:spPr>
          <a:xfrm>
            <a:off x="5166360" y="1709928"/>
            <a:ext cx="237744" cy="237744"/>
          </a:xfrm>
          <a:prstGeom prst="rect">
            <a:avLst/>
          </a:prstGeom>
        </p:spPr>
      </p:pic>
      <p:sp>
        <p:nvSpPr>
          <p:cNvPr id="12" name="Text 6"/>
          <p:cNvSpPr txBox="1"/>
          <p:nvPr/>
        </p:nvSpPr>
        <p:spPr>
          <a:xfrm>
            <a:off x="5486400" y="1600200"/>
            <a:ext cx="1280160" cy="457200"/>
          </a:xfrm>
          <a:prstGeom prst="rect">
            <a:avLst/>
          </a:prstGeom>
          <a:noFill/>
          <a:ln/>
        </p:spPr>
        <p:txBody>
          <a:bodyPr wrap="square" lIns="0" tIns="0" rIns="0" bIns="0" rtlCol="0" anchor="ctr"/>
          <a:lstStyle/>
          <a:p>
            <a:pPr indent="0" marL="0">
              <a:buNone/>
            </a:pPr>
            <a:r>
              <a:rPr lang="en-US" sz="1400" b="1" dirty="0">
                <a:solidFill>
                  <a:srgbClr val="F4F3FF"/>
                </a:solidFill>
                <a:latin typeface="Calibri" pitchFamily="34" charset="0"/>
                <a:ea typeface="Calibri" pitchFamily="34" charset="-122"/>
                <a:cs typeface="Calibri" pitchFamily="34" charset="-120"/>
              </a:rPr>
              <a:t>Server / CDN</a:t>
            </a:r>
            <a:endParaRPr lang="en-US" sz="1400" dirty="0"/>
          </a:p>
        </p:txBody>
      </p:sp>
      <p:sp>
        <p:nvSpPr>
          <p:cNvPr id="13" name="Shape 7"/>
          <p:cNvSpPr/>
          <p:nvPr/>
        </p:nvSpPr>
        <p:spPr>
          <a:xfrm>
            <a:off x="1920240" y="2103120"/>
            <a:ext cx="0" cy="4663440"/>
          </a:xfrm>
          <a:prstGeom prst="line">
            <a:avLst/>
          </a:prstGeom>
          <a:noFill/>
          <a:ln w="19050">
            <a:solidFill>
              <a:srgbClr val="3A3580"/>
            </a:solidFill>
            <a:prstDash val="dash"/>
          </a:ln>
        </p:spPr>
      </p:sp>
      <p:sp>
        <p:nvSpPr>
          <p:cNvPr id="14" name="Shape 8"/>
          <p:cNvSpPr/>
          <p:nvPr/>
        </p:nvSpPr>
        <p:spPr>
          <a:xfrm>
            <a:off x="5943600" y="2103120"/>
            <a:ext cx="0" cy="4663440"/>
          </a:xfrm>
          <a:prstGeom prst="line">
            <a:avLst/>
          </a:prstGeom>
          <a:noFill/>
          <a:ln w="19050">
            <a:solidFill>
              <a:srgbClr val="3A3580"/>
            </a:solidFill>
            <a:prstDash val="dash"/>
          </a:ln>
        </p:spPr>
      </p:sp>
      <p:sp>
        <p:nvSpPr>
          <p:cNvPr id="15" name="A1_n"/>
          <p:cNvSpPr txBox="1"/>
          <p:nvPr/>
        </p:nvSpPr>
        <p:spPr>
          <a:xfrm>
            <a:off x="4617720" y="2359152"/>
            <a:ext cx="2651760" cy="548640"/>
          </a:xfrm>
          <a:prstGeom prst="roundRect">
            <a:avLst>
              <a:gd name="adj" fmla="val 16667"/>
            </a:avLst>
          </a:prstGeom>
          <a:solidFill>
            <a:srgbClr val="221E58"/>
          </a:solidFill>
          <a:ln w="19050">
            <a:solidFill>
              <a:srgbClr val="22D3EE"/>
            </a:solidFill>
            <a:prstDash val="solid"/>
          </a:ln>
        </p:spPr>
        <p:txBody>
          <a:bodyPr wrap="square" lIns="50800" tIns="50800" rIns="50800" bIns="50800" rtlCol="0" anchor="ctr"/>
          <a:lstStyle/>
          <a:p>
            <a:pPr algn="ctr" indent="0" marL="0">
              <a:buNone/>
            </a:pPr>
            <a:r>
              <a:rPr lang="en-US" sz="1200" dirty="0">
                <a:solidFill>
                  <a:srgbClr val="F4F3FF"/>
                </a:solidFill>
                <a:latin typeface="Calibri" pitchFamily="34" charset="0"/>
                <a:ea typeface="Calibri" pitchFamily="34" charset="-122"/>
                <a:cs typeface="Calibri" pitchFamily="34" charset="-120"/>
              </a:rPr>
              <a:t>next build: fetch data, render pages to HTML</a:t>
            </a:r>
            <a:endParaRPr lang="en-US" sz="1200" dirty="0"/>
          </a:p>
        </p:txBody>
      </p:sp>
      <p:sp>
        <p:nvSpPr>
          <p:cNvPr id="16" name="A2_n"/>
          <p:cNvSpPr txBox="1"/>
          <p:nvPr/>
        </p:nvSpPr>
        <p:spPr>
          <a:xfrm>
            <a:off x="4617720" y="3090672"/>
            <a:ext cx="2651760" cy="548640"/>
          </a:xfrm>
          <a:prstGeom prst="roundRect">
            <a:avLst>
              <a:gd name="adj" fmla="val 16667"/>
            </a:avLst>
          </a:prstGeom>
          <a:solidFill>
            <a:srgbClr val="221E58"/>
          </a:solidFill>
          <a:ln w="19050">
            <a:solidFill>
              <a:srgbClr val="34D399"/>
            </a:solidFill>
            <a:prstDash val="solid"/>
          </a:ln>
        </p:spPr>
        <p:txBody>
          <a:bodyPr wrap="square" lIns="50800" tIns="50800" rIns="50800" bIns="50800" rtlCol="0" anchor="ctr"/>
          <a:lstStyle/>
          <a:p>
            <a:pPr algn="ctr" indent="0" marL="0">
              <a:buNone/>
            </a:pPr>
            <a:r>
              <a:rPr lang="en-US" sz="1200" dirty="0">
                <a:solidFill>
                  <a:srgbClr val="F4F3FF"/>
                </a:solidFill>
                <a:latin typeface="Calibri" pitchFamily="34" charset="0"/>
                <a:ea typeface="Calibri" pitchFamily="34" charset="-122"/>
                <a:cs typeface="Calibri" pitchFamily="34" charset="-120"/>
              </a:rPr>
              <a:t>HTML files saved and ready</a:t>
            </a:r>
            <a:endParaRPr lang="en-US" sz="1200" dirty="0"/>
          </a:p>
        </p:txBody>
      </p:sp>
      <p:sp>
        <p:nvSpPr>
          <p:cNvPr id="17" name="A3_dv"/>
          <p:cNvSpPr/>
          <p:nvPr/>
        </p:nvSpPr>
        <p:spPr>
          <a:xfrm>
            <a:off x="548640" y="4114800"/>
            <a:ext cx="6858000" cy="0"/>
          </a:xfrm>
          <a:prstGeom prst="line">
            <a:avLst/>
          </a:prstGeom>
          <a:noFill/>
          <a:ln w="15875">
            <a:solidFill>
              <a:srgbClr val="E64BDA"/>
            </a:solidFill>
            <a:prstDash val="dash"/>
          </a:ln>
        </p:spPr>
      </p:sp>
      <p:sp>
        <p:nvSpPr>
          <p:cNvPr id="18" name="A3_dl"/>
          <p:cNvSpPr txBox="1"/>
          <p:nvPr/>
        </p:nvSpPr>
        <p:spPr>
          <a:xfrm>
            <a:off x="2468880" y="3968496"/>
            <a:ext cx="3017520" cy="292608"/>
          </a:xfrm>
          <a:prstGeom prst="roundRect">
            <a:avLst>
              <a:gd name="adj" fmla="val 50000"/>
            </a:avLst>
          </a:prstGeom>
          <a:solidFill>
            <a:srgbClr val="0C0A20"/>
          </a:solidFill>
          <a:ln w="12700">
            <a:solidFill>
              <a:srgbClr val="E64BDA"/>
            </a:solidFill>
            <a:prstDash val="solid"/>
          </a:ln>
        </p:spPr>
        <p:txBody>
          <a:bodyPr wrap="square" lIns="25400" tIns="25400" rIns="25400" bIns="25400" rtlCol="0" anchor="ctr"/>
          <a:lstStyle/>
          <a:p>
            <a:pPr algn="ctr" indent="0" marL="0">
              <a:buNone/>
            </a:pPr>
            <a:r>
              <a:rPr lang="en-US" sz="1000" b="1" dirty="0">
                <a:solidFill>
                  <a:srgbClr val="E64BDA"/>
                </a:solidFill>
                <a:latin typeface="Calibri" pitchFamily="34" charset="0"/>
                <a:ea typeface="Calibri" pitchFamily="34" charset="-122"/>
                <a:cs typeface="Calibri" pitchFamily="34" charset="-120"/>
              </a:rPr>
              <a:t>LATER, AT REQUEST TIME</a:t>
            </a:r>
            <a:endParaRPr lang="en-US" sz="1000" dirty="0"/>
          </a:p>
        </p:txBody>
      </p:sp>
      <p:sp>
        <p:nvSpPr>
          <p:cNvPr id="19" name="A4_m"/>
          <p:cNvSpPr/>
          <p:nvPr/>
        </p:nvSpPr>
        <p:spPr>
          <a:xfrm>
            <a:off x="1965960" y="4846320"/>
            <a:ext cx="3931920" cy="0"/>
          </a:xfrm>
          <a:prstGeom prst="line">
            <a:avLst/>
          </a:prstGeom>
          <a:noFill/>
          <a:ln w="28575">
            <a:solidFill>
              <a:srgbClr val="8B7CFF"/>
            </a:solidFill>
            <a:prstDash val="solid"/>
            <a:tailEnd type="triangle"/>
          </a:ln>
        </p:spPr>
      </p:sp>
      <p:sp>
        <p:nvSpPr>
          <p:cNvPr id="20" name="A4_ml"/>
          <p:cNvSpPr txBox="1"/>
          <p:nvPr/>
        </p:nvSpPr>
        <p:spPr>
          <a:xfrm>
            <a:off x="2011680" y="4498848"/>
            <a:ext cx="3840480" cy="274320"/>
          </a:xfrm>
          <a:prstGeom prst="rect">
            <a:avLst/>
          </a:prstGeom>
          <a:noFill/>
          <a:ln/>
        </p:spPr>
        <p:txBody>
          <a:bodyPr wrap="square" lIns="0" tIns="0" rIns="0" bIns="0" rtlCol="0" anchor="b"/>
          <a:lstStyle/>
          <a:p>
            <a:pPr algn="ctr" indent="0" marL="0">
              <a:buNone/>
            </a:pPr>
            <a:r>
              <a:rPr lang="en-US" sz="1200" b="1" dirty="0">
                <a:solidFill>
                  <a:srgbClr val="F4F3FF"/>
                </a:solidFill>
                <a:latin typeface="Calibri" pitchFamily="34" charset="0"/>
                <a:ea typeface="Calibri" pitchFamily="34" charset="-122"/>
                <a:cs typeface="Calibri" pitchFamily="34" charset="-120"/>
              </a:rPr>
              <a:t>GET /blog/hello</a:t>
            </a:r>
            <a:endParaRPr lang="en-US" sz="1200" dirty="0"/>
          </a:p>
        </p:txBody>
      </p:sp>
      <p:sp>
        <p:nvSpPr>
          <p:cNvPr id="21" name="A5_m"/>
          <p:cNvSpPr/>
          <p:nvPr/>
        </p:nvSpPr>
        <p:spPr>
          <a:xfrm flipH="1">
            <a:off x="1965960" y="5577840"/>
            <a:ext cx="3931920" cy="0"/>
          </a:xfrm>
          <a:prstGeom prst="line">
            <a:avLst/>
          </a:prstGeom>
          <a:noFill/>
          <a:ln w="28575">
            <a:solidFill>
              <a:srgbClr val="34D399"/>
            </a:solidFill>
            <a:prstDash val="solid"/>
            <a:tailEnd type="triangle"/>
          </a:ln>
        </p:spPr>
      </p:sp>
      <p:sp>
        <p:nvSpPr>
          <p:cNvPr id="22" name="A5_ml"/>
          <p:cNvSpPr txBox="1"/>
          <p:nvPr/>
        </p:nvSpPr>
        <p:spPr>
          <a:xfrm>
            <a:off x="2011680" y="5230368"/>
            <a:ext cx="3840480" cy="274320"/>
          </a:xfrm>
          <a:prstGeom prst="rect">
            <a:avLst/>
          </a:prstGeom>
          <a:noFill/>
          <a:ln/>
        </p:spPr>
        <p:txBody>
          <a:bodyPr wrap="square" lIns="0" tIns="0" rIns="0" bIns="0" rtlCol="0" anchor="b"/>
          <a:lstStyle/>
          <a:p>
            <a:pPr algn="ctr" indent="0" marL="0">
              <a:buNone/>
            </a:pPr>
            <a:r>
              <a:rPr lang="en-US" sz="1200" b="1" dirty="0">
                <a:solidFill>
                  <a:srgbClr val="F4F3FF"/>
                </a:solidFill>
                <a:latin typeface="Calibri" pitchFamily="34" charset="0"/>
                <a:ea typeface="Calibri" pitchFamily="34" charset="-122"/>
                <a:cs typeface="Calibri" pitchFamily="34" charset="-120"/>
              </a:rPr>
              <a:t>Ready-made HTML, no rendering</a:t>
            </a:r>
            <a:endParaRPr lang="en-US" sz="1200" dirty="0"/>
          </a:p>
        </p:txBody>
      </p:sp>
      <p:sp>
        <p:nvSpPr>
          <p:cNvPr id="23" name="A6_n"/>
          <p:cNvSpPr txBox="1"/>
          <p:nvPr/>
        </p:nvSpPr>
        <p:spPr>
          <a:xfrm>
            <a:off x="594360" y="6016752"/>
            <a:ext cx="2651760" cy="548640"/>
          </a:xfrm>
          <a:prstGeom prst="roundRect">
            <a:avLst>
              <a:gd name="adj" fmla="val 16667"/>
            </a:avLst>
          </a:prstGeom>
          <a:solidFill>
            <a:srgbClr val="221E58"/>
          </a:solidFill>
          <a:ln w="19050">
            <a:solidFill>
              <a:srgbClr val="34D399"/>
            </a:solidFill>
            <a:prstDash val="solid"/>
          </a:ln>
        </p:spPr>
        <p:txBody>
          <a:bodyPr wrap="square" lIns="50800" tIns="50800" rIns="50800" bIns="50800" rtlCol="0" anchor="ctr"/>
          <a:lstStyle/>
          <a:p>
            <a:pPr algn="ctr" indent="0" marL="0">
              <a:buNone/>
            </a:pPr>
            <a:r>
              <a:rPr lang="en-US" sz="1200" dirty="0">
                <a:solidFill>
                  <a:srgbClr val="F4F3FF"/>
                </a:solidFill>
                <a:latin typeface="Calibri" pitchFamily="34" charset="0"/>
                <a:ea typeface="Calibri" pitchFamily="34" charset="-122"/>
                <a:cs typeface="Calibri" pitchFamily="34" charset="-120"/>
              </a:rPr>
              <a:t>Instant page</a:t>
            </a:r>
            <a:endParaRPr lang="en-US" sz="1200" dirty="0"/>
          </a:p>
        </p:txBody>
      </p:sp>
      <p:sp>
        <p:nvSpPr>
          <p:cNvPr id="24" name="Shape 18"/>
          <p:cNvSpPr/>
          <p:nvPr/>
        </p:nvSpPr>
        <p:spPr>
          <a:xfrm>
            <a:off x="7818120" y="1600200"/>
            <a:ext cx="3822192" cy="786384"/>
          </a:xfrm>
          <a:prstGeom prst="roundRect">
            <a:avLst>
              <a:gd name="adj" fmla="val 13953"/>
            </a:avLst>
          </a:prstGeom>
          <a:solidFill>
            <a:srgbClr val="17143F"/>
          </a:solidFill>
          <a:ln w="12700">
            <a:solidFill>
              <a:srgbClr val="3A3580"/>
            </a:solidFill>
            <a:prstDash val="solid"/>
          </a:ln>
        </p:spPr>
      </p:sp>
      <p:sp>
        <p:nvSpPr>
          <p:cNvPr id="25" name="Text 19"/>
          <p:cNvSpPr txBox="1"/>
          <p:nvPr/>
        </p:nvSpPr>
        <p:spPr>
          <a:xfrm>
            <a:off x="8019288" y="1691640"/>
            <a:ext cx="3456432" cy="228600"/>
          </a:xfrm>
          <a:prstGeom prst="rect">
            <a:avLst/>
          </a:prstGeom>
          <a:noFill/>
          <a:ln/>
        </p:spPr>
        <p:txBody>
          <a:bodyPr wrap="square" lIns="0" tIns="0" rIns="0" bIns="0" rtlCol="0" anchor="t"/>
          <a:lstStyle/>
          <a:p>
            <a:pPr indent="0" marL="0">
              <a:buNone/>
            </a:pPr>
            <a:r>
              <a:rPr lang="en-US" sz="1000" b="1" spc="200" kern="0" dirty="0">
                <a:solidFill>
                  <a:srgbClr val="8B7CFF"/>
                </a:solidFill>
                <a:latin typeface="Calibri" pitchFamily="34" charset="0"/>
                <a:ea typeface="Calibri" pitchFamily="34" charset="-122"/>
                <a:cs typeface="Calibri" pitchFamily="34" charset="-120"/>
              </a:rPr>
              <a:t>WHERE</a:t>
            </a:r>
            <a:endParaRPr lang="en-US" sz="1000" dirty="0"/>
          </a:p>
        </p:txBody>
      </p:sp>
      <p:sp>
        <p:nvSpPr>
          <p:cNvPr id="26" name="Text 20"/>
          <p:cNvSpPr txBox="1"/>
          <p:nvPr/>
        </p:nvSpPr>
        <p:spPr>
          <a:xfrm>
            <a:off x="8019288" y="1929384"/>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On the server</a:t>
            </a:r>
            <a:endParaRPr lang="en-US" sz="1300" dirty="0"/>
          </a:p>
        </p:txBody>
      </p:sp>
      <p:sp>
        <p:nvSpPr>
          <p:cNvPr id="27" name="Shape 21"/>
          <p:cNvSpPr/>
          <p:nvPr/>
        </p:nvSpPr>
        <p:spPr>
          <a:xfrm>
            <a:off x="7818120" y="2505456"/>
            <a:ext cx="3822192" cy="786384"/>
          </a:xfrm>
          <a:prstGeom prst="roundRect">
            <a:avLst>
              <a:gd name="adj" fmla="val 13953"/>
            </a:avLst>
          </a:prstGeom>
          <a:solidFill>
            <a:srgbClr val="17143F"/>
          </a:solidFill>
          <a:ln w="12700">
            <a:solidFill>
              <a:srgbClr val="3A3580"/>
            </a:solidFill>
            <a:prstDash val="solid"/>
          </a:ln>
        </p:spPr>
      </p:sp>
      <p:sp>
        <p:nvSpPr>
          <p:cNvPr id="28" name="Text 22"/>
          <p:cNvSpPr txBox="1"/>
          <p:nvPr/>
        </p:nvSpPr>
        <p:spPr>
          <a:xfrm>
            <a:off x="8019288" y="2596896"/>
            <a:ext cx="3456432" cy="228600"/>
          </a:xfrm>
          <a:prstGeom prst="rect">
            <a:avLst/>
          </a:prstGeom>
          <a:noFill/>
          <a:ln/>
        </p:spPr>
        <p:txBody>
          <a:bodyPr wrap="square" lIns="0" tIns="0" rIns="0" bIns="0" rtlCol="0" anchor="t"/>
          <a:lstStyle/>
          <a:p>
            <a:pPr indent="0" marL="0">
              <a:buNone/>
            </a:pPr>
            <a:r>
              <a:rPr lang="en-US" sz="1000" b="1" spc="200" kern="0" dirty="0">
                <a:solidFill>
                  <a:srgbClr val="8B7CFF"/>
                </a:solidFill>
                <a:latin typeface="Calibri" pitchFamily="34" charset="0"/>
                <a:ea typeface="Calibri" pitchFamily="34" charset="-122"/>
                <a:cs typeface="Calibri" pitchFamily="34" charset="-120"/>
              </a:rPr>
              <a:t>WHEN</a:t>
            </a:r>
            <a:endParaRPr lang="en-US" sz="1000" dirty="0"/>
          </a:p>
        </p:txBody>
      </p:sp>
      <p:sp>
        <p:nvSpPr>
          <p:cNvPr id="29" name="Text 23"/>
          <p:cNvSpPr txBox="1"/>
          <p:nvPr/>
        </p:nvSpPr>
        <p:spPr>
          <a:xfrm>
            <a:off x="8019288" y="2834640"/>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At build time, once</a:t>
            </a:r>
            <a:endParaRPr lang="en-US" sz="1300" dirty="0"/>
          </a:p>
        </p:txBody>
      </p:sp>
      <p:sp>
        <p:nvSpPr>
          <p:cNvPr id="30" name="Shape 24"/>
          <p:cNvSpPr/>
          <p:nvPr/>
        </p:nvSpPr>
        <p:spPr>
          <a:xfrm>
            <a:off x="7818120" y="3410712"/>
            <a:ext cx="3822192" cy="786384"/>
          </a:xfrm>
          <a:prstGeom prst="roundRect">
            <a:avLst>
              <a:gd name="adj" fmla="val 13953"/>
            </a:avLst>
          </a:prstGeom>
          <a:solidFill>
            <a:srgbClr val="17143F"/>
          </a:solidFill>
          <a:ln w="12700">
            <a:solidFill>
              <a:srgbClr val="3A3580"/>
            </a:solidFill>
            <a:prstDash val="solid"/>
          </a:ln>
        </p:spPr>
      </p:sp>
      <p:sp>
        <p:nvSpPr>
          <p:cNvPr id="31" name="Text 25"/>
          <p:cNvSpPr txBox="1"/>
          <p:nvPr/>
        </p:nvSpPr>
        <p:spPr>
          <a:xfrm>
            <a:off x="8019288" y="3502152"/>
            <a:ext cx="3456432" cy="228600"/>
          </a:xfrm>
          <a:prstGeom prst="rect">
            <a:avLst/>
          </a:prstGeom>
          <a:noFill/>
          <a:ln/>
        </p:spPr>
        <p:txBody>
          <a:bodyPr wrap="square" lIns="0" tIns="0" rIns="0" bIns="0" rtlCol="0" anchor="t"/>
          <a:lstStyle/>
          <a:p>
            <a:pPr indent="0" marL="0">
              <a:buNone/>
            </a:pPr>
            <a:r>
              <a:rPr lang="en-US" sz="1000" b="1" spc="200" kern="0" dirty="0">
                <a:solidFill>
                  <a:srgbClr val="8B7CFF"/>
                </a:solidFill>
                <a:latin typeface="Calibri" pitchFamily="34" charset="0"/>
                <a:ea typeface="Calibri" pitchFamily="34" charset="-122"/>
                <a:cs typeface="Calibri" pitchFamily="34" charset="-120"/>
              </a:rPr>
              <a:t>GOOD FOR</a:t>
            </a:r>
            <a:endParaRPr lang="en-US" sz="1000" dirty="0"/>
          </a:p>
        </p:txBody>
      </p:sp>
      <p:sp>
        <p:nvSpPr>
          <p:cNvPr id="32" name="Text 26"/>
          <p:cNvSpPr txBox="1"/>
          <p:nvPr/>
        </p:nvSpPr>
        <p:spPr>
          <a:xfrm>
            <a:off x="8019288" y="3739896"/>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Blogs, docs, marketing pages</a:t>
            </a:r>
            <a:endParaRPr lang="en-US" sz="1300" dirty="0"/>
          </a:p>
        </p:txBody>
      </p:sp>
      <p:sp>
        <p:nvSpPr>
          <p:cNvPr id="33" name="Shape 27"/>
          <p:cNvSpPr/>
          <p:nvPr/>
        </p:nvSpPr>
        <p:spPr>
          <a:xfrm>
            <a:off x="7818120" y="4315968"/>
            <a:ext cx="3822192" cy="786384"/>
          </a:xfrm>
          <a:prstGeom prst="roundRect">
            <a:avLst>
              <a:gd name="adj" fmla="val 13953"/>
            </a:avLst>
          </a:prstGeom>
          <a:solidFill>
            <a:srgbClr val="17143F"/>
          </a:solidFill>
          <a:ln w="12700">
            <a:solidFill>
              <a:srgbClr val="3A3580"/>
            </a:solidFill>
            <a:prstDash val="solid"/>
          </a:ln>
        </p:spPr>
      </p:sp>
      <p:sp>
        <p:nvSpPr>
          <p:cNvPr id="34" name="Text 28"/>
          <p:cNvSpPr txBox="1"/>
          <p:nvPr/>
        </p:nvSpPr>
        <p:spPr>
          <a:xfrm>
            <a:off x="8019288" y="4407408"/>
            <a:ext cx="3456432" cy="228600"/>
          </a:xfrm>
          <a:prstGeom prst="rect">
            <a:avLst/>
          </a:prstGeom>
          <a:noFill/>
          <a:ln/>
        </p:spPr>
        <p:txBody>
          <a:bodyPr wrap="square" lIns="0" tIns="0" rIns="0" bIns="0" rtlCol="0" anchor="t"/>
          <a:lstStyle/>
          <a:p>
            <a:pPr indent="0" marL="0">
              <a:buNone/>
            </a:pPr>
            <a:r>
              <a:rPr lang="en-US" sz="1000" b="1" spc="200" kern="0" dirty="0">
                <a:solidFill>
                  <a:srgbClr val="8B7CFF"/>
                </a:solidFill>
                <a:latin typeface="Calibri" pitchFamily="34" charset="0"/>
                <a:ea typeface="Calibri" pitchFamily="34" charset="-122"/>
                <a:cs typeface="Calibri" pitchFamily="34" charset="-120"/>
              </a:rPr>
              <a:t>TRADE-OFF</a:t>
            </a:r>
            <a:endParaRPr lang="en-US" sz="1000" dirty="0"/>
          </a:p>
        </p:txBody>
      </p:sp>
      <p:sp>
        <p:nvSpPr>
          <p:cNvPr id="35" name="Text 29"/>
          <p:cNvSpPr txBox="1"/>
          <p:nvPr/>
        </p:nvSpPr>
        <p:spPr>
          <a:xfrm>
            <a:off x="8019288" y="4645152"/>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Content is only as fresh as the last build</a:t>
            </a:r>
            <a:endParaRPr lang="en-US" sz="1300" dirty="0"/>
          </a:p>
        </p:txBody>
      </p:sp>
      <p:sp>
        <p:nvSpPr>
          <p:cNvPr id="36" name="Shape 30"/>
          <p:cNvSpPr/>
          <p:nvPr/>
        </p:nvSpPr>
        <p:spPr>
          <a:xfrm>
            <a:off x="7818120" y="5221224"/>
            <a:ext cx="3822192" cy="786384"/>
          </a:xfrm>
          <a:prstGeom prst="roundRect">
            <a:avLst>
              <a:gd name="adj" fmla="val 13953"/>
            </a:avLst>
          </a:prstGeom>
          <a:solidFill>
            <a:srgbClr val="17143F"/>
          </a:solidFill>
          <a:ln w="19050">
            <a:solidFill>
              <a:srgbClr val="8B7CFF"/>
            </a:solidFill>
            <a:prstDash val="solid"/>
          </a:ln>
        </p:spPr>
      </p:sp>
      <p:sp>
        <p:nvSpPr>
          <p:cNvPr id="37" name="Text 31"/>
          <p:cNvSpPr txBox="1"/>
          <p:nvPr/>
        </p:nvSpPr>
        <p:spPr>
          <a:xfrm>
            <a:off x="8019288" y="5312664"/>
            <a:ext cx="3456432" cy="228600"/>
          </a:xfrm>
          <a:prstGeom prst="rect">
            <a:avLst/>
          </a:prstGeom>
          <a:noFill/>
          <a:ln/>
        </p:spPr>
        <p:txBody>
          <a:bodyPr wrap="square" lIns="0" tIns="0" rIns="0" bIns="0" rtlCol="0" anchor="t"/>
          <a:lstStyle/>
          <a:p>
            <a:pPr indent="0" marL="0">
              <a:buNone/>
            </a:pPr>
            <a:r>
              <a:rPr lang="en-US" sz="1000" b="1" spc="200" kern="0" dirty="0">
                <a:solidFill>
                  <a:srgbClr val="8B7CFF"/>
                </a:solidFill>
                <a:latin typeface="Calibri" pitchFamily="34" charset="0"/>
                <a:ea typeface="Calibri" pitchFamily="34" charset="-122"/>
                <a:cs typeface="Calibri" pitchFamily="34" charset="-120"/>
              </a:rPr>
              <a:t>IN NEXT.JS</a:t>
            </a:r>
            <a:endParaRPr lang="en-US" sz="1000" dirty="0"/>
          </a:p>
        </p:txBody>
      </p:sp>
      <p:sp>
        <p:nvSpPr>
          <p:cNvPr id="38" name="Text 32"/>
          <p:cNvSpPr txBox="1"/>
          <p:nvPr/>
        </p:nvSpPr>
        <p:spPr>
          <a:xfrm>
            <a:off x="8019288" y="5550408"/>
            <a:ext cx="3456432" cy="438912"/>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The default for pages with cacheable data</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5"/>
                                        </p:tgtEl>
                                        <p:attrNameLst>
                                          <p:attrName>style.visibility</p:attrName>
                                        </p:attrNameLst>
                                      </p:cBhvr>
                                      <p:to>
                                        <p:strVal val="visible"/>
                                      </p:to>
                                    </p:set>
                                    <p:animEffect transition="in" filter="fade">
                                      <p:cBhvr>
                                        <p:cTn id="5" dur="450"/>
                                        <p:tgtEl>
                                          <p:spTgt spid="1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5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5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450"/>
                                        <p:tgtEl>
                                          <p:spTgt spid="18"/>
                                        </p:tgtEl>
                                      </p:cBhvr>
                                    </p:animEffect>
                                  </p:childTnLst>
                                </p:cTn>
                              </p:par>
                            </p:childTnLst>
                          </p:cTn>
                        </p:par>
                      </p:childTnLst>
                    </p:cTn>
                  </p:par>
                  <p:par>
                    <p:cTn id="27" fill="hold">
                      <p:stCondLst>
                        <p:cond delay="indefinite"/>
                      </p:stCondLst>
                      <p:childTnLst>
                        <p:par>
                          <p:cTn id="28"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450"/>
                                        <p:tgtEl>
                                          <p:spTgt spid="19"/>
                                        </p:tgtEl>
                                      </p:cBhvr>
                                    </p:animEffect>
                                  </p:childTnLst>
                                </p:cTn>
                              </p:par>
                              <p:par>
                                <p:cTn id="24" presetID="10" presetClass="entr" presetSubtype="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450"/>
                                        <p:tgtEl>
                                          <p:spTgt spid="20"/>
                                        </p:tgtEl>
                                      </p:cBhvr>
                                    </p:animEffect>
                                  </p:childTnLst>
                                </p:cTn>
                              </p:par>
                            </p:childTnLst>
                          </p:cTn>
                        </p:par>
                      </p:childTnLst>
                    </p:cTn>
                  </p:par>
                  <p:par>
                    <p:cTn id="35" fill="hold">
                      <p:stCondLst>
                        <p:cond delay="indefinite"/>
                      </p:stCondLst>
                      <p:childTnLst>
                        <p:par>
                          <p:cTn id="36"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par>
                                <p:cTn id="32" presetID="10"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childTnLst>
                          </p:cTn>
                        </p:par>
                      </p:childTnLst>
                    </p:cTn>
                  </p:par>
                  <p:par>
                    <p:cTn id="40" fill="hold">
                      <p:stCondLst>
                        <p:cond delay="indefinite"/>
                      </p:stCondLst>
                      <p:childTnLst>
                        <p:par>
                          <p:cTn id="41"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RENDERING  |  ISR</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Incremental Static Regeneration: static that refreshes</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18</a:t>
            </a:r>
            <a:endParaRPr lang="en-US" sz="1100" dirty="0"/>
          </a:p>
        </p:txBody>
      </p:sp>
      <p:sp>
        <p:nvSpPr>
          <p:cNvPr id="7" name="Shape 3"/>
          <p:cNvSpPr/>
          <p:nvPr/>
        </p:nvSpPr>
        <p:spPr>
          <a:xfrm>
            <a:off x="822960" y="3246120"/>
            <a:ext cx="10607040" cy="0"/>
          </a:xfrm>
          <a:prstGeom prst="line">
            <a:avLst/>
          </a:prstGeom>
          <a:noFill/>
          <a:ln w="38100">
            <a:solidFill>
              <a:srgbClr val="3A3580"/>
            </a:solidFill>
            <a:prstDash val="solid"/>
          </a:ln>
        </p:spPr>
      </p:sp>
      <p:sp>
        <p:nvSpPr>
          <p:cNvPr id="8" name="A1_d"/>
          <p:cNvSpPr/>
          <p:nvPr/>
        </p:nvSpPr>
        <p:spPr>
          <a:xfrm>
            <a:off x="1682496" y="3099816"/>
            <a:ext cx="292608" cy="292608"/>
          </a:xfrm>
          <a:prstGeom prst="ellipse">
            <a:avLst/>
          </a:prstGeom>
          <a:solidFill>
            <a:srgbClr val="8B7CFF"/>
          </a:solidFill>
          <a:ln w="25400">
            <a:solidFill>
              <a:srgbClr val="0C0A20"/>
            </a:solidFill>
            <a:prstDash val="solid"/>
          </a:ln>
        </p:spPr>
      </p:sp>
      <p:sp>
        <p:nvSpPr>
          <p:cNvPr id="9" name="A1_e"/>
          <p:cNvSpPr txBox="1"/>
          <p:nvPr/>
        </p:nvSpPr>
        <p:spPr>
          <a:xfrm>
            <a:off x="731520" y="1691640"/>
            <a:ext cx="2194560" cy="1143000"/>
          </a:xfrm>
          <a:prstGeom prst="roundRect">
            <a:avLst>
              <a:gd name="adj" fmla="val 9600"/>
            </a:avLst>
          </a:prstGeom>
          <a:solidFill>
            <a:srgbClr val="17143F"/>
          </a:solidFill>
          <a:ln w="12700">
            <a:solidFill>
              <a:srgbClr val="8B7CFF"/>
            </a:solidFill>
            <a:prstDash val="solid"/>
          </a:ln>
        </p:spPr>
        <p:txBody>
          <a:bodyPr wrap="square" lIns="50800" tIns="50800" rIns="50800" bIns="50800" rtlCol="0" anchor="ctr"/>
          <a:lstStyle/>
          <a:p>
            <a:pPr algn="ctr" indent="0" marL="0">
              <a:buNone/>
            </a:pPr>
            <a:r>
              <a:rPr lang="en-US" sz="1600" b="1" dirty="0">
                <a:solidFill>
                  <a:srgbClr val="8B7CFF"/>
                </a:solidFill>
                <a:latin typeface="Calibri" pitchFamily="34" charset="0"/>
                <a:ea typeface="Calibri" pitchFamily="34" charset="-122"/>
                <a:cs typeface="Calibri" pitchFamily="34" charset="-120"/>
              </a:rPr>
              <a:t>Build</a:t>
            </a:r>
            <a:endParaRPr lang="en-US" sz="1300" dirty="0"/>
          </a:p>
          <a:p>
            <a:pPr algn="ctr" indent="0" marL="0">
              <a:buNone/>
            </a:pPr>
            <a:r>
              <a:rPr lang="en-US" sz="1200" dirty="0">
                <a:solidFill>
                  <a:srgbClr val="F4F3FF"/>
                </a:solidFill>
                <a:latin typeface="Calibri" pitchFamily="34" charset="0"/>
                <a:ea typeface="Calibri" pitchFamily="34" charset="-122"/>
                <a:cs typeface="Calibri" pitchFamily="34" charset="-120"/>
              </a:rPr>
              <a:t>Page v1 is generated</a:t>
            </a:r>
            <a:endParaRPr lang="en-US" sz="1300" dirty="0"/>
          </a:p>
        </p:txBody>
      </p:sp>
      <p:sp>
        <p:nvSpPr>
          <p:cNvPr id="10" name="A1_ln"/>
          <p:cNvSpPr/>
          <p:nvPr/>
        </p:nvSpPr>
        <p:spPr>
          <a:xfrm>
            <a:off x="1828800" y="2834640"/>
            <a:ext cx="0" cy="265176"/>
          </a:xfrm>
          <a:prstGeom prst="line">
            <a:avLst/>
          </a:prstGeom>
          <a:noFill/>
          <a:ln w="19050">
            <a:solidFill>
              <a:srgbClr val="8B7CFF"/>
            </a:solidFill>
            <a:prstDash val="solid"/>
          </a:ln>
        </p:spPr>
      </p:sp>
      <p:sp>
        <p:nvSpPr>
          <p:cNvPr id="11" name="A2_d"/>
          <p:cNvSpPr/>
          <p:nvPr/>
        </p:nvSpPr>
        <p:spPr>
          <a:xfrm>
            <a:off x="4334256" y="3099816"/>
            <a:ext cx="292608" cy="292608"/>
          </a:xfrm>
          <a:prstGeom prst="ellipse">
            <a:avLst/>
          </a:prstGeom>
          <a:solidFill>
            <a:srgbClr val="34D399"/>
          </a:solidFill>
          <a:ln w="25400">
            <a:solidFill>
              <a:srgbClr val="0C0A20"/>
            </a:solidFill>
            <a:prstDash val="solid"/>
          </a:ln>
        </p:spPr>
      </p:sp>
      <p:sp>
        <p:nvSpPr>
          <p:cNvPr id="12" name="A2_e"/>
          <p:cNvSpPr txBox="1"/>
          <p:nvPr/>
        </p:nvSpPr>
        <p:spPr>
          <a:xfrm>
            <a:off x="3383280" y="3657600"/>
            <a:ext cx="2194560" cy="1143000"/>
          </a:xfrm>
          <a:prstGeom prst="roundRect">
            <a:avLst>
              <a:gd name="adj" fmla="val 9600"/>
            </a:avLst>
          </a:prstGeom>
          <a:solidFill>
            <a:srgbClr val="17143F"/>
          </a:solidFill>
          <a:ln w="12700">
            <a:solidFill>
              <a:srgbClr val="34D399"/>
            </a:solidFill>
            <a:prstDash val="solid"/>
          </a:ln>
        </p:spPr>
        <p:txBody>
          <a:bodyPr wrap="square" lIns="50800" tIns="50800" rIns="50800" bIns="50800" rtlCol="0" anchor="ctr"/>
          <a:lstStyle/>
          <a:p>
            <a:pPr algn="ctr" indent="0" marL="0">
              <a:buNone/>
            </a:pPr>
            <a:r>
              <a:rPr lang="en-US" sz="1600" b="1" dirty="0">
                <a:solidFill>
                  <a:srgbClr val="34D399"/>
                </a:solidFill>
                <a:latin typeface="Calibri" pitchFamily="34" charset="0"/>
                <a:ea typeface="Calibri" pitchFamily="34" charset="-122"/>
                <a:cs typeface="Calibri" pitchFamily="34" charset="-120"/>
              </a:rPr>
              <a:t>Within 60s</a:t>
            </a:r>
            <a:endParaRPr lang="en-US" sz="1300" dirty="0"/>
          </a:p>
          <a:p>
            <a:pPr algn="ctr" indent="0" marL="0">
              <a:buNone/>
            </a:pPr>
            <a:r>
              <a:rPr lang="en-US" sz="1200" dirty="0">
                <a:solidFill>
                  <a:srgbClr val="F4F3FF"/>
                </a:solidFill>
                <a:latin typeface="Calibri" pitchFamily="34" charset="0"/>
                <a:ea typeface="Calibri" pitchFamily="34" charset="-122"/>
                <a:cs typeface="Calibri" pitchFamily="34" charset="-120"/>
              </a:rPr>
              <a:t>Everyone gets v1, instantly</a:t>
            </a:r>
            <a:endParaRPr lang="en-US" sz="1300" dirty="0"/>
          </a:p>
        </p:txBody>
      </p:sp>
      <p:sp>
        <p:nvSpPr>
          <p:cNvPr id="13" name="A2_ln"/>
          <p:cNvSpPr/>
          <p:nvPr/>
        </p:nvSpPr>
        <p:spPr>
          <a:xfrm>
            <a:off x="4480560" y="3392424"/>
            <a:ext cx="0" cy="265176"/>
          </a:xfrm>
          <a:prstGeom prst="line">
            <a:avLst/>
          </a:prstGeom>
          <a:noFill/>
          <a:ln w="19050">
            <a:solidFill>
              <a:srgbClr val="34D399"/>
            </a:solidFill>
            <a:prstDash val="solid"/>
          </a:ln>
        </p:spPr>
      </p:sp>
      <p:sp>
        <p:nvSpPr>
          <p:cNvPr id="14" name="A3_d"/>
          <p:cNvSpPr/>
          <p:nvPr/>
        </p:nvSpPr>
        <p:spPr>
          <a:xfrm>
            <a:off x="6986016" y="3099816"/>
            <a:ext cx="292608" cy="292608"/>
          </a:xfrm>
          <a:prstGeom prst="ellipse">
            <a:avLst/>
          </a:prstGeom>
          <a:solidFill>
            <a:srgbClr val="FBBF24"/>
          </a:solidFill>
          <a:ln w="25400">
            <a:solidFill>
              <a:srgbClr val="0C0A20"/>
            </a:solidFill>
            <a:prstDash val="solid"/>
          </a:ln>
        </p:spPr>
      </p:sp>
      <p:sp>
        <p:nvSpPr>
          <p:cNvPr id="15" name="A3_e"/>
          <p:cNvSpPr txBox="1"/>
          <p:nvPr/>
        </p:nvSpPr>
        <p:spPr>
          <a:xfrm>
            <a:off x="6035040" y="1691640"/>
            <a:ext cx="2194560" cy="1143000"/>
          </a:xfrm>
          <a:prstGeom prst="roundRect">
            <a:avLst>
              <a:gd name="adj" fmla="val 9600"/>
            </a:avLst>
          </a:prstGeom>
          <a:solidFill>
            <a:srgbClr val="17143F"/>
          </a:solidFill>
          <a:ln w="12700">
            <a:solidFill>
              <a:srgbClr val="FBBF24"/>
            </a:solidFill>
            <a:prstDash val="solid"/>
          </a:ln>
        </p:spPr>
        <p:txBody>
          <a:bodyPr wrap="square" lIns="50800" tIns="50800" rIns="50800" bIns="50800" rtlCol="0" anchor="ctr"/>
          <a:lstStyle/>
          <a:p>
            <a:pPr algn="ctr" indent="0" marL="0">
              <a:buNone/>
            </a:pPr>
            <a:r>
              <a:rPr lang="en-US" sz="1600" b="1" dirty="0">
                <a:solidFill>
                  <a:srgbClr val="FBBF24"/>
                </a:solidFill>
                <a:latin typeface="Calibri" pitchFamily="34" charset="0"/>
                <a:ea typeface="Calibri" pitchFamily="34" charset="-122"/>
                <a:cs typeface="Calibri" pitchFamily="34" charset="-120"/>
              </a:rPr>
              <a:t>After 60s</a:t>
            </a:r>
            <a:endParaRPr lang="en-US" sz="1300" dirty="0"/>
          </a:p>
          <a:p>
            <a:pPr algn="ctr" indent="0" marL="0">
              <a:buNone/>
            </a:pPr>
            <a:r>
              <a:rPr lang="en-US" sz="1200" dirty="0">
                <a:solidFill>
                  <a:srgbClr val="F4F3FF"/>
                </a:solidFill>
                <a:latin typeface="Calibri" pitchFamily="34" charset="0"/>
                <a:ea typeface="Calibri" pitchFamily="34" charset="-122"/>
                <a:cs typeface="Calibri" pitchFamily="34" charset="-120"/>
              </a:rPr>
              <a:t>v1 is stale. Next visitor still gets v1 fast and triggers a rebuild</a:t>
            </a:r>
            <a:endParaRPr lang="en-US" sz="1300" dirty="0"/>
          </a:p>
        </p:txBody>
      </p:sp>
      <p:sp>
        <p:nvSpPr>
          <p:cNvPr id="16" name="A3_ln"/>
          <p:cNvSpPr/>
          <p:nvPr/>
        </p:nvSpPr>
        <p:spPr>
          <a:xfrm>
            <a:off x="7132320" y="2834640"/>
            <a:ext cx="0" cy="265176"/>
          </a:xfrm>
          <a:prstGeom prst="line">
            <a:avLst/>
          </a:prstGeom>
          <a:noFill/>
          <a:ln w="19050">
            <a:solidFill>
              <a:srgbClr val="FBBF24"/>
            </a:solidFill>
            <a:prstDash val="solid"/>
          </a:ln>
        </p:spPr>
      </p:sp>
      <p:sp>
        <p:nvSpPr>
          <p:cNvPr id="17" name="A4_d"/>
          <p:cNvSpPr/>
          <p:nvPr/>
        </p:nvSpPr>
        <p:spPr>
          <a:xfrm>
            <a:off x="9637776" y="3099816"/>
            <a:ext cx="292608" cy="292608"/>
          </a:xfrm>
          <a:prstGeom prst="ellipse">
            <a:avLst/>
          </a:prstGeom>
          <a:solidFill>
            <a:srgbClr val="22D3EE"/>
          </a:solidFill>
          <a:ln w="25400">
            <a:solidFill>
              <a:srgbClr val="0C0A20"/>
            </a:solidFill>
            <a:prstDash val="solid"/>
          </a:ln>
        </p:spPr>
      </p:sp>
      <p:sp>
        <p:nvSpPr>
          <p:cNvPr id="18" name="A4_e"/>
          <p:cNvSpPr txBox="1"/>
          <p:nvPr/>
        </p:nvSpPr>
        <p:spPr>
          <a:xfrm>
            <a:off x="8686800" y="3657600"/>
            <a:ext cx="2194560" cy="1143000"/>
          </a:xfrm>
          <a:prstGeom prst="roundRect">
            <a:avLst>
              <a:gd name="adj" fmla="val 9600"/>
            </a:avLst>
          </a:prstGeom>
          <a:solidFill>
            <a:srgbClr val="17143F"/>
          </a:solidFill>
          <a:ln w="12700">
            <a:solidFill>
              <a:srgbClr val="22D3EE"/>
            </a:solidFill>
            <a:prstDash val="solid"/>
          </a:ln>
        </p:spPr>
        <p:txBody>
          <a:bodyPr wrap="square" lIns="50800" tIns="50800" rIns="50800" bIns="50800" rtlCol="0" anchor="ctr"/>
          <a:lstStyle/>
          <a:p>
            <a:pPr algn="ctr" indent="0" marL="0">
              <a:buNone/>
            </a:pPr>
            <a:r>
              <a:rPr lang="en-US" sz="1600" b="1" dirty="0">
                <a:solidFill>
                  <a:srgbClr val="22D3EE"/>
                </a:solidFill>
                <a:latin typeface="Calibri" pitchFamily="34" charset="0"/>
                <a:ea typeface="Calibri" pitchFamily="34" charset="-122"/>
                <a:cs typeface="Calibri" pitchFamily="34" charset="-120"/>
              </a:rPr>
              <a:t>Rebuilt</a:t>
            </a:r>
            <a:endParaRPr lang="en-US" sz="1300" dirty="0"/>
          </a:p>
          <a:p>
            <a:pPr algn="ctr" indent="0" marL="0">
              <a:buNone/>
            </a:pPr>
            <a:r>
              <a:rPr lang="en-US" sz="1200" dirty="0">
                <a:solidFill>
                  <a:srgbClr val="F4F3FF"/>
                </a:solidFill>
                <a:latin typeface="Calibri" pitchFamily="34" charset="0"/>
                <a:ea typeface="Calibri" pitchFamily="34" charset="-122"/>
                <a:cs typeface="Calibri" pitchFamily="34" charset="-120"/>
              </a:rPr>
              <a:t>v2 is ready. Later visitors get v2</a:t>
            </a:r>
            <a:endParaRPr lang="en-US" sz="1300" dirty="0"/>
          </a:p>
        </p:txBody>
      </p:sp>
      <p:sp>
        <p:nvSpPr>
          <p:cNvPr id="19" name="A4_ln"/>
          <p:cNvSpPr/>
          <p:nvPr/>
        </p:nvSpPr>
        <p:spPr>
          <a:xfrm>
            <a:off x="9784080" y="3392424"/>
            <a:ext cx="0" cy="265176"/>
          </a:xfrm>
          <a:prstGeom prst="line">
            <a:avLst/>
          </a:prstGeom>
          <a:noFill/>
          <a:ln w="19050">
            <a:solidFill>
              <a:srgbClr val="22D3EE"/>
            </a:solidFill>
            <a:prstDash val="solid"/>
          </a:ln>
        </p:spPr>
      </p:sp>
      <p:sp>
        <p:nvSpPr>
          <p:cNvPr id="20" name="Text 16"/>
          <p:cNvSpPr txBox="1"/>
          <p:nvPr/>
        </p:nvSpPr>
        <p:spPr>
          <a:xfrm>
            <a:off x="548640" y="5029200"/>
            <a:ext cx="3931920" cy="1097280"/>
          </a:xfrm>
          <a:prstGeom prst="roundRect">
            <a:avLst>
              <a:gd name="adj" fmla="val 8333"/>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400" dirty="0">
                <a:solidFill>
                  <a:srgbClr val="E6E4FF"/>
                </a:solidFill>
                <a:latin typeface="Courier New" pitchFamily="34" charset="0"/>
                <a:ea typeface="Courier New" pitchFamily="34" charset="-122"/>
                <a:cs typeface="Courier New" pitchFamily="34" charset="-120"/>
              </a:rPr>
              <a:t>fetch</a:t>
            </a:r>
            <a:pPr algn="l" indent="0" marL="0">
              <a:buNone/>
            </a:pPr>
            <a:r>
              <a:rPr lang="en-US" sz="1400" dirty="0">
                <a:solidFill>
                  <a:srgbClr val="D6D3FF"/>
                </a:solidFill>
                <a:latin typeface="Courier New" pitchFamily="34" charset="0"/>
                <a:ea typeface="Courier New" pitchFamily="34" charset="-122"/>
                <a:cs typeface="Courier New" pitchFamily="34" charset="-120"/>
              </a:rPr>
              <a:t>(</a:t>
            </a:r>
            <a:pPr algn="l" indent="0" marL="0">
              <a:buNone/>
            </a:pPr>
            <a:r>
              <a:rPr lang="en-US" sz="1400" dirty="0">
                <a:solidFill>
                  <a:srgbClr val="E6E4FF"/>
                </a:solidFill>
                <a:latin typeface="Courier New" pitchFamily="34" charset="0"/>
                <a:ea typeface="Courier New" pitchFamily="34" charset="-122"/>
                <a:cs typeface="Courier New" pitchFamily="34" charset="-120"/>
              </a:rPr>
              <a:t>url</a:t>
            </a:r>
            <a:pPr algn="l" indent="0" marL="0">
              <a:buNone/>
            </a:pPr>
            <a:r>
              <a:rPr lang="en-US" sz="1400" dirty="0">
                <a:solidFill>
                  <a:srgbClr val="D6D3FF"/>
                </a:solidFill>
                <a:latin typeface="Courier New" pitchFamily="34" charset="0"/>
                <a:ea typeface="Courier New" pitchFamily="34" charset="-122"/>
                <a:cs typeface="Courier New" pitchFamily="34" charset="-120"/>
              </a:rPr>
              <a:t>, {</a:t>
            </a:r>
            <a:endParaRPr lang="en-US" sz="1400" dirty="0"/>
          </a:p>
          <a:p>
            <a:pPr algn="l" indent="0" marL="0">
              <a:buNone/>
            </a:pPr>
            <a:r>
              <a:rPr lang="en-US" sz="1400" dirty="0">
                <a:solidFill>
                  <a:srgbClr val="D6D3FF"/>
                </a:solidFill>
                <a:latin typeface="Courier New" pitchFamily="34" charset="0"/>
                <a:ea typeface="Courier New" pitchFamily="34" charset="-122"/>
                <a:cs typeface="Courier New" pitchFamily="34" charset="-120"/>
              </a:rPr>
              <a:t>  </a:t>
            </a:r>
            <a:pPr algn="l" indent="0" marL="0">
              <a:buNone/>
            </a:pPr>
            <a:r>
              <a:rPr lang="en-US" sz="1400" dirty="0">
                <a:solidFill>
                  <a:srgbClr val="E6E4FF"/>
                </a:solidFill>
                <a:latin typeface="Courier New" pitchFamily="34" charset="0"/>
                <a:ea typeface="Courier New" pitchFamily="34" charset="-122"/>
                <a:cs typeface="Courier New" pitchFamily="34" charset="-120"/>
              </a:rPr>
              <a:t>next</a:t>
            </a:r>
            <a:pPr algn="l" indent="0" marL="0">
              <a:buNone/>
            </a:pPr>
            <a:r>
              <a:rPr lang="en-US" sz="1400" dirty="0">
                <a:solidFill>
                  <a:srgbClr val="D6D3FF"/>
                </a:solidFill>
                <a:latin typeface="Courier New" pitchFamily="34" charset="0"/>
                <a:ea typeface="Courier New" pitchFamily="34" charset="-122"/>
                <a:cs typeface="Courier New" pitchFamily="34" charset="-120"/>
              </a:rPr>
              <a:t>: { </a:t>
            </a:r>
            <a:pPr algn="l" indent="0" marL="0">
              <a:buNone/>
            </a:pPr>
            <a:r>
              <a:rPr lang="en-US" sz="1400" dirty="0">
                <a:solidFill>
                  <a:srgbClr val="E6E4FF"/>
                </a:solidFill>
                <a:latin typeface="Courier New" pitchFamily="34" charset="0"/>
                <a:ea typeface="Courier New" pitchFamily="34" charset="-122"/>
                <a:cs typeface="Courier New" pitchFamily="34" charset="-120"/>
              </a:rPr>
              <a:t>revalidate</a:t>
            </a:r>
            <a:pPr algn="l" indent="0" marL="0">
              <a:buNone/>
            </a:pPr>
            <a:r>
              <a:rPr lang="en-US" sz="1400" dirty="0">
                <a:solidFill>
                  <a:srgbClr val="D6D3FF"/>
                </a:solidFill>
                <a:latin typeface="Courier New" pitchFamily="34" charset="0"/>
                <a:ea typeface="Courier New" pitchFamily="34" charset="-122"/>
                <a:cs typeface="Courier New" pitchFamily="34" charset="-120"/>
              </a:rPr>
              <a:t>: 60 }</a:t>
            </a:r>
            <a:endParaRPr lang="en-US" sz="1400" dirty="0"/>
          </a:p>
          <a:p>
            <a:pPr algn="l" indent="0" marL="0">
              <a:buNone/>
            </a:pPr>
            <a:r>
              <a:rPr lang="en-US" sz="1400" dirty="0">
                <a:solidFill>
                  <a:srgbClr val="D6D3FF"/>
                </a:solidFill>
                <a:latin typeface="Courier New" pitchFamily="34" charset="0"/>
                <a:ea typeface="Courier New" pitchFamily="34" charset="-122"/>
                <a:cs typeface="Courier New" pitchFamily="34" charset="-120"/>
              </a:rPr>
              <a:t>});</a:t>
            </a:r>
            <a:endParaRPr lang="en-US" sz="1400" dirty="0"/>
          </a:p>
        </p:txBody>
      </p:sp>
      <p:sp>
        <p:nvSpPr>
          <p:cNvPr id="21" name="Shape 17"/>
          <p:cNvSpPr/>
          <p:nvPr/>
        </p:nvSpPr>
        <p:spPr>
          <a:xfrm>
            <a:off x="4754880" y="5029200"/>
            <a:ext cx="3063240" cy="1097280"/>
          </a:xfrm>
          <a:prstGeom prst="roundRect">
            <a:avLst>
              <a:gd name="adj" fmla="val 10000"/>
            </a:avLst>
          </a:prstGeom>
          <a:solidFill>
            <a:srgbClr val="17143F"/>
          </a:solidFill>
          <a:ln w="12700">
            <a:solidFill>
              <a:srgbClr val="3A3580"/>
            </a:solidFill>
            <a:prstDash val="solid"/>
          </a:ln>
        </p:spPr>
      </p:sp>
      <p:sp>
        <p:nvSpPr>
          <p:cNvPr id="22" name="Text 18"/>
          <p:cNvSpPr txBox="1"/>
          <p:nvPr/>
        </p:nvSpPr>
        <p:spPr>
          <a:xfrm>
            <a:off x="4937760" y="5120640"/>
            <a:ext cx="2743200" cy="228600"/>
          </a:xfrm>
          <a:prstGeom prst="rect">
            <a:avLst/>
          </a:prstGeom>
          <a:noFill/>
          <a:ln/>
        </p:spPr>
        <p:txBody>
          <a:bodyPr wrap="square" lIns="0" tIns="0" rIns="0" bIns="0" rtlCol="0" anchor="t"/>
          <a:lstStyle/>
          <a:p>
            <a:pPr indent="0" marL="0">
              <a:buNone/>
            </a:pPr>
            <a:r>
              <a:rPr lang="en-US" sz="1000" b="1" spc="200" kern="0" dirty="0">
                <a:solidFill>
                  <a:srgbClr val="8B7CFF"/>
                </a:solidFill>
                <a:latin typeface="Calibri" pitchFamily="34" charset="0"/>
                <a:ea typeface="Calibri" pitchFamily="34" charset="-122"/>
                <a:cs typeface="Calibri" pitchFamily="34" charset="-120"/>
              </a:rPr>
              <a:t>WHERE / WHEN</a:t>
            </a:r>
            <a:endParaRPr lang="en-US" sz="1000" dirty="0"/>
          </a:p>
        </p:txBody>
      </p:sp>
      <p:sp>
        <p:nvSpPr>
          <p:cNvPr id="23" name="Text 19"/>
          <p:cNvSpPr txBox="1"/>
          <p:nvPr/>
        </p:nvSpPr>
        <p:spPr>
          <a:xfrm>
            <a:off x="4937760" y="5394960"/>
            <a:ext cx="2743200" cy="685800"/>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Server, at build time and again after the window expires.</a:t>
            </a:r>
            <a:endParaRPr lang="en-US" sz="1300" dirty="0"/>
          </a:p>
        </p:txBody>
      </p:sp>
      <p:sp>
        <p:nvSpPr>
          <p:cNvPr id="24" name="Shape 20"/>
          <p:cNvSpPr/>
          <p:nvPr/>
        </p:nvSpPr>
        <p:spPr>
          <a:xfrm>
            <a:off x="8001000" y="5029200"/>
            <a:ext cx="3639312" cy="1097280"/>
          </a:xfrm>
          <a:prstGeom prst="roundRect">
            <a:avLst>
              <a:gd name="adj" fmla="val 10000"/>
            </a:avLst>
          </a:prstGeom>
          <a:solidFill>
            <a:srgbClr val="221E58"/>
          </a:solidFill>
          <a:ln w="19050">
            <a:solidFill>
              <a:srgbClr val="8B7CFF"/>
            </a:solidFill>
            <a:prstDash val="solid"/>
          </a:ln>
        </p:spPr>
      </p:sp>
      <p:sp>
        <p:nvSpPr>
          <p:cNvPr id="25" name="Text 21"/>
          <p:cNvSpPr txBox="1"/>
          <p:nvPr/>
        </p:nvSpPr>
        <p:spPr>
          <a:xfrm>
            <a:off x="8183880" y="5120640"/>
            <a:ext cx="2743200" cy="228600"/>
          </a:xfrm>
          <a:prstGeom prst="rect">
            <a:avLst/>
          </a:prstGeom>
          <a:noFill/>
          <a:ln/>
        </p:spPr>
        <p:txBody>
          <a:bodyPr wrap="square" lIns="0" tIns="0" rIns="0" bIns="0" rtlCol="0" anchor="t"/>
          <a:lstStyle/>
          <a:p>
            <a:pPr indent="0" marL="0">
              <a:buNone/>
            </a:pPr>
            <a:r>
              <a:rPr lang="en-US" sz="1000" b="1" spc="200" kern="0" dirty="0">
                <a:solidFill>
                  <a:srgbClr val="8B7CFF"/>
                </a:solidFill>
                <a:latin typeface="Calibri" pitchFamily="34" charset="0"/>
                <a:ea typeface="Calibri" pitchFamily="34" charset="-122"/>
                <a:cs typeface="Calibri" pitchFamily="34" charset="-120"/>
              </a:rPr>
              <a:t>GOOD FOR</a:t>
            </a:r>
            <a:endParaRPr lang="en-US" sz="1000" dirty="0"/>
          </a:p>
        </p:txBody>
      </p:sp>
      <p:sp>
        <p:nvSpPr>
          <p:cNvPr id="26" name="Text 22"/>
          <p:cNvSpPr txBox="1"/>
          <p:nvPr/>
        </p:nvSpPr>
        <p:spPr>
          <a:xfrm>
            <a:off x="8183880" y="5394960"/>
            <a:ext cx="3291840" cy="685800"/>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Product catalogs and news that change sometimes, not every second.</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50"/>
                                        <p:tgtEl>
                                          <p:spTgt spid="8"/>
                                        </p:tgtEl>
                                      </p:cBhvr>
                                    </p:animEffect>
                                  </p:childTnLst>
                                </p:cTn>
                              </p:par>
                              <p:par>
                                <p:cTn id="6" presetID="10" presetClass="entr" presetSubtype="0" fill="hold"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par>
                                <p:cTn id="9" presetID="10"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50"/>
                                        <p:tgtEl>
                                          <p:spTgt spid="10"/>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50"/>
                                        <p:tgtEl>
                                          <p:spTgt spid="13"/>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5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5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50"/>
                                        <p:tgtEl>
                                          <p:spTgt spid="16"/>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5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5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RENDERING</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The rendering map: where × when</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19</a:t>
            </a:r>
            <a:endParaRPr lang="en-US" sz="1100" dirty="0"/>
          </a:p>
        </p:txBody>
      </p:sp>
      <p:sp>
        <p:nvSpPr>
          <p:cNvPr id="7" name="Text 3"/>
          <p:cNvSpPr txBox="1"/>
          <p:nvPr/>
        </p:nvSpPr>
        <p:spPr>
          <a:xfrm>
            <a:off x="2331720" y="1600200"/>
            <a:ext cx="3017520" cy="274320"/>
          </a:xfrm>
          <a:prstGeom prst="rect">
            <a:avLst/>
          </a:prstGeom>
          <a:noFill/>
          <a:ln/>
        </p:spPr>
        <p:txBody>
          <a:bodyPr wrap="square" lIns="0" tIns="0" rIns="0" bIns="0" rtlCol="0" anchor="t"/>
          <a:lstStyle/>
          <a:p>
            <a:pPr algn="ctr" indent="0" marL="0">
              <a:buNone/>
            </a:pPr>
            <a:r>
              <a:rPr lang="en-US" sz="1100" b="1" spc="200" kern="0" dirty="0">
                <a:solidFill>
                  <a:srgbClr val="A8A5D8"/>
                </a:solidFill>
                <a:latin typeface="Calibri" pitchFamily="34" charset="0"/>
                <a:ea typeface="Calibri" pitchFamily="34" charset="-122"/>
                <a:cs typeface="Calibri" pitchFamily="34" charset="-120"/>
              </a:rPr>
              <a:t>AT BUILD TIME</a:t>
            </a:r>
            <a:endParaRPr lang="en-US" sz="1100" dirty="0"/>
          </a:p>
        </p:txBody>
      </p:sp>
      <p:sp>
        <p:nvSpPr>
          <p:cNvPr id="8" name="Text 4"/>
          <p:cNvSpPr txBox="1"/>
          <p:nvPr/>
        </p:nvSpPr>
        <p:spPr>
          <a:xfrm>
            <a:off x="5532120" y="1600200"/>
            <a:ext cx="3017520" cy="274320"/>
          </a:xfrm>
          <a:prstGeom prst="rect">
            <a:avLst/>
          </a:prstGeom>
          <a:noFill/>
          <a:ln/>
        </p:spPr>
        <p:txBody>
          <a:bodyPr wrap="square" lIns="0" tIns="0" rIns="0" bIns="0" rtlCol="0" anchor="t"/>
          <a:lstStyle/>
          <a:p>
            <a:pPr algn="ctr" indent="0" marL="0">
              <a:buNone/>
            </a:pPr>
            <a:r>
              <a:rPr lang="en-US" sz="1100" b="1" spc="200" kern="0" dirty="0">
                <a:solidFill>
                  <a:srgbClr val="A8A5D8"/>
                </a:solidFill>
                <a:latin typeface="Calibri" pitchFamily="34" charset="0"/>
                <a:ea typeface="Calibri" pitchFamily="34" charset="-122"/>
                <a:cs typeface="Calibri" pitchFamily="34" charset="-120"/>
              </a:rPr>
              <a:t>BUILD + REFRESH</a:t>
            </a:r>
            <a:endParaRPr lang="en-US" sz="1100" dirty="0"/>
          </a:p>
        </p:txBody>
      </p:sp>
      <p:sp>
        <p:nvSpPr>
          <p:cNvPr id="9" name="Text 5"/>
          <p:cNvSpPr txBox="1"/>
          <p:nvPr/>
        </p:nvSpPr>
        <p:spPr>
          <a:xfrm>
            <a:off x="8732520" y="1600200"/>
            <a:ext cx="3017520" cy="274320"/>
          </a:xfrm>
          <a:prstGeom prst="rect">
            <a:avLst/>
          </a:prstGeom>
          <a:noFill/>
          <a:ln/>
        </p:spPr>
        <p:txBody>
          <a:bodyPr wrap="square" lIns="0" tIns="0" rIns="0" bIns="0" rtlCol="0" anchor="t"/>
          <a:lstStyle/>
          <a:p>
            <a:pPr algn="ctr" indent="0" marL="0">
              <a:buNone/>
            </a:pPr>
            <a:r>
              <a:rPr lang="en-US" sz="1100" b="1" spc="200" kern="0" dirty="0">
                <a:solidFill>
                  <a:srgbClr val="A8A5D8"/>
                </a:solidFill>
                <a:latin typeface="Calibri" pitchFamily="34" charset="0"/>
                <a:ea typeface="Calibri" pitchFamily="34" charset="-122"/>
                <a:cs typeface="Calibri" pitchFamily="34" charset="-120"/>
              </a:rPr>
              <a:t>ON EVERY REQUEST</a:t>
            </a:r>
            <a:endParaRPr lang="en-US" sz="1100" dirty="0"/>
          </a:p>
        </p:txBody>
      </p:sp>
      <p:sp>
        <p:nvSpPr>
          <p:cNvPr id="10" name="Shape 6"/>
          <p:cNvSpPr/>
          <p:nvPr/>
        </p:nvSpPr>
        <p:spPr>
          <a:xfrm>
            <a:off x="548640" y="1965960"/>
            <a:ext cx="1600200" cy="1554480"/>
          </a:xfrm>
          <a:prstGeom prst="roundRect">
            <a:avLst>
              <a:gd name="adj" fmla="val 7059"/>
            </a:avLst>
          </a:prstGeom>
          <a:solidFill>
            <a:srgbClr val="221E58"/>
          </a:solidFill>
          <a:ln w="12700">
            <a:solidFill>
              <a:srgbClr val="22D3EE"/>
            </a:solidFill>
            <a:prstDash val="solid"/>
          </a:ln>
        </p:spPr>
      </p:sp>
      <p:sp>
        <p:nvSpPr>
          <p:cNvPr id="11" name="Text 7"/>
          <p:cNvSpPr txBox="1"/>
          <p:nvPr/>
        </p:nvSpPr>
        <p:spPr>
          <a:xfrm>
            <a:off x="548640" y="1965960"/>
            <a:ext cx="1600200" cy="1554480"/>
          </a:xfrm>
          <a:prstGeom prst="rect">
            <a:avLst/>
          </a:prstGeom>
          <a:noFill/>
          <a:ln/>
        </p:spPr>
        <p:txBody>
          <a:bodyPr wrap="square" lIns="0" tIns="0" rIns="0" bIns="0" rtlCol="0" anchor="ctr"/>
          <a:lstStyle/>
          <a:p>
            <a:pPr algn="ctr" indent="0" marL="0">
              <a:buNone/>
            </a:pPr>
            <a:r>
              <a:rPr lang="en-US" sz="1800" b="1" dirty="0">
                <a:solidFill>
                  <a:srgbClr val="22D3EE"/>
                </a:solidFill>
                <a:latin typeface="Calibri" pitchFamily="34" charset="0"/>
                <a:ea typeface="Calibri" pitchFamily="34" charset="-122"/>
                <a:cs typeface="Calibri" pitchFamily="34" charset="-120"/>
              </a:rPr>
              <a:t>Server</a:t>
            </a:r>
            <a:endParaRPr lang="en-US" sz="1800" dirty="0"/>
          </a:p>
        </p:txBody>
      </p:sp>
      <p:sp>
        <p:nvSpPr>
          <p:cNvPr id="12" name="Shape 8"/>
          <p:cNvSpPr/>
          <p:nvPr/>
        </p:nvSpPr>
        <p:spPr>
          <a:xfrm>
            <a:off x="548640" y="3703320"/>
            <a:ext cx="1600200" cy="1554480"/>
          </a:xfrm>
          <a:prstGeom prst="roundRect">
            <a:avLst>
              <a:gd name="adj" fmla="val 7059"/>
            </a:avLst>
          </a:prstGeom>
          <a:solidFill>
            <a:srgbClr val="221E58"/>
          </a:solidFill>
          <a:ln w="12700">
            <a:solidFill>
              <a:srgbClr val="FBBF24"/>
            </a:solidFill>
            <a:prstDash val="solid"/>
          </a:ln>
        </p:spPr>
      </p:sp>
      <p:sp>
        <p:nvSpPr>
          <p:cNvPr id="13" name="Text 9"/>
          <p:cNvSpPr txBox="1"/>
          <p:nvPr/>
        </p:nvSpPr>
        <p:spPr>
          <a:xfrm>
            <a:off x="548640" y="3703320"/>
            <a:ext cx="1600200" cy="1554480"/>
          </a:xfrm>
          <a:prstGeom prst="rect">
            <a:avLst/>
          </a:prstGeom>
          <a:noFill/>
          <a:ln/>
        </p:spPr>
        <p:txBody>
          <a:bodyPr wrap="square" lIns="0" tIns="0" rIns="0" bIns="0" rtlCol="0" anchor="ctr"/>
          <a:lstStyle/>
          <a:p>
            <a:pPr algn="ctr" indent="0" marL="0">
              <a:buNone/>
            </a:pPr>
            <a:r>
              <a:rPr lang="en-US" sz="1800" b="1" dirty="0">
                <a:solidFill>
                  <a:srgbClr val="FBBF24"/>
                </a:solidFill>
                <a:latin typeface="Calibri" pitchFamily="34" charset="0"/>
                <a:ea typeface="Calibri" pitchFamily="34" charset="-122"/>
                <a:cs typeface="Calibri" pitchFamily="34" charset="-120"/>
              </a:rPr>
              <a:t>Browser</a:t>
            </a:r>
            <a:endParaRPr lang="en-US" sz="1800" dirty="0"/>
          </a:p>
        </p:txBody>
      </p:sp>
      <p:sp>
        <p:nvSpPr>
          <p:cNvPr id="14" name="Shape 10"/>
          <p:cNvSpPr/>
          <p:nvPr/>
        </p:nvSpPr>
        <p:spPr>
          <a:xfrm>
            <a:off x="2331720" y="3703320"/>
            <a:ext cx="3017520" cy="1554480"/>
          </a:xfrm>
          <a:prstGeom prst="roundRect">
            <a:avLst>
              <a:gd name="adj" fmla="val 7059"/>
            </a:avLst>
          </a:prstGeom>
          <a:solidFill>
            <a:srgbClr val="0C0A20">
              <a:alpha val="60000"/>
            </a:srgbClr>
          </a:solidFill>
          <a:ln w="12700">
            <a:solidFill>
              <a:srgbClr val="3A3580"/>
            </a:solidFill>
            <a:prstDash val="dash"/>
          </a:ln>
        </p:spPr>
      </p:sp>
      <p:sp>
        <p:nvSpPr>
          <p:cNvPr id="15" name="Shape 11"/>
          <p:cNvSpPr/>
          <p:nvPr/>
        </p:nvSpPr>
        <p:spPr>
          <a:xfrm>
            <a:off x="5532120" y="3703320"/>
            <a:ext cx="3017520" cy="1554480"/>
          </a:xfrm>
          <a:prstGeom prst="roundRect">
            <a:avLst>
              <a:gd name="adj" fmla="val 7059"/>
            </a:avLst>
          </a:prstGeom>
          <a:solidFill>
            <a:srgbClr val="0C0A20">
              <a:alpha val="60000"/>
            </a:srgbClr>
          </a:solidFill>
          <a:ln w="12700">
            <a:solidFill>
              <a:srgbClr val="3A3580"/>
            </a:solidFill>
            <a:prstDash val="dash"/>
          </a:ln>
        </p:spPr>
      </p:sp>
      <p:sp>
        <p:nvSpPr>
          <p:cNvPr id="16" name="A1_cc"/>
          <p:cNvSpPr/>
          <p:nvPr/>
        </p:nvSpPr>
        <p:spPr>
          <a:xfrm>
            <a:off x="2331720" y="1965960"/>
            <a:ext cx="3017520" cy="1554480"/>
          </a:xfrm>
          <a:prstGeom prst="roundRect">
            <a:avLst>
              <a:gd name="adj" fmla="val 7059"/>
            </a:avLst>
          </a:prstGeom>
          <a:solidFill>
            <a:srgbClr val="17143F"/>
          </a:solidFill>
          <a:ln w="19050">
            <a:solidFill>
              <a:srgbClr val="8B7CFF"/>
            </a:solidFill>
            <a:prstDash val="solid"/>
          </a:ln>
        </p:spPr>
      </p:sp>
      <p:sp>
        <p:nvSpPr>
          <p:cNvPr id="17" name="A1_ca"/>
          <p:cNvSpPr txBox="1"/>
          <p:nvPr/>
        </p:nvSpPr>
        <p:spPr>
          <a:xfrm>
            <a:off x="2560320" y="2103120"/>
            <a:ext cx="2560320" cy="502920"/>
          </a:xfrm>
          <a:prstGeom prst="rect">
            <a:avLst/>
          </a:prstGeom>
          <a:noFill/>
          <a:ln/>
        </p:spPr>
        <p:txBody>
          <a:bodyPr wrap="square" lIns="0" tIns="0" rIns="0" bIns="0" rtlCol="0" anchor="t"/>
          <a:lstStyle/>
          <a:p>
            <a:pPr indent="0" marL="0">
              <a:buNone/>
            </a:pPr>
            <a:r>
              <a:rPr lang="en-US" sz="3000" b="1" dirty="0">
                <a:solidFill>
                  <a:srgbClr val="8B7CFF"/>
                </a:solidFill>
                <a:latin typeface="Calibri" pitchFamily="34" charset="0"/>
                <a:ea typeface="Calibri" pitchFamily="34" charset="-122"/>
                <a:cs typeface="Calibri" pitchFamily="34" charset="-120"/>
              </a:rPr>
              <a:t>SSG</a:t>
            </a:r>
            <a:endParaRPr lang="en-US" sz="3000" dirty="0"/>
          </a:p>
        </p:txBody>
      </p:sp>
      <p:sp>
        <p:nvSpPr>
          <p:cNvPr id="18" name="A1_cn"/>
          <p:cNvSpPr txBox="1"/>
          <p:nvPr/>
        </p:nvSpPr>
        <p:spPr>
          <a:xfrm>
            <a:off x="2560320" y="2651760"/>
            <a:ext cx="2606040" cy="274320"/>
          </a:xfrm>
          <a:prstGeom prst="rect">
            <a:avLst/>
          </a:prstGeom>
          <a:noFill/>
          <a:ln/>
        </p:spPr>
        <p:txBody>
          <a:bodyPr wrap="square" lIns="0" tIns="0" rIns="0" bIns="0" rtlCol="0" anchor="t"/>
          <a:lstStyle/>
          <a:p>
            <a:pPr indent="0" marL="0">
              <a:buNone/>
            </a:pPr>
            <a:r>
              <a:rPr lang="en-US" sz="1200" b="1" dirty="0">
                <a:solidFill>
                  <a:srgbClr val="F4F3FF"/>
                </a:solidFill>
                <a:latin typeface="Calibri" pitchFamily="34" charset="0"/>
                <a:ea typeface="Calibri" pitchFamily="34" charset="-122"/>
                <a:cs typeface="Calibri" pitchFamily="34" charset="-120"/>
              </a:rPr>
              <a:t>Static Site Generation</a:t>
            </a:r>
            <a:endParaRPr lang="en-US" sz="1200" dirty="0"/>
          </a:p>
        </p:txBody>
      </p:sp>
      <p:sp>
        <p:nvSpPr>
          <p:cNvPr id="19" name="A1_cd"/>
          <p:cNvSpPr txBox="1"/>
          <p:nvPr/>
        </p:nvSpPr>
        <p:spPr>
          <a:xfrm>
            <a:off x="2560320" y="2953512"/>
            <a:ext cx="2606040" cy="5029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Built once, served instantly. Best for blogs, docs.</a:t>
            </a:r>
            <a:endParaRPr lang="en-US" sz="1200" dirty="0"/>
          </a:p>
        </p:txBody>
      </p:sp>
      <p:sp>
        <p:nvSpPr>
          <p:cNvPr id="20" name="A2_cc"/>
          <p:cNvSpPr/>
          <p:nvPr/>
        </p:nvSpPr>
        <p:spPr>
          <a:xfrm>
            <a:off x="5532120" y="1965960"/>
            <a:ext cx="3017520" cy="1554480"/>
          </a:xfrm>
          <a:prstGeom prst="roundRect">
            <a:avLst>
              <a:gd name="adj" fmla="val 7059"/>
            </a:avLst>
          </a:prstGeom>
          <a:solidFill>
            <a:srgbClr val="17143F"/>
          </a:solidFill>
          <a:ln w="19050">
            <a:solidFill>
              <a:srgbClr val="34D399"/>
            </a:solidFill>
            <a:prstDash val="solid"/>
          </a:ln>
        </p:spPr>
      </p:sp>
      <p:sp>
        <p:nvSpPr>
          <p:cNvPr id="21" name="A2_ca"/>
          <p:cNvSpPr txBox="1"/>
          <p:nvPr/>
        </p:nvSpPr>
        <p:spPr>
          <a:xfrm>
            <a:off x="5760720" y="2103120"/>
            <a:ext cx="2560320" cy="502920"/>
          </a:xfrm>
          <a:prstGeom prst="rect">
            <a:avLst/>
          </a:prstGeom>
          <a:noFill/>
          <a:ln/>
        </p:spPr>
        <p:txBody>
          <a:bodyPr wrap="square" lIns="0" tIns="0" rIns="0" bIns="0" rtlCol="0" anchor="t"/>
          <a:lstStyle/>
          <a:p>
            <a:pPr indent="0" marL="0">
              <a:buNone/>
            </a:pPr>
            <a:r>
              <a:rPr lang="en-US" sz="3000" b="1" dirty="0">
                <a:solidFill>
                  <a:srgbClr val="34D399"/>
                </a:solidFill>
                <a:latin typeface="Calibri" pitchFamily="34" charset="0"/>
                <a:ea typeface="Calibri" pitchFamily="34" charset="-122"/>
                <a:cs typeface="Calibri" pitchFamily="34" charset="-120"/>
              </a:rPr>
              <a:t>ISR</a:t>
            </a:r>
            <a:endParaRPr lang="en-US" sz="3000" dirty="0"/>
          </a:p>
        </p:txBody>
      </p:sp>
      <p:sp>
        <p:nvSpPr>
          <p:cNvPr id="22" name="A2_cn"/>
          <p:cNvSpPr txBox="1"/>
          <p:nvPr/>
        </p:nvSpPr>
        <p:spPr>
          <a:xfrm>
            <a:off x="5760720" y="2651760"/>
            <a:ext cx="2606040" cy="274320"/>
          </a:xfrm>
          <a:prstGeom prst="rect">
            <a:avLst/>
          </a:prstGeom>
          <a:noFill/>
          <a:ln/>
        </p:spPr>
        <p:txBody>
          <a:bodyPr wrap="square" lIns="0" tIns="0" rIns="0" bIns="0" rtlCol="0" anchor="t"/>
          <a:lstStyle/>
          <a:p>
            <a:pPr indent="0" marL="0">
              <a:buNone/>
            </a:pPr>
            <a:r>
              <a:rPr lang="en-US" sz="1200" b="1" dirty="0">
                <a:solidFill>
                  <a:srgbClr val="F4F3FF"/>
                </a:solidFill>
                <a:latin typeface="Calibri" pitchFamily="34" charset="0"/>
                <a:ea typeface="Calibri" pitchFamily="34" charset="-122"/>
                <a:cs typeface="Calibri" pitchFamily="34" charset="-120"/>
              </a:rPr>
              <a:t>Incremental Static Regeneration</a:t>
            </a:r>
            <a:endParaRPr lang="en-US" sz="1200" dirty="0"/>
          </a:p>
        </p:txBody>
      </p:sp>
      <p:sp>
        <p:nvSpPr>
          <p:cNvPr id="23" name="A2_cd"/>
          <p:cNvSpPr txBox="1"/>
          <p:nvPr/>
        </p:nvSpPr>
        <p:spPr>
          <a:xfrm>
            <a:off x="5760720" y="2953512"/>
            <a:ext cx="2606040" cy="5029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Refreshed on a timer. Best for catalogs, news.</a:t>
            </a:r>
            <a:endParaRPr lang="en-US" sz="1200" dirty="0"/>
          </a:p>
        </p:txBody>
      </p:sp>
      <p:sp>
        <p:nvSpPr>
          <p:cNvPr id="24" name="A3_cc"/>
          <p:cNvSpPr/>
          <p:nvPr/>
        </p:nvSpPr>
        <p:spPr>
          <a:xfrm>
            <a:off x="8732520" y="1965960"/>
            <a:ext cx="3017520" cy="1554480"/>
          </a:xfrm>
          <a:prstGeom prst="roundRect">
            <a:avLst>
              <a:gd name="adj" fmla="val 7059"/>
            </a:avLst>
          </a:prstGeom>
          <a:solidFill>
            <a:srgbClr val="17143F"/>
          </a:solidFill>
          <a:ln w="19050">
            <a:solidFill>
              <a:srgbClr val="22D3EE"/>
            </a:solidFill>
            <a:prstDash val="solid"/>
          </a:ln>
        </p:spPr>
      </p:sp>
      <p:sp>
        <p:nvSpPr>
          <p:cNvPr id="25" name="A3_ca"/>
          <p:cNvSpPr txBox="1"/>
          <p:nvPr/>
        </p:nvSpPr>
        <p:spPr>
          <a:xfrm>
            <a:off x="8961120" y="2103120"/>
            <a:ext cx="2560320" cy="502920"/>
          </a:xfrm>
          <a:prstGeom prst="rect">
            <a:avLst/>
          </a:prstGeom>
          <a:noFill/>
          <a:ln/>
        </p:spPr>
        <p:txBody>
          <a:bodyPr wrap="square" lIns="0" tIns="0" rIns="0" bIns="0" rtlCol="0" anchor="t"/>
          <a:lstStyle/>
          <a:p>
            <a:pPr indent="0" marL="0">
              <a:buNone/>
            </a:pPr>
            <a:r>
              <a:rPr lang="en-US" sz="3000" b="1" dirty="0">
                <a:solidFill>
                  <a:srgbClr val="22D3EE"/>
                </a:solidFill>
                <a:latin typeface="Calibri" pitchFamily="34" charset="0"/>
                <a:ea typeface="Calibri" pitchFamily="34" charset="-122"/>
                <a:cs typeface="Calibri" pitchFamily="34" charset="-120"/>
              </a:rPr>
              <a:t>SSR</a:t>
            </a:r>
            <a:endParaRPr lang="en-US" sz="3000" dirty="0"/>
          </a:p>
        </p:txBody>
      </p:sp>
      <p:sp>
        <p:nvSpPr>
          <p:cNvPr id="26" name="A3_cn"/>
          <p:cNvSpPr txBox="1"/>
          <p:nvPr/>
        </p:nvSpPr>
        <p:spPr>
          <a:xfrm>
            <a:off x="8961120" y="2651760"/>
            <a:ext cx="2606040" cy="274320"/>
          </a:xfrm>
          <a:prstGeom prst="rect">
            <a:avLst/>
          </a:prstGeom>
          <a:noFill/>
          <a:ln/>
        </p:spPr>
        <p:txBody>
          <a:bodyPr wrap="square" lIns="0" tIns="0" rIns="0" bIns="0" rtlCol="0" anchor="t"/>
          <a:lstStyle/>
          <a:p>
            <a:pPr indent="0" marL="0">
              <a:buNone/>
            </a:pPr>
            <a:r>
              <a:rPr lang="en-US" sz="1200" b="1" dirty="0">
                <a:solidFill>
                  <a:srgbClr val="F4F3FF"/>
                </a:solidFill>
                <a:latin typeface="Calibri" pitchFamily="34" charset="0"/>
                <a:ea typeface="Calibri" pitchFamily="34" charset="-122"/>
                <a:cs typeface="Calibri" pitchFamily="34" charset="-120"/>
              </a:rPr>
              <a:t>Server-Side Rendering</a:t>
            </a:r>
            <a:endParaRPr lang="en-US" sz="1200" dirty="0"/>
          </a:p>
        </p:txBody>
      </p:sp>
      <p:sp>
        <p:nvSpPr>
          <p:cNvPr id="27" name="A3_cd"/>
          <p:cNvSpPr txBox="1"/>
          <p:nvPr/>
        </p:nvSpPr>
        <p:spPr>
          <a:xfrm>
            <a:off x="8961120" y="2953512"/>
            <a:ext cx="2606040" cy="5029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Fresh per request. Best for feeds, account pages.</a:t>
            </a:r>
            <a:endParaRPr lang="en-US" sz="1200" dirty="0"/>
          </a:p>
        </p:txBody>
      </p:sp>
      <p:sp>
        <p:nvSpPr>
          <p:cNvPr id="28" name="A4_cc"/>
          <p:cNvSpPr/>
          <p:nvPr/>
        </p:nvSpPr>
        <p:spPr>
          <a:xfrm>
            <a:off x="8732520" y="3703320"/>
            <a:ext cx="3017520" cy="1554480"/>
          </a:xfrm>
          <a:prstGeom prst="roundRect">
            <a:avLst>
              <a:gd name="adj" fmla="val 7059"/>
            </a:avLst>
          </a:prstGeom>
          <a:solidFill>
            <a:srgbClr val="17143F"/>
          </a:solidFill>
          <a:ln w="19050">
            <a:solidFill>
              <a:srgbClr val="FBBF24"/>
            </a:solidFill>
            <a:prstDash val="solid"/>
          </a:ln>
        </p:spPr>
      </p:sp>
      <p:sp>
        <p:nvSpPr>
          <p:cNvPr id="29" name="A4_ca"/>
          <p:cNvSpPr txBox="1"/>
          <p:nvPr/>
        </p:nvSpPr>
        <p:spPr>
          <a:xfrm>
            <a:off x="8961120" y="3840480"/>
            <a:ext cx="2560320" cy="502920"/>
          </a:xfrm>
          <a:prstGeom prst="rect">
            <a:avLst/>
          </a:prstGeom>
          <a:noFill/>
          <a:ln/>
        </p:spPr>
        <p:txBody>
          <a:bodyPr wrap="square" lIns="0" tIns="0" rIns="0" bIns="0" rtlCol="0" anchor="t"/>
          <a:lstStyle/>
          <a:p>
            <a:pPr indent="0" marL="0">
              <a:buNone/>
            </a:pPr>
            <a:r>
              <a:rPr lang="en-US" sz="3000" b="1" dirty="0">
                <a:solidFill>
                  <a:srgbClr val="FBBF24"/>
                </a:solidFill>
                <a:latin typeface="Calibri" pitchFamily="34" charset="0"/>
                <a:ea typeface="Calibri" pitchFamily="34" charset="-122"/>
                <a:cs typeface="Calibri" pitchFamily="34" charset="-120"/>
              </a:rPr>
              <a:t>CSR</a:t>
            </a:r>
            <a:endParaRPr lang="en-US" sz="3000" dirty="0"/>
          </a:p>
        </p:txBody>
      </p:sp>
      <p:sp>
        <p:nvSpPr>
          <p:cNvPr id="30" name="A4_cn"/>
          <p:cNvSpPr txBox="1"/>
          <p:nvPr/>
        </p:nvSpPr>
        <p:spPr>
          <a:xfrm>
            <a:off x="8961120" y="4389120"/>
            <a:ext cx="2606040" cy="274320"/>
          </a:xfrm>
          <a:prstGeom prst="rect">
            <a:avLst/>
          </a:prstGeom>
          <a:noFill/>
          <a:ln/>
        </p:spPr>
        <p:txBody>
          <a:bodyPr wrap="square" lIns="0" tIns="0" rIns="0" bIns="0" rtlCol="0" anchor="t"/>
          <a:lstStyle/>
          <a:p>
            <a:pPr indent="0" marL="0">
              <a:buNone/>
            </a:pPr>
            <a:r>
              <a:rPr lang="en-US" sz="1200" b="1" dirty="0">
                <a:solidFill>
                  <a:srgbClr val="F4F3FF"/>
                </a:solidFill>
                <a:latin typeface="Calibri" pitchFamily="34" charset="0"/>
                <a:ea typeface="Calibri" pitchFamily="34" charset="-122"/>
                <a:cs typeface="Calibri" pitchFamily="34" charset="-120"/>
              </a:rPr>
              <a:t>Client-Side Rendering</a:t>
            </a:r>
            <a:endParaRPr lang="en-US" sz="1200" dirty="0"/>
          </a:p>
        </p:txBody>
      </p:sp>
      <p:sp>
        <p:nvSpPr>
          <p:cNvPr id="31" name="A4_cd"/>
          <p:cNvSpPr txBox="1"/>
          <p:nvPr/>
        </p:nvSpPr>
        <p:spPr>
          <a:xfrm>
            <a:off x="8961120" y="4690872"/>
            <a:ext cx="2606040" cy="5029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Built in the browser. Best for dashboards, live widgets.</a:t>
            </a:r>
            <a:endParaRPr lang="en-US" sz="1200" dirty="0"/>
          </a:p>
        </p:txBody>
      </p:sp>
      <p:sp>
        <p:nvSpPr>
          <p:cNvPr id="32" name="Shape 28"/>
          <p:cNvSpPr/>
          <p:nvPr/>
        </p:nvSpPr>
        <p:spPr>
          <a:xfrm>
            <a:off x="548640" y="5486400"/>
            <a:ext cx="11091672" cy="640080"/>
          </a:xfrm>
          <a:prstGeom prst="roundRect">
            <a:avLst>
              <a:gd name="adj" fmla="val 17143"/>
            </a:avLst>
          </a:prstGeom>
          <a:solidFill>
            <a:srgbClr val="221E58"/>
          </a:solidFill>
          <a:ln w="12700">
            <a:solidFill>
              <a:srgbClr val="8B7CFF"/>
            </a:solidFill>
            <a:prstDash val="solid"/>
          </a:ln>
        </p:spPr>
      </p:sp>
      <p:sp>
        <p:nvSpPr>
          <p:cNvPr id="33" name="Text 29"/>
          <p:cNvSpPr txBox="1"/>
          <p:nvPr/>
        </p:nvSpPr>
        <p:spPr>
          <a:xfrm>
            <a:off x="777240" y="5486400"/>
            <a:ext cx="10607040" cy="640080"/>
          </a:xfrm>
          <a:prstGeom prst="rect">
            <a:avLst/>
          </a:prstGeom>
          <a:noFill/>
          <a:ln/>
        </p:spPr>
        <p:txBody>
          <a:bodyPr wrap="square" lIns="0" tIns="0" rIns="0" bIns="0" rtlCol="0" anchor="ctr"/>
          <a:lstStyle/>
          <a:p>
            <a:pPr indent="0" marL="0">
              <a:buNone/>
            </a:pPr>
            <a:r>
              <a:rPr lang="en-US" sz="1600" b="1" dirty="0">
                <a:solidFill>
                  <a:srgbClr val="F4F3FF"/>
                </a:solidFill>
                <a:latin typeface="Calibri" pitchFamily="34" charset="0"/>
                <a:ea typeface="Calibri" pitchFamily="34" charset="-122"/>
                <a:cs typeface="Calibri" pitchFamily="34" charset="-120"/>
              </a:rPr>
              <a:t>Earlier is faster, later is fresher. Ask: how often does the data change? Is it per user?</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50"/>
                                        <p:tgtEl>
                                          <p:spTgt spid="16"/>
                                        </p:tgtEl>
                                      </p:cBhvr>
                                    </p:animEffect>
                                  </p:childTnLst>
                                </p:cTn>
                              </p:par>
                              <p:par>
                                <p:cTn id="6" presetID="10" presetClass="entr" presetSubtype="0" fill="hold"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5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50"/>
                                        <p:tgtEl>
                                          <p:spTgt spid="18"/>
                                        </p:tgtEl>
                                      </p:cBhvr>
                                    </p:animEffect>
                                  </p:childTnLst>
                                </p:cTn>
                              </p:par>
                              <p:par>
                                <p:cTn id="12" presetID="10" presetClass="entr" presetSubtype="0" fill="hold"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50"/>
                                        <p:tgtEl>
                                          <p:spTgt spid="19"/>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50"/>
                                        <p:tgtEl>
                                          <p:spTgt spid="20"/>
                                        </p:tgtEl>
                                      </p:cBhvr>
                                    </p:animEffect>
                                  </p:childTnLst>
                                </p:cTn>
                              </p:par>
                              <p:par>
                                <p:cTn id="20" presetID="10" presetClass="entr" presetSubtype="0" fill="hold"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50"/>
                                        <p:tgtEl>
                                          <p:spTgt spid="21"/>
                                        </p:tgtEl>
                                      </p:cBhvr>
                                    </p:animEffect>
                                  </p:childTnLst>
                                </p:cTn>
                              </p:par>
                              <p:par>
                                <p:cTn id="23" presetID="10"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450"/>
                                        <p:tgtEl>
                                          <p:spTgt spid="22"/>
                                        </p:tgtEl>
                                      </p:cBhvr>
                                    </p:animEffect>
                                  </p:childTnLst>
                                </p:cTn>
                              </p:par>
                              <p:par>
                                <p:cTn id="26" presetID="10" presetClass="entr" presetSubtype="0"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50"/>
                                        <p:tgtEl>
                                          <p:spTgt spid="23"/>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450"/>
                                        <p:tgtEl>
                                          <p:spTgt spid="24"/>
                                        </p:tgtEl>
                                      </p:cBhvr>
                                    </p:animEffect>
                                  </p:childTnLst>
                                </p:cTn>
                              </p:par>
                              <p:par>
                                <p:cTn id="34" presetID="10" presetClass="entr" presetSubtype="0" fill="hold"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450"/>
                                        <p:tgtEl>
                                          <p:spTgt spid="25"/>
                                        </p:tgtEl>
                                      </p:cBhvr>
                                    </p:animEffect>
                                  </p:childTnLst>
                                </p:cTn>
                              </p:par>
                              <p:par>
                                <p:cTn id="37" presetID="10" presetClass="entr" presetSubtype="0" fill="hold"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450"/>
                                        <p:tgtEl>
                                          <p:spTgt spid="26"/>
                                        </p:tgtEl>
                                      </p:cBhvr>
                                    </p:animEffect>
                                  </p:childTnLst>
                                </p:cTn>
                              </p:par>
                              <p:par>
                                <p:cTn id="40" presetID="10" presetClass="entr" presetSubtype="0" fill="hold"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50"/>
                                        <p:tgtEl>
                                          <p:spTgt spid="27"/>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450"/>
                                        <p:tgtEl>
                                          <p:spTgt spid="28"/>
                                        </p:tgtEl>
                                      </p:cBhvr>
                                    </p:animEffect>
                                  </p:childTnLst>
                                </p:cTn>
                              </p:par>
                              <p:par>
                                <p:cTn id="48" presetID="10" presetClass="entr" presetSubtype="0" fill="hold"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450"/>
                                        <p:tgtEl>
                                          <p:spTgt spid="29"/>
                                        </p:tgtEl>
                                      </p:cBhvr>
                                    </p:animEffect>
                                  </p:childTnLst>
                                </p:cTn>
                              </p:par>
                              <p:par>
                                <p:cTn id="51" presetID="10" presetClass="entr" presetSubtype="0"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450"/>
                                        <p:tgtEl>
                                          <p:spTgt spid="30"/>
                                        </p:tgtEl>
                                      </p:cBhvr>
                                    </p:animEffect>
                                  </p:childTnLst>
                                </p:cTn>
                              </p:par>
                              <p:par>
                                <p:cTn id="54" presetID="10" presetClass="entr" presetSubtype="0" fill="hold" nodeType="with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4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DATA FETCHING</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Fetch where the data lives: on the server</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20</a:t>
            </a:r>
            <a:endParaRPr lang="en-US" sz="1100" dirty="0"/>
          </a:p>
        </p:txBody>
      </p:sp>
      <p:sp>
        <p:nvSpPr>
          <p:cNvPr id="7" name="Shape 3"/>
          <p:cNvSpPr/>
          <p:nvPr/>
        </p:nvSpPr>
        <p:spPr>
          <a:xfrm>
            <a:off x="548640" y="1600200"/>
            <a:ext cx="5943600" cy="4526280"/>
          </a:xfrm>
          <a:prstGeom prst="roundRect">
            <a:avLst>
              <a:gd name="adj" fmla="val 2424"/>
            </a:avLst>
          </a:prstGeom>
          <a:solidFill>
            <a:srgbClr val="17143F"/>
          </a:solidFill>
          <a:ln w="12700">
            <a:solidFill>
              <a:srgbClr val="22D3EE"/>
            </a:solidFill>
            <a:prstDash val="solid"/>
          </a:ln>
        </p:spPr>
      </p:sp>
      <p:sp>
        <p:nvSpPr>
          <p:cNvPr id="8" name="Text 4"/>
          <p:cNvSpPr txBox="1"/>
          <p:nvPr/>
        </p:nvSpPr>
        <p:spPr>
          <a:xfrm>
            <a:off x="777240" y="1737360"/>
            <a:ext cx="4572000" cy="365760"/>
          </a:xfrm>
          <a:prstGeom prst="rect">
            <a:avLst/>
          </a:prstGeom>
          <a:noFill/>
          <a:ln/>
        </p:spPr>
        <p:txBody>
          <a:bodyPr wrap="square" lIns="0" tIns="0" rIns="0" bIns="0" rtlCol="0" anchor="t"/>
          <a:lstStyle/>
          <a:p>
            <a:pPr indent="0" marL="0">
              <a:buNone/>
            </a:pPr>
            <a:r>
              <a:rPr lang="en-US" sz="2000" b="1" dirty="0">
                <a:solidFill>
                  <a:srgbClr val="F4F3FF"/>
                </a:solidFill>
                <a:latin typeface="Calibri" pitchFamily="34" charset="0"/>
                <a:ea typeface="Calibri" pitchFamily="34" charset="-122"/>
                <a:cs typeface="Calibri" pitchFamily="34" charset="-120"/>
              </a:rPr>
              <a:t>Server-side fetching</a:t>
            </a:r>
            <a:endParaRPr lang="en-US" sz="2000" dirty="0"/>
          </a:p>
        </p:txBody>
      </p:sp>
      <p:sp>
        <p:nvSpPr>
          <p:cNvPr id="9" name="Text 5"/>
          <p:cNvSpPr txBox="1"/>
          <p:nvPr/>
        </p:nvSpPr>
        <p:spPr>
          <a:xfrm>
            <a:off x="777240" y="2103120"/>
            <a:ext cx="4572000" cy="274320"/>
          </a:xfrm>
          <a:prstGeom prst="rect">
            <a:avLst/>
          </a:prstGeom>
          <a:noFill/>
          <a:ln/>
        </p:spPr>
        <p:txBody>
          <a:bodyPr wrap="square" lIns="0" tIns="0" rIns="0" bIns="0" rtlCol="0" anchor="t"/>
          <a:lstStyle/>
          <a:p>
            <a:pPr indent="0" marL="0">
              <a:buNone/>
            </a:pPr>
            <a:r>
              <a:rPr lang="en-US" sz="1300" b="1" dirty="0">
                <a:solidFill>
                  <a:srgbClr val="22D3EE"/>
                </a:solidFill>
                <a:latin typeface="Calibri" pitchFamily="34" charset="0"/>
                <a:ea typeface="Calibri" pitchFamily="34" charset="-122"/>
                <a:cs typeface="Calibri" pitchFamily="34" charset="-120"/>
              </a:rPr>
              <a:t>the default choice</a:t>
            </a:r>
            <a:endParaRPr lang="en-US" sz="1300" dirty="0"/>
          </a:p>
        </p:txBody>
      </p:sp>
      <p:sp>
        <p:nvSpPr>
          <p:cNvPr id="10" name="Text 6"/>
          <p:cNvSpPr txBox="1"/>
          <p:nvPr/>
        </p:nvSpPr>
        <p:spPr>
          <a:xfrm>
            <a:off x="777240" y="2514600"/>
            <a:ext cx="1508760" cy="594360"/>
          </a:xfrm>
          <a:prstGeom prst="roundRect">
            <a:avLst>
              <a:gd name="adj" fmla="val 15385"/>
            </a:avLst>
          </a:prstGeom>
          <a:solidFill>
            <a:srgbClr val="221E58"/>
          </a:solidFill>
          <a:ln w="12700">
            <a:solidFill>
              <a:srgbClr val="A8A5D8"/>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Database / API</a:t>
            </a:r>
            <a:endParaRPr lang="en-US" sz="1200" dirty="0"/>
          </a:p>
        </p:txBody>
      </p:sp>
      <p:sp>
        <p:nvSpPr>
          <p:cNvPr id="11" name="Shape 7"/>
          <p:cNvSpPr/>
          <p:nvPr/>
        </p:nvSpPr>
        <p:spPr>
          <a:xfrm>
            <a:off x="2313432" y="2811780"/>
            <a:ext cx="356616" cy="0"/>
          </a:xfrm>
          <a:prstGeom prst="line">
            <a:avLst/>
          </a:prstGeom>
          <a:noFill/>
          <a:ln w="25400">
            <a:solidFill>
              <a:srgbClr val="A8A5D8"/>
            </a:solidFill>
            <a:prstDash val="solid"/>
            <a:tailEnd type="triangle"/>
          </a:ln>
        </p:spPr>
      </p:sp>
      <p:sp>
        <p:nvSpPr>
          <p:cNvPr id="12" name="Text 8"/>
          <p:cNvSpPr txBox="1"/>
          <p:nvPr/>
        </p:nvSpPr>
        <p:spPr>
          <a:xfrm>
            <a:off x="2697480" y="2514600"/>
            <a:ext cx="1508760" cy="594360"/>
          </a:xfrm>
          <a:prstGeom prst="roundRect">
            <a:avLst>
              <a:gd name="adj" fmla="val 15385"/>
            </a:avLst>
          </a:prstGeom>
          <a:solidFill>
            <a:srgbClr val="221E58"/>
          </a:solidFill>
          <a:ln w="12700">
            <a:solidFill>
              <a:srgbClr val="22D3EE"/>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Server Component</a:t>
            </a:r>
            <a:endParaRPr lang="en-US" sz="1200" dirty="0"/>
          </a:p>
        </p:txBody>
      </p:sp>
      <p:sp>
        <p:nvSpPr>
          <p:cNvPr id="13" name="Shape 9"/>
          <p:cNvSpPr/>
          <p:nvPr/>
        </p:nvSpPr>
        <p:spPr>
          <a:xfrm>
            <a:off x="4233672" y="2811780"/>
            <a:ext cx="356616" cy="0"/>
          </a:xfrm>
          <a:prstGeom prst="line">
            <a:avLst/>
          </a:prstGeom>
          <a:noFill/>
          <a:ln w="25400">
            <a:solidFill>
              <a:srgbClr val="A8A5D8"/>
            </a:solidFill>
            <a:prstDash val="solid"/>
            <a:tailEnd type="triangle"/>
          </a:ln>
        </p:spPr>
      </p:sp>
      <p:sp>
        <p:nvSpPr>
          <p:cNvPr id="14" name="Text 10"/>
          <p:cNvSpPr txBox="1"/>
          <p:nvPr/>
        </p:nvSpPr>
        <p:spPr>
          <a:xfrm>
            <a:off x="4617720" y="2514600"/>
            <a:ext cx="1508760" cy="594360"/>
          </a:xfrm>
          <a:prstGeom prst="roundRect">
            <a:avLst>
              <a:gd name="adj" fmla="val 15385"/>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HTML to browser</a:t>
            </a:r>
            <a:endParaRPr lang="en-US" sz="1200" dirty="0"/>
          </a:p>
        </p:txBody>
      </p:sp>
      <p:sp>
        <p:nvSpPr>
          <p:cNvPr id="15" name="Text 11"/>
          <p:cNvSpPr txBox="1"/>
          <p:nvPr/>
        </p:nvSpPr>
        <p:spPr>
          <a:xfrm>
            <a:off x="777240" y="3291840"/>
            <a:ext cx="5486400" cy="5486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Close to the data. Secrets stay private. Less JS. HTML arrives with data inside.</a:t>
            </a:r>
            <a:endParaRPr lang="en-US" sz="1300" dirty="0"/>
          </a:p>
        </p:txBody>
      </p:sp>
      <p:sp>
        <p:nvSpPr>
          <p:cNvPr id="16" name="Text 12"/>
          <p:cNvSpPr txBox="1"/>
          <p:nvPr/>
        </p:nvSpPr>
        <p:spPr>
          <a:xfrm>
            <a:off x="777240" y="3977640"/>
            <a:ext cx="5486400" cy="1920240"/>
          </a:xfrm>
          <a:prstGeom prst="roundRect">
            <a:avLst>
              <a:gd name="adj" fmla="val 4762"/>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300" dirty="0">
                <a:solidFill>
                  <a:srgbClr val="C4B5FD"/>
                </a:solidFill>
                <a:latin typeface="Courier New" pitchFamily="34" charset="0"/>
                <a:ea typeface="Courier New" pitchFamily="34" charset="-122"/>
                <a:cs typeface="Courier New" pitchFamily="34" charset="-120"/>
              </a:rPr>
              <a:t>export</a:t>
            </a:r>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C4B5FD"/>
                </a:solidFill>
                <a:latin typeface="Courier New" pitchFamily="34" charset="0"/>
                <a:ea typeface="Courier New" pitchFamily="34" charset="-122"/>
                <a:cs typeface="Courier New" pitchFamily="34" charset="-120"/>
              </a:rPr>
              <a:t>default</a:t>
            </a:r>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C4B5FD"/>
                </a:solidFill>
                <a:latin typeface="Courier New" pitchFamily="34" charset="0"/>
                <a:ea typeface="Courier New" pitchFamily="34" charset="-122"/>
                <a:cs typeface="Courier New" pitchFamily="34" charset="-120"/>
              </a:rPr>
              <a:t>async</a:t>
            </a:r>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C4B5FD"/>
                </a:solidFill>
                <a:latin typeface="Courier New" pitchFamily="34" charset="0"/>
                <a:ea typeface="Courier New" pitchFamily="34" charset="-122"/>
                <a:cs typeface="Courier New" pitchFamily="34" charset="-120"/>
              </a:rPr>
              <a:t>function</a:t>
            </a:r>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E6E4FF"/>
                </a:solidFill>
                <a:latin typeface="Courier New" pitchFamily="34" charset="0"/>
                <a:ea typeface="Courier New" pitchFamily="34" charset="-122"/>
                <a:cs typeface="Courier New" pitchFamily="34" charset="-120"/>
              </a:rPr>
              <a:t>Products</a:t>
            </a:r>
            <a:pPr algn="l" indent="0" marL="0">
              <a:buNone/>
            </a:pPr>
            <a:r>
              <a:rPr lang="en-US" sz="1300" dirty="0">
                <a:solidFill>
                  <a:srgbClr val="D6D3FF"/>
                </a:solidFill>
                <a:latin typeface="Courier New" pitchFamily="34" charset="0"/>
                <a:ea typeface="Courier New" pitchFamily="34" charset="-122"/>
                <a:cs typeface="Courier New" pitchFamily="34" charset="-120"/>
              </a:rPr>
              <a:t>() {</a:t>
            </a:r>
            <a:endParaRPr lang="en-US" sz="1300" dirty="0"/>
          </a:p>
          <a:p>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C4B5FD"/>
                </a:solidFill>
                <a:latin typeface="Courier New" pitchFamily="34" charset="0"/>
                <a:ea typeface="Courier New" pitchFamily="34" charset="-122"/>
                <a:cs typeface="Courier New" pitchFamily="34" charset="-120"/>
              </a:rPr>
              <a:t>const</a:t>
            </a:r>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E6E4FF"/>
                </a:solidFill>
                <a:latin typeface="Courier New" pitchFamily="34" charset="0"/>
                <a:ea typeface="Courier New" pitchFamily="34" charset="-122"/>
                <a:cs typeface="Courier New" pitchFamily="34" charset="-120"/>
              </a:rPr>
              <a:t>res</a:t>
            </a:r>
            <a:pPr algn="l" indent="0" marL="0">
              <a:buNone/>
            </a:pPr>
            <a:r>
              <a:rPr lang="en-US" sz="1300" dirty="0">
                <a:solidFill>
                  <a:srgbClr val="D6D3FF"/>
                </a:solidFill>
                <a:latin typeface="Courier New" pitchFamily="34" charset="0"/>
                <a:ea typeface="Courier New" pitchFamily="34" charset="-122"/>
                <a:cs typeface="Courier New" pitchFamily="34" charset="-120"/>
              </a:rPr>
              <a:t> = </a:t>
            </a:r>
            <a:pPr algn="l" indent="0" marL="0">
              <a:buNone/>
            </a:pPr>
            <a:r>
              <a:rPr lang="en-US" sz="1300" dirty="0">
                <a:solidFill>
                  <a:srgbClr val="C4B5FD"/>
                </a:solidFill>
                <a:latin typeface="Courier New" pitchFamily="34" charset="0"/>
                <a:ea typeface="Courier New" pitchFamily="34" charset="-122"/>
                <a:cs typeface="Courier New" pitchFamily="34" charset="-120"/>
              </a:rPr>
              <a:t>await</a:t>
            </a:r>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E6E4FF"/>
                </a:solidFill>
                <a:latin typeface="Courier New" pitchFamily="34" charset="0"/>
                <a:ea typeface="Courier New" pitchFamily="34" charset="-122"/>
                <a:cs typeface="Courier New" pitchFamily="34" charset="-120"/>
              </a:rPr>
              <a:t>fetch</a:t>
            </a:r>
            <a:pPr algn="l" indent="0" marL="0">
              <a:buNone/>
            </a:pPr>
            <a:r>
              <a:rPr lang="en-US" sz="1300" dirty="0">
                <a:solidFill>
                  <a:srgbClr val="D6D3FF"/>
                </a:solidFill>
                <a:latin typeface="Courier New" pitchFamily="34" charset="0"/>
                <a:ea typeface="Courier New" pitchFamily="34" charset="-122"/>
                <a:cs typeface="Courier New" pitchFamily="34" charset="-120"/>
              </a:rPr>
              <a:t>(</a:t>
            </a:r>
            <a:pPr algn="l" indent="0" marL="0">
              <a:buNone/>
            </a:pPr>
            <a:r>
              <a:rPr lang="en-US" sz="1300" dirty="0">
                <a:solidFill>
                  <a:srgbClr val="E6E4FF"/>
                </a:solidFill>
                <a:latin typeface="Courier New" pitchFamily="34" charset="0"/>
                <a:ea typeface="Courier New" pitchFamily="34" charset="-122"/>
                <a:cs typeface="Courier New" pitchFamily="34" charset="-120"/>
              </a:rPr>
              <a:t>API_URL</a:t>
            </a:r>
            <a:pPr algn="l" indent="0" marL="0">
              <a:buNone/>
            </a:pPr>
            <a:r>
              <a:rPr lang="en-US" sz="1300" dirty="0">
                <a:solidFill>
                  <a:srgbClr val="D6D3FF"/>
                </a:solidFill>
                <a:latin typeface="Courier New" pitchFamily="34" charset="0"/>
                <a:ea typeface="Courier New" pitchFamily="34" charset="-122"/>
                <a:cs typeface="Courier New" pitchFamily="34" charset="-120"/>
              </a:rPr>
              <a:t>);</a:t>
            </a:r>
            <a:endParaRPr lang="en-US" sz="1300" dirty="0"/>
          </a:p>
          <a:p>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C4B5FD"/>
                </a:solidFill>
                <a:latin typeface="Courier New" pitchFamily="34" charset="0"/>
                <a:ea typeface="Courier New" pitchFamily="34" charset="-122"/>
                <a:cs typeface="Courier New" pitchFamily="34" charset="-120"/>
              </a:rPr>
              <a:t>const</a:t>
            </a:r>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E6E4FF"/>
                </a:solidFill>
                <a:latin typeface="Courier New" pitchFamily="34" charset="0"/>
                <a:ea typeface="Courier New" pitchFamily="34" charset="-122"/>
                <a:cs typeface="Courier New" pitchFamily="34" charset="-120"/>
              </a:rPr>
              <a:t>products</a:t>
            </a:r>
            <a:pPr algn="l" indent="0" marL="0">
              <a:buNone/>
            </a:pPr>
            <a:r>
              <a:rPr lang="en-US" sz="1300" dirty="0">
                <a:solidFill>
                  <a:srgbClr val="D6D3FF"/>
                </a:solidFill>
                <a:latin typeface="Courier New" pitchFamily="34" charset="0"/>
                <a:ea typeface="Courier New" pitchFamily="34" charset="-122"/>
                <a:cs typeface="Courier New" pitchFamily="34" charset="-120"/>
              </a:rPr>
              <a:t> = </a:t>
            </a:r>
            <a:pPr algn="l" indent="0" marL="0">
              <a:buNone/>
            </a:pPr>
            <a:r>
              <a:rPr lang="en-US" sz="1300" dirty="0">
                <a:solidFill>
                  <a:srgbClr val="C4B5FD"/>
                </a:solidFill>
                <a:latin typeface="Courier New" pitchFamily="34" charset="0"/>
                <a:ea typeface="Courier New" pitchFamily="34" charset="-122"/>
                <a:cs typeface="Courier New" pitchFamily="34" charset="-120"/>
              </a:rPr>
              <a:t>await</a:t>
            </a:r>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E6E4FF"/>
                </a:solidFill>
                <a:latin typeface="Courier New" pitchFamily="34" charset="0"/>
                <a:ea typeface="Courier New" pitchFamily="34" charset="-122"/>
                <a:cs typeface="Courier New" pitchFamily="34" charset="-120"/>
              </a:rPr>
              <a:t>res</a:t>
            </a:r>
            <a:pPr algn="l" indent="0" marL="0">
              <a:buNone/>
            </a:pPr>
            <a:r>
              <a:rPr lang="en-US" sz="1300" dirty="0">
                <a:solidFill>
                  <a:srgbClr val="D6D3FF"/>
                </a:solidFill>
                <a:latin typeface="Courier New" pitchFamily="34" charset="0"/>
                <a:ea typeface="Courier New" pitchFamily="34" charset="-122"/>
                <a:cs typeface="Courier New" pitchFamily="34" charset="-120"/>
              </a:rPr>
              <a:t>.</a:t>
            </a:r>
            <a:pPr algn="l" indent="0" marL="0">
              <a:buNone/>
            </a:pPr>
            <a:r>
              <a:rPr lang="en-US" sz="1300" dirty="0">
                <a:solidFill>
                  <a:srgbClr val="E6E4FF"/>
                </a:solidFill>
                <a:latin typeface="Courier New" pitchFamily="34" charset="0"/>
                <a:ea typeface="Courier New" pitchFamily="34" charset="-122"/>
                <a:cs typeface="Courier New" pitchFamily="34" charset="-120"/>
              </a:rPr>
              <a:t>json</a:t>
            </a:r>
            <a:pPr algn="l" indent="0" marL="0">
              <a:buNone/>
            </a:pPr>
            <a:r>
              <a:rPr lang="en-US" sz="1300" dirty="0">
                <a:solidFill>
                  <a:srgbClr val="D6D3FF"/>
                </a:solidFill>
                <a:latin typeface="Courier New" pitchFamily="34" charset="0"/>
                <a:ea typeface="Courier New" pitchFamily="34" charset="-122"/>
                <a:cs typeface="Courier New" pitchFamily="34" charset="-120"/>
              </a:rPr>
              <a:t>();</a:t>
            </a:r>
            <a:endParaRPr lang="en-US" sz="1300" dirty="0"/>
          </a:p>
          <a:p>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C4B5FD"/>
                </a:solidFill>
                <a:latin typeface="Courier New" pitchFamily="34" charset="0"/>
                <a:ea typeface="Courier New" pitchFamily="34" charset="-122"/>
                <a:cs typeface="Courier New" pitchFamily="34" charset="-120"/>
              </a:rPr>
              <a:t>return</a:t>
            </a:r>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22D3EE"/>
                </a:solidFill>
                <a:latin typeface="Courier New" pitchFamily="34" charset="0"/>
                <a:ea typeface="Courier New" pitchFamily="34" charset="-122"/>
                <a:cs typeface="Courier New" pitchFamily="34" charset="-120"/>
              </a:rPr>
              <a:t>&lt;ProductList</a:t>
            </a:r>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E6E4FF"/>
                </a:solidFill>
                <a:latin typeface="Courier New" pitchFamily="34" charset="0"/>
                <a:ea typeface="Courier New" pitchFamily="34" charset="-122"/>
                <a:cs typeface="Courier New" pitchFamily="34" charset="-120"/>
              </a:rPr>
              <a:t>items</a:t>
            </a:r>
            <a:pPr algn="l" indent="0" marL="0">
              <a:buNone/>
            </a:pPr>
            <a:r>
              <a:rPr lang="en-US" sz="1300" dirty="0">
                <a:solidFill>
                  <a:srgbClr val="D6D3FF"/>
                </a:solidFill>
                <a:latin typeface="Courier New" pitchFamily="34" charset="0"/>
                <a:ea typeface="Courier New" pitchFamily="34" charset="-122"/>
                <a:cs typeface="Courier New" pitchFamily="34" charset="-120"/>
              </a:rPr>
              <a:t>={</a:t>
            </a:r>
            <a:pPr algn="l" indent="0" marL="0">
              <a:buNone/>
            </a:pPr>
            <a:r>
              <a:rPr lang="en-US" sz="1300" dirty="0">
                <a:solidFill>
                  <a:srgbClr val="E6E4FF"/>
                </a:solidFill>
                <a:latin typeface="Courier New" pitchFamily="34" charset="0"/>
                <a:ea typeface="Courier New" pitchFamily="34" charset="-122"/>
                <a:cs typeface="Courier New" pitchFamily="34" charset="-120"/>
              </a:rPr>
              <a:t>products</a:t>
            </a:r>
            <a:pPr algn="l" indent="0" marL="0">
              <a:buNone/>
            </a:pPr>
            <a:r>
              <a:rPr lang="en-US" sz="1300" dirty="0">
                <a:solidFill>
                  <a:srgbClr val="D6D3FF"/>
                </a:solidFill>
                <a:latin typeface="Courier New" pitchFamily="34" charset="0"/>
                <a:ea typeface="Courier New" pitchFamily="34" charset="-122"/>
                <a:cs typeface="Courier New" pitchFamily="34" charset="-120"/>
              </a:rPr>
              <a:t>} /&gt;;</a:t>
            </a:r>
            <a:endParaRPr lang="en-US" sz="1300" dirty="0"/>
          </a:p>
          <a:p>
            <a:pPr algn="l" indent="0" marL="0">
              <a:buNone/>
            </a:pPr>
            <a:r>
              <a:rPr lang="en-US" sz="1300" dirty="0">
                <a:solidFill>
                  <a:srgbClr val="D6D3FF"/>
                </a:solidFill>
                <a:latin typeface="Courier New" pitchFamily="34" charset="0"/>
                <a:ea typeface="Courier New" pitchFamily="34" charset="-122"/>
                <a:cs typeface="Courier New" pitchFamily="34" charset="-120"/>
              </a:rPr>
              <a:t>}</a:t>
            </a:r>
            <a:endParaRPr lang="en-US" sz="1300" dirty="0"/>
          </a:p>
        </p:txBody>
      </p:sp>
      <p:sp>
        <p:nvSpPr>
          <p:cNvPr id="17" name="Shape 13"/>
          <p:cNvSpPr/>
          <p:nvPr/>
        </p:nvSpPr>
        <p:spPr>
          <a:xfrm>
            <a:off x="6702552" y="1600200"/>
            <a:ext cx="4937760" cy="4526280"/>
          </a:xfrm>
          <a:prstGeom prst="roundRect">
            <a:avLst>
              <a:gd name="adj" fmla="val 2424"/>
            </a:avLst>
          </a:prstGeom>
          <a:solidFill>
            <a:srgbClr val="17143F"/>
          </a:solidFill>
          <a:ln w="12700">
            <a:solidFill>
              <a:srgbClr val="FBBF24"/>
            </a:solidFill>
            <a:prstDash val="solid"/>
          </a:ln>
        </p:spPr>
      </p:sp>
      <p:sp>
        <p:nvSpPr>
          <p:cNvPr id="18" name="Text 14"/>
          <p:cNvSpPr txBox="1"/>
          <p:nvPr/>
        </p:nvSpPr>
        <p:spPr>
          <a:xfrm>
            <a:off x="6931152" y="1737360"/>
            <a:ext cx="4572000" cy="365760"/>
          </a:xfrm>
          <a:prstGeom prst="rect">
            <a:avLst/>
          </a:prstGeom>
          <a:noFill/>
          <a:ln/>
        </p:spPr>
        <p:txBody>
          <a:bodyPr wrap="square" lIns="0" tIns="0" rIns="0" bIns="0" rtlCol="0" anchor="t"/>
          <a:lstStyle/>
          <a:p>
            <a:pPr indent="0" marL="0">
              <a:buNone/>
            </a:pPr>
            <a:r>
              <a:rPr lang="en-US" sz="2000" b="1" dirty="0">
                <a:solidFill>
                  <a:srgbClr val="F4F3FF"/>
                </a:solidFill>
                <a:latin typeface="Calibri" pitchFamily="34" charset="0"/>
                <a:ea typeface="Calibri" pitchFamily="34" charset="-122"/>
                <a:cs typeface="Calibri" pitchFamily="34" charset="-120"/>
              </a:rPr>
              <a:t>Client-side fetching</a:t>
            </a:r>
            <a:endParaRPr lang="en-US" sz="2000" dirty="0"/>
          </a:p>
        </p:txBody>
      </p:sp>
      <p:sp>
        <p:nvSpPr>
          <p:cNvPr id="19" name="Text 15"/>
          <p:cNvSpPr txBox="1"/>
          <p:nvPr/>
        </p:nvSpPr>
        <p:spPr>
          <a:xfrm>
            <a:off x="6931152" y="2103120"/>
            <a:ext cx="4572000" cy="274320"/>
          </a:xfrm>
          <a:prstGeom prst="rect">
            <a:avLst/>
          </a:prstGeom>
          <a:noFill/>
          <a:ln/>
        </p:spPr>
        <p:txBody>
          <a:bodyPr wrap="square" lIns="0" tIns="0" rIns="0" bIns="0" rtlCol="0" anchor="t"/>
          <a:lstStyle/>
          <a:p>
            <a:pPr indent="0" marL="0">
              <a:buNone/>
            </a:pPr>
            <a:r>
              <a:rPr lang="en-US" sz="1300" b="1" dirty="0">
                <a:solidFill>
                  <a:srgbClr val="FBBF24"/>
                </a:solidFill>
                <a:latin typeface="Calibri" pitchFamily="34" charset="0"/>
                <a:ea typeface="Calibri" pitchFamily="34" charset="-122"/>
                <a:cs typeface="Calibri" pitchFamily="34" charset="-120"/>
              </a:rPr>
              <a:t>when it makes sense</a:t>
            </a:r>
            <a:endParaRPr lang="en-US" sz="1300" dirty="0"/>
          </a:p>
        </p:txBody>
      </p:sp>
      <p:sp>
        <p:nvSpPr>
          <p:cNvPr id="20" name="Text 16"/>
          <p:cNvSpPr txBox="1"/>
          <p:nvPr/>
        </p:nvSpPr>
        <p:spPr>
          <a:xfrm>
            <a:off x="6931152" y="2514600"/>
            <a:ext cx="1188720" cy="594360"/>
          </a:xfrm>
          <a:prstGeom prst="roundRect">
            <a:avLst>
              <a:gd name="adj" fmla="val 15385"/>
            </a:avLst>
          </a:prstGeom>
          <a:solidFill>
            <a:srgbClr val="221E58"/>
          </a:solidFill>
          <a:ln w="12700">
            <a:solidFill>
              <a:srgbClr val="FBBF24"/>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Browser</a:t>
            </a:r>
            <a:endParaRPr lang="en-US" sz="1200" dirty="0"/>
          </a:p>
        </p:txBody>
      </p:sp>
      <p:sp>
        <p:nvSpPr>
          <p:cNvPr id="21" name="Shape 17"/>
          <p:cNvSpPr/>
          <p:nvPr/>
        </p:nvSpPr>
        <p:spPr>
          <a:xfrm>
            <a:off x="8138160" y="2811780"/>
            <a:ext cx="237744" cy="0"/>
          </a:xfrm>
          <a:prstGeom prst="line">
            <a:avLst/>
          </a:prstGeom>
          <a:noFill/>
          <a:ln w="25400">
            <a:solidFill>
              <a:srgbClr val="A8A5D8"/>
            </a:solidFill>
            <a:prstDash val="solid"/>
            <a:tailEnd type="triangle"/>
          </a:ln>
        </p:spPr>
      </p:sp>
      <p:sp>
        <p:nvSpPr>
          <p:cNvPr id="22" name="Text 18"/>
          <p:cNvSpPr txBox="1"/>
          <p:nvPr/>
        </p:nvSpPr>
        <p:spPr>
          <a:xfrm>
            <a:off x="8394192" y="2514600"/>
            <a:ext cx="1188720" cy="594360"/>
          </a:xfrm>
          <a:prstGeom prst="roundRect">
            <a:avLst>
              <a:gd name="adj" fmla="val 15385"/>
            </a:avLst>
          </a:prstGeom>
          <a:solidFill>
            <a:srgbClr val="221E58"/>
          </a:solidFill>
          <a:ln w="12700">
            <a:solidFill>
              <a:srgbClr val="A8A5D8"/>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API request</a:t>
            </a:r>
            <a:endParaRPr lang="en-US" sz="1200" dirty="0"/>
          </a:p>
        </p:txBody>
      </p:sp>
      <p:sp>
        <p:nvSpPr>
          <p:cNvPr id="23" name="Shape 19"/>
          <p:cNvSpPr/>
          <p:nvPr/>
        </p:nvSpPr>
        <p:spPr>
          <a:xfrm>
            <a:off x="9601200" y="2811780"/>
            <a:ext cx="237744" cy="0"/>
          </a:xfrm>
          <a:prstGeom prst="line">
            <a:avLst/>
          </a:prstGeom>
          <a:noFill/>
          <a:ln w="25400">
            <a:solidFill>
              <a:srgbClr val="A8A5D8"/>
            </a:solidFill>
            <a:prstDash val="solid"/>
            <a:tailEnd type="triangle"/>
          </a:ln>
        </p:spPr>
      </p:sp>
      <p:sp>
        <p:nvSpPr>
          <p:cNvPr id="24" name="Text 20"/>
          <p:cNvSpPr txBox="1"/>
          <p:nvPr/>
        </p:nvSpPr>
        <p:spPr>
          <a:xfrm>
            <a:off x="9857232" y="2514600"/>
            <a:ext cx="1188720" cy="594360"/>
          </a:xfrm>
          <a:prstGeom prst="roundRect">
            <a:avLst>
              <a:gd name="adj" fmla="val 15385"/>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Update UI</a:t>
            </a:r>
            <a:endParaRPr lang="en-US" sz="1200" dirty="0"/>
          </a:p>
        </p:txBody>
      </p:sp>
      <p:pic>
        <p:nvPicPr>
          <p:cNvPr id="25" name="Image 1" descr="preencoded.png">    </p:cNvPr>
          <p:cNvPicPr>
            <a:picLocks noChangeAspect="1"/>
          </p:cNvPicPr>
          <p:nvPr/>
        </p:nvPicPr>
        <p:blipFill>
          <a:blip r:embed="rId3"/>
          <a:stretch>
            <a:fillRect/>
          </a:stretch>
        </p:blipFill>
        <p:spPr>
          <a:xfrm>
            <a:off x="6931152" y="3346704"/>
            <a:ext cx="182880" cy="182880"/>
          </a:xfrm>
          <a:prstGeom prst="rect">
            <a:avLst/>
          </a:prstGeom>
        </p:spPr>
      </p:pic>
      <p:sp>
        <p:nvSpPr>
          <p:cNvPr id="26" name="Text 21"/>
          <p:cNvSpPr txBox="1"/>
          <p:nvPr/>
        </p:nvSpPr>
        <p:spPr>
          <a:xfrm>
            <a:off x="7223760" y="3291840"/>
            <a:ext cx="4206240" cy="27432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The user types, clicks or scrolls</a:t>
            </a:r>
            <a:endParaRPr lang="en-US" sz="1300" dirty="0"/>
          </a:p>
        </p:txBody>
      </p:sp>
      <p:pic>
        <p:nvPicPr>
          <p:cNvPr id="27" name="Image 2" descr="preencoded.png">    </p:cNvPr>
          <p:cNvPicPr>
            <a:picLocks noChangeAspect="1"/>
          </p:cNvPicPr>
          <p:nvPr/>
        </p:nvPicPr>
        <p:blipFill>
          <a:blip r:embed="rId4"/>
          <a:stretch>
            <a:fillRect/>
          </a:stretch>
        </p:blipFill>
        <p:spPr>
          <a:xfrm>
            <a:off x="6931152" y="3675888"/>
            <a:ext cx="182880" cy="182880"/>
          </a:xfrm>
          <a:prstGeom prst="rect">
            <a:avLst/>
          </a:prstGeom>
        </p:spPr>
      </p:pic>
      <p:sp>
        <p:nvSpPr>
          <p:cNvPr id="28" name="Text 22"/>
          <p:cNvSpPr txBox="1"/>
          <p:nvPr/>
        </p:nvSpPr>
        <p:spPr>
          <a:xfrm>
            <a:off x="7223760" y="3621024"/>
            <a:ext cx="4206240" cy="27432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Data must update live</a:t>
            </a:r>
            <a:endParaRPr lang="en-US" sz="1300" dirty="0"/>
          </a:p>
        </p:txBody>
      </p:sp>
      <p:pic>
        <p:nvPicPr>
          <p:cNvPr id="29" name="Image 3" descr="preencoded.png">    </p:cNvPr>
          <p:cNvPicPr>
            <a:picLocks noChangeAspect="1"/>
          </p:cNvPicPr>
          <p:nvPr/>
        </p:nvPicPr>
        <p:blipFill>
          <a:blip r:embed="rId5"/>
          <a:stretch>
            <a:fillRect/>
          </a:stretch>
        </p:blipFill>
        <p:spPr>
          <a:xfrm>
            <a:off x="6931152" y="4005072"/>
            <a:ext cx="182880" cy="182880"/>
          </a:xfrm>
          <a:prstGeom prst="rect">
            <a:avLst/>
          </a:prstGeom>
        </p:spPr>
      </p:pic>
      <p:sp>
        <p:nvSpPr>
          <p:cNvPr id="30" name="Text 23"/>
          <p:cNvSpPr txBox="1"/>
          <p:nvPr/>
        </p:nvSpPr>
        <p:spPr>
          <a:xfrm>
            <a:off x="7223760" y="3950208"/>
            <a:ext cx="4206240" cy="27432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It depends on browser-only state</a:t>
            </a:r>
            <a:endParaRPr lang="en-US" sz="1300" dirty="0"/>
          </a:p>
        </p:txBody>
      </p:sp>
      <p:sp>
        <p:nvSpPr>
          <p:cNvPr id="31" name="Text 24"/>
          <p:cNvSpPr txBox="1"/>
          <p:nvPr/>
        </p:nvSpPr>
        <p:spPr>
          <a:xfrm>
            <a:off x="6931152" y="4434840"/>
            <a:ext cx="4526280" cy="1463040"/>
          </a:xfrm>
          <a:prstGeom prst="roundRect">
            <a:avLst>
              <a:gd name="adj" fmla="val 6250"/>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100" dirty="0">
                <a:solidFill>
                  <a:srgbClr val="86EFAC"/>
                </a:solidFill>
                <a:latin typeface="Courier New" pitchFamily="34" charset="0"/>
                <a:ea typeface="Courier New" pitchFamily="34" charset="-122"/>
                <a:cs typeface="Courier New" pitchFamily="34" charset="-120"/>
              </a:rPr>
              <a:t>"use client"</a:t>
            </a:r>
            <a:pPr algn="l" indent="0" marL="0">
              <a:buNone/>
            </a:pPr>
            <a:r>
              <a:rPr lang="en-US" sz="1100" dirty="0">
                <a:solidFill>
                  <a:srgbClr val="D6D3FF"/>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rgbClr val="E6E4FF"/>
                </a:solidFill>
                <a:latin typeface="Courier New" pitchFamily="34" charset="0"/>
                <a:ea typeface="Courier New" pitchFamily="34" charset="-122"/>
                <a:cs typeface="Courier New" pitchFamily="34" charset="-120"/>
              </a:rPr>
              <a:t>useEffect</a:t>
            </a:r>
            <a:pPr algn="l" indent="0" marL="0">
              <a:buNone/>
            </a:pPr>
            <a:r>
              <a:rPr lang="en-US" sz="1100" dirty="0">
                <a:solidFill>
                  <a:srgbClr val="D6D3FF"/>
                </a:solidFill>
                <a:latin typeface="Courier New" pitchFamily="34" charset="0"/>
                <a:ea typeface="Courier New" pitchFamily="34" charset="-122"/>
                <a:cs typeface="Courier New" pitchFamily="34" charset="-120"/>
              </a:rPr>
              <a:t>(() =&gt; {</a:t>
            </a:r>
            <a:endParaRPr lang="en-US" sz="1100" dirty="0"/>
          </a:p>
          <a:p>
            <a:pPr algn="l" indent="0" marL="0">
              <a:buNone/>
            </a:pPr>
            <a:r>
              <a:rPr lang="en-US" sz="1100" dirty="0">
                <a:solidFill>
                  <a:srgbClr val="D6D3FF"/>
                </a:solidFill>
                <a:latin typeface="Courier New" pitchFamily="34" charset="0"/>
                <a:ea typeface="Courier New" pitchFamily="34" charset="-122"/>
                <a:cs typeface="Courier New" pitchFamily="34" charset="-120"/>
              </a:rPr>
              <a:t>  </a:t>
            </a:r>
            <a:pPr algn="l" indent="0" marL="0">
              <a:buNone/>
            </a:pPr>
            <a:r>
              <a:rPr lang="en-US" sz="1100" dirty="0">
                <a:solidFill>
                  <a:srgbClr val="E6E4FF"/>
                </a:solidFill>
                <a:latin typeface="Courier New" pitchFamily="34" charset="0"/>
                <a:ea typeface="Courier New" pitchFamily="34" charset="-122"/>
                <a:cs typeface="Courier New" pitchFamily="34" charset="-120"/>
              </a:rPr>
              <a:t>fetch</a:t>
            </a:r>
            <a:pPr algn="l" indent="0" marL="0">
              <a:buNone/>
            </a:pPr>
            <a:r>
              <a:rPr lang="en-US" sz="1100" dirty="0">
                <a:solidFill>
                  <a:srgbClr val="D6D3FF"/>
                </a:solidFill>
                <a:latin typeface="Courier New" pitchFamily="34" charset="0"/>
                <a:ea typeface="Courier New" pitchFamily="34" charset="-122"/>
                <a:cs typeface="Courier New" pitchFamily="34" charset="-120"/>
              </a:rPr>
              <a:t>(</a:t>
            </a:r>
            <a:pPr algn="l" indent="0" marL="0">
              <a:buNone/>
            </a:pPr>
            <a:r>
              <a:rPr lang="en-US" sz="1100" dirty="0">
                <a:solidFill>
                  <a:srgbClr val="86EFAC"/>
                </a:solidFill>
                <a:latin typeface="Courier New" pitchFamily="34" charset="0"/>
                <a:ea typeface="Courier New" pitchFamily="34" charset="-122"/>
                <a:cs typeface="Courier New" pitchFamily="34" charset="-120"/>
              </a:rPr>
              <a:t>`/api/search?q=${q}`</a:t>
            </a:r>
            <a:pPr algn="l" indent="0" marL="0">
              <a:buNone/>
            </a:pPr>
            <a:r>
              <a:rPr lang="en-US" sz="1100" dirty="0">
                <a:solidFill>
                  <a:srgbClr val="D6D3FF"/>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rgbClr val="D6D3FF"/>
                </a:solidFill>
                <a:latin typeface="Courier New" pitchFamily="34" charset="0"/>
                <a:ea typeface="Courier New" pitchFamily="34" charset="-122"/>
                <a:cs typeface="Courier New" pitchFamily="34" charset="-120"/>
              </a:rPr>
              <a:t>    .</a:t>
            </a:r>
            <a:pPr algn="l" indent="0" marL="0">
              <a:buNone/>
            </a:pPr>
            <a:r>
              <a:rPr lang="en-US" sz="1100" dirty="0">
                <a:solidFill>
                  <a:srgbClr val="E6E4FF"/>
                </a:solidFill>
                <a:latin typeface="Courier New" pitchFamily="34" charset="0"/>
                <a:ea typeface="Courier New" pitchFamily="34" charset="-122"/>
                <a:cs typeface="Courier New" pitchFamily="34" charset="-120"/>
              </a:rPr>
              <a:t>then</a:t>
            </a:r>
            <a:pPr algn="l" indent="0" marL="0">
              <a:buNone/>
            </a:pPr>
            <a:r>
              <a:rPr lang="en-US" sz="1100" dirty="0">
                <a:solidFill>
                  <a:srgbClr val="D6D3FF"/>
                </a:solidFill>
                <a:latin typeface="Courier New" pitchFamily="34" charset="0"/>
                <a:ea typeface="Courier New" pitchFamily="34" charset="-122"/>
                <a:cs typeface="Courier New" pitchFamily="34" charset="-120"/>
              </a:rPr>
              <a:t>((</a:t>
            </a:r>
            <a:pPr algn="l" indent="0" marL="0">
              <a:buNone/>
            </a:pPr>
            <a:r>
              <a:rPr lang="en-US" sz="1100" dirty="0">
                <a:solidFill>
                  <a:srgbClr val="E6E4FF"/>
                </a:solidFill>
                <a:latin typeface="Courier New" pitchFamily="34" charset="0"/>
                <a:ea typeface="Courier New" pitchFamily="34" charset="-122"/>
                <a:cs typeface="Courier New" pitchFamily="34" charset="-120"/>
              </a:rPr>
              <a:t>r</a:t>
            </a:r>
            <a:pPr algn="l" indent="0" marL="0">
              <a:buNone/>
            </a:pPr>
            <a:r>
              <a:rPr lang="en-US" sz="1100" dirty="0">
                <a:solidFill>
                  <a:srgbClr val="D6D3FF"/>
                </a:solidFill>
                <a:latin typeface="Courier New" pitchFamily="34" charset="0"/>
                <a:ea typeface="Courier New" pitchFamily="34" charset="-122"/>
                <a:cs typeface="Courier New" pitchFamily="34" charset="-120"/>
              </a:rPr>
              <a:t>) =&gt; </a:t>
            </a:r>
            <a:pPr algn="l" indent="0" marL="0">
              <a:buNone/>
            </a:pPr>
            <a:r>
              <a:rPr lang="en-US" sz="1100" dirty="0">
                <a:solidFill>
                  <a:srgbClr val="E6E4FF"/>
                </a:solidFill>
                <a:latin typeface="Courier New" pitchFamily="34" charset="0"/>
                <a:ea typeface="Courier New" pitchFamily="34" charset="-122"/>
                <a:cs typeface="Courier New" pitchFamily="34" charset="-120"/>
              </a:rPr>
              <a:t>r</a:t>
            </a:r>
            <a:pPr algn="l" indent="0" marL="0">
              <a:buNone/>
            </a:pPr>
            <a:r>
              <a:rPr lang="en-US" sz="1100" dirty="0">
                <a:solidFill>
                  <a:srgbClr val="D6D3FF"/>
                </a:solidFill>
                <a:latin typeface="Courier New" pitchFamily="34" charset="0"/>
                <a:ea typeface="Courier New" pitchFamily="34" charset="-122"/>
                <a:cs typeface="Courier New" pitchFamily="34" charset="-120"/>
              </a:rPr>
              <a:t>.</a:t>
            </a:r>
            <a:pPr algn="l" indent="0" marL="0">
              <a:buNone/>
            </a:pPr>
            <a:r>
              <a:rPr lang="en-US" sz="1100" dirty="0">
                <a:solidFill>
                  <a:srgbClr val="E6E4FF"/>
                </a:solidFill>
                <a:latin typeface="Courier New" pitchFamily="34" charset="0"/>
                <a:ea typeface="Courier New" pitchFamily="34" charset="-122"/>
                <a:cs typeface="Courier New" pitchFamily="34" charset="-120"/>
              </a:rPr>
              <a:t>json</a:t>
            </a:r>
            <a:pPr algn="l" indent="0" marL="0">
              <a:buNone/>
            </a:pPr>
            <a:r>
              <a:rPr lang="en-US" sz="1100" dirty="0">
                <a:solidFill>
                  <a:srgbClr val="D6D3FF"/>
                </a:solidFill>
                <a:latin typeface="Courier New" pitchFamily="34" charset="0"/>
                <a:ea typeface="Courier New" pitchFamily="34" charset="-122"/>
                <a:cs typeface="Courier New" pitchFamily="34" charset="-120"/>
              </a:rPr>
              <a:t>()).</a:t>
            </a:r>
            <a:pPr algn="l" indent="0" marL="0">
              <a:buNone/>
            </a:pPr>
            <a:r>
              <a:rPr lang="en-US" sz="1100" dirty="0">
                <a:solidFill>
                  <a:srgbClr val="E6E4FF"/>
                </a:solidFill>
                <a:latin typeface="Courier New" pitchFamily="34" charset="0"/>
                <a:ea typeface="Courier New" pitchFamily="34" charset="-122"/>
                <a:cs typeface="Courier New" pitchFamily="34" charset="-120"/>
              </a:rPr>
              <a:t>then</a:t>
            </a:r>
            <a:pPr algn="l" indent="0" marL="0">
              <a:buNone/>
            </a:pPr>
            <a:r>
              <a:rPr lang="en-US" sz="1100" dirty="0">
                <a:solidFill>
                  <a:srgbClr val="D6D3FF"/>
                </a:solidFill>
                <a:latin typeface="Courier New" pitchFamily="34" charset="0"/>
                <a:ea typeface="Courier New" pitchFamily="34" charset="-122"/>
                <a:cs typeface="Courier New" pitchFamily="34" charset="-120"/>
              </a:rPr>
              <a:t>(</a:t>
            </a:r>
            <a:pPr algn="l" indent="0" marL="0">
              <a:buNone/>
            </a:pPr>
            <a:r>
              <a:rPr lang="en-US" sz="1100" dirty="0">
                <a:solidFill>
                  <a:srgbClr val="E6E4FF"/>
                </a:solidFill>
                <a:latin typeface="Courier New" pitchFamily="34" charset="0"/>
                <a:ea typeface="Courier New" pitchFamily="34" charset="-122"/>
                <a:cs typeface="Courier New" pitchFamily="34" charset="-120"/>
              </a:rPr>
              <a:t>setResults</a:t>
            </a:r>
            <a:pPr algn="l" indent="0" marL="0">
              <a:buNone/>
            </a:pPr>
            <a:r>
              <a:rPr lang="en-US" sz="1100" dirty="0">
                <a:solidFill>
                  <a:srgbClr val="D6D3FF"/>
                </a:solidFill>
                <a:latin typeface="Courier New" pitchFamily="34" charset="0"/>
                <a:ea typeface="Courier New" pitchFamily="34" charset="-122"/>
                <a:cs typeface="Courier New" pitchFamily="34" charset="-120"/>
              </a:rPr>
              <a:t>);</a:t>
            </a:r>
            <a:endParaRPr lang="en-US" sz="1100" dirty="0"/>
          </a:p>
          <a:p>
            <a:pPr algn="l" indent="0" marL="0">
              <a:buNone/>
            </a:pPr>
            <a:r>
              <a:rPr lang="en-US" sz="1100" dirty="0">
                <a:solidFill>
                  <a:srgbClr val="D6D3FF"/>
                </a:solidFill>
                <a:latin typeface="Courier New" pitchFamily="34" charset="0"/>
                <a:ea typeface="Courier New" pitchFamily="34" charset="-122"/>
                <a:cs typeface="Courier New" pitchFamily="34" charset="-120"/>
              </a:rPr>
              <a:t>}, [</a:t>
            </a:r>
            <a:pPr algn="l" indent="0" marL="0">
              <a:buNone/>
            </a:pPr>
            <a:r>
              <a:rPr lang="en-US" sz="1100" dirty="0">
                <a:solidFill>
                  <a:srgbClr val="E6E4FF"/>
                </a:solidFill>
                <a:latin typeface="Courier New" pitchFamily="34" charset="0"/>
                <a:ea typeface="Courier New" pitchFamily="34" charset="-122"/>
                <a:cs typeface="Courier New" pitchFamily="34" charset="-120"/>
              </a:rPr>
              <a:t>q</a:t>
            </a:r>
            <a:pPr algn="l" indent="0" marL="0">
              <a:buNone/>
            </a:pPr>
            <a:r>
              <a:rPr lang="en-US" sz="1100" dirty="0">
                <a:solidFill>
                  <a:srgbClr val="D6D3FF"/>
                </a:solidFill>
                <a:latin typeface="Courier New" pitchFamily="34" charset="0"/>
                <a:ea typeface="Courier New" pitchFamily="34" charset="-122"/>
                <a:cs typeface="Courier New" pitchFamily="34" charset="-120"/>
              </a:rPr>
              <a:t>]);</a:t>
            </a:r>
            <a:endParaRPr lang="en-US" sz="11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DATA FETCHING  →  RENDERING</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Data fetching decides how a page renders</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21</a:t>
            </a:r>
            <a:endParaRPr lang="en-US" sz="1100" dirty="0"/>
          </a:p>
        </p:txBody>
      </p:sp>
      <p:sp>
        <p:nvSpPr>
          <p:cNvPr id="7" name="Text 3"/>
          <p:cNvSpPr txBox="1"/>
          <p:nvPr/>
        </p:nvSpPr>
        <p:spPr>
          <a:xfrm>
            <a:off x="548640" y="1463040"/>
            <a:ext cx="4206240" cy="274320"/>
          </a:xfrm>
          <a:prstGeom prst="rect">
            <a:avLst/>
          </a:prstGeom>
          <a:noFill/>
          <a:ln/>
        </p:spPr>
        <p:txBody>
          <a:bodyPr wrap="square" lIns="0" tIns="0" rIns="0" bIns="0" rtlCol="0" anchor="t"/>
          <a:lstStyle/>
          <a:p>
            <a:pPr indent="0" marL="0">
              <a:buNone/>
            </a:pPr>
            <a:r>
              <a:rPr lang="en-US" sz="1100" b="1" spc="200" kern="0" dirty="0">
                <a:solidFill>
                  <a:srgbClr val="A8A5D8"/>
                </a:solidFill>
                <a:latin typeface="Calibri" pitchFamily="34" charset="0"/>
                <a:ea typeface="Calibri" pitchFamily="34" charset="-122"/>
                <a:cs typeface="Calibri" pitchFamily="34" charset="-120"/>
              </a:rPr>
              <a:t>HOW DOES THE DATA BEHAVE?</a:t>
            </a:r>
            <a:endParaRPr lang="en-US" sz="1100" dirty="0"/>
          </a:p>
        </p:txBody>
      </p:sp>
      <p:sp>
        <p:nvSpPr>
          <p:cNvPr id="8" name="Text 4"/>
          <p:cNvSpPr txBox="1"/>
          <p:nvPr/>
        </p:nvSpPr>
        <p:spPr>
          <a:xfrm>
            <a:off x="5212080" y="1463040"/>
            <a:ext cx="3017520" cy="274320"/>
          </a:xfrm>
          <a:prstGeom prst="rect">
            <a:avLst/>
          </a:prstGeom>
          <a:noFill/>
          <a:ln/>
        </p:spPr>
        <p:txBody>
          <a:bodyPr wrap="square" lIns="0" tIns="0" rIns="0" bIns="0" rtlCol="0" anchor="t"/>
          <a:lstStyle/>
          <a:p>
            <a:pPr indent="0" marL="0">
              <a:buNone/>
            </a:pPr>
            <a:r>
              <a:rPr lang="en-US" sz="1100" b="1" spc="200" kern="0" dirty="0">
                <a:solidFill>
                  <a:srgbClr val="A8A5D8"/>
                </a:solidFill>
                <a:latin typeface="Calibri" pitchFamily="34" charset="0"/>
                <a:ea typeface="Calibri" pitchFamily="34" charset="-122"/>
                <a:cs typeface="Calibri" pitchFamily="34" charset="-120"/>
              </a:rPr>
              <a:t>HOW YOU ASK FOR IT</a:t>
            </a:r>
            <a:endParaRPr lang="en-US" sz="1100" dirty="0"/>
          </a:p>
        </p:txBody>
      </p:sp>
      <p:sp>
        <p:nvSpPr>
          <p:cNvPr id="9" name="Text 5"/>
          <p:cNvSpPr txBox="1"/>
          <p:nvPr/>
        </p:nvSpPr>
        <p:spPr>
          <a:xfrm>
            <a:off x="8686800" y="1463040"/>
            <a:ext cx="2926080" cy="274320"/>
          </a:xfrm>
          <a:prstGeom prst="rect">
            <a:avLst/>
          </a:prstGeom>
          <a:noFill/>
          <a:ln/>
        </p:spPr>
        <p:txBody>
          <a:bodyPr wrap="square" lIns="0" tIns="0" rIns="0" bIns="0" rtlCol="0" anchor="t"/>
          <a:lstStyle/>
          <a:p>
            <a:pPr indent="0" marL="0">
              <a:buNone/>
            </a:pPr>
            <a:r>
              <a:rPr lang="en-US" sz="1100" b="1" spc="200" kern="0" dirty="0">
                <a:solidFill>
                  <a:srgbClr val="A8A5D8"/>
                </a:solidFill>
                <a:latin typeface="Calibri" pitchFamily="34" charset="0"/>
                <a:ea typeface="Calibri" pitchFamily="34" charset="-122"/>
                <a:cs typeface="Calibri" pitchFamily="34" charset="-120"/>
              </a:rPr>
              <a:t>HOW THE PAGE RENDERS</a:t>
            </a:r>
            <a:endParaRPr lang="en-US" sz="1100" dirty="0"/>
          </a:p>
        </p:txBody>
      </p:sp>
      <p:sp>
        <p:nvSpPr>
          <p:cNvPr id="10" name="A1_d"/>
          <p:cNvSpPr/>
          <p:nvPr/>
        </p:nvSpPr>
        <p:spPr>
          <a:xfrm>
            <a:off x="548640" y="1783080"/>
            <a:ext cx="4206240" cy="868680"/>
          </a:xfrm>
          <a:prstGeom prst="roundRect">
            <a:avLst>
              <a:gd name="adj" fmla="val 12632"/>
            </a:avLst>
          </a:prstGeom>
          <a:solidFill>
            <a:srgbClr val="17143F"/>
          </a:solidFill>
          <a:ln w="12700">
            <a:solidFill>
              <a:srgbClr val="3A3580"/>
            </a:solidFill>
            <a:prstDash val="solid"/>
          </a:ln>
        </p:spPr>
      </p:sp>
      <p:sp>
        <p:nvSpPr>
          <p:cNvPr id="11" name="A1_dt"/>
          <p:cNvSpPr txBox="1"/>
          <p:nvPr/>
        </p:nvSpPr>
        <p:spPr>
          <a:xfrm>
            <a:off x="777240" y="1911096"/>
            <a:ext cx="3840480" cy="320040"/>
          </a:xfrm>
          <a:prstGeom prst="rect">
            <a:avLst/>
          </a:prstGeom>
          <a:noFill/>
          <a:ln/>
        </p:spPr>
        <p:txBody>
          <a:bodyPr wrap="square" lIns="0" tIns="0" rIns="0" bIns="0" rtlCol="0" anchor="t"/>
          <a:lstStyle/>
          <a:p>
            <a:pPr indent="0" marL="0">
              <a:buNone/>
            </a:pPr>
            <a:r>
              <a:rPr lang="en-US" sz="1500" b="1" dirty="0">
                <a:solidFill>
                  <a:srgbClr val="F4F3FF"/>
                </a:solidFill>
                <a:latin typeface="Calibri" pitchFamily="34" charset="0"/>
                <a:ea typeface="Calibri" pitchFamily="34" charset="-122"/>
                <a:cs typeface="Calibri" pitchFamily="34" charset="-120"/>
              </a:rPr>
              <a:t>Rarely changes</a:t>
            </a:r>
            <a:endParaRPr lang="en-US" sz="1500" dirty="0"/>
          </a:p>
        </p:txBody>
      </p:sp>
      <p:sp>
        <p:nvSpPr>
          <p:cNvPr id="12" name="A1_dd"/>
          <p:cNvSpPr txBox="1"/>
          <p:nvPr/>
        </p:nvSpPr>
        <p:spPr>
          <a:xfrm>
            <a:off x="777240" y="2258568"/>
            <a:ext cx="3840480" cy="2743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docs, blog posts</a:t>
            </a:r>
            <a:endParaRPr lang="en-US" sz="1200" dirty="0"/>
          </a:p>
        </p:txBody>
      </p:sp>
      <p:sp>
        <p:nvSpPr>
          <p:cNvPr id="13" name="A1_a1"/>
          <p:cNvSpPr/>
          <p:nvPr/>
        </p:nvSpPr>
        <p:spPr>
          <a:xfrm>
            <a:off x="4800600" y="2217420"/>
            <a:ext cx="365760" cy="0"/>
          </a:xfrm>
          <a:prstGeom prst="line">
            <a:avLst/>
          </a:prstGeom>
          <a:noFill/>
          <a:ln w="25400">
            <a:solidFill>
              <a:srgbClr val="A8A5D8"/>
            </a:solidFill>
            <a:prstDash val="solid"/>
            <a:tailEnd type="triangle"/>
          </a:ln>
        </p:spPr>
      </p:sp>
      <p:sp>
        <p:nvSpPr>
          <p:cNvPr id="14" name="A1_code"/>
          <p:cNvSpPr txBox="1"/>
          <p:nvPr/>
        </p:nvSpPr>
        <p:spPr>
          <a:xfrm>
            <a:off x="5212080" y="1874520"/>
            <a:ext cx="3200400" cy="685800"/>
          </a:xfrm>
          <a:prstGeom prst="roundRect">
            <a:avLst>
              <a:gd name="adj" fmla="val 13333"/>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050" dirty="0">
                <a:solidFill>
                  <a:srgbClr val="F4F3FF"/>
                </a:solidFill>
                <a:latin typeface="Courier New" pitchFamily="34" charset="0"/>
                <a:ea typeface="Courier New" pitchFamily="34" charset="-122"/>
                <a:cs typeface="Courier New" pitchFamily="34" charset="-120"/>
              </a:rPr>
              <a:t>fetch(url, { cache: "force-cache" })</a:t>
            </a:r>
            <a:endParaRPr lang="en-US" sz="1050" dirty="0"/>
          </a:p>
        </p:txBody>
      </p:sp>
      <p:sp>
        <p:nvSpPr>
          <p:cNvPr id="15" name="A1_a2"/>
          <p:cNvSpPr/>
          <p:nvPr/>
        </p:nvSpPr>
        <p:spPr>
          <a:xfrm>
            <a:off x="8458200" y="2217420"/>
            <a:ext cx="182880" cy="0"/>
          </a:xfrm>
          <a:prstGeom prst="line">
            <a:avLst/>
          </a:prstGeom>
          <a:noFill/>
          <a:ln w="25400">
            <a:solidFill>
              <a:srgbClr val="8B7CFF"/>
            </a:solidFill>
            <a:prstDash val="solid"/>
            <a:tailEnd type="triangle"/>
          </a:ln>
        </p:spPr>
      </p:sp>
      <p:sp>
        <p:nvSpPr>
          <p:cNvPr id="16" name="A1_r"/>
          <p:cNvSpPr txBox="1"/>
          <p:nvPr/>
        </p:nvSpPr>
        <p:spPr>
          <a:xfrm>
            <a:off x="8686800" y="1783080"/>
            <a:ext cx="2953512" cy="868680"/>
          </a:xfrm>
          <a:prstGeom prst="roundRect">
            <a:avLst>
              <a:gd name="adj" fmla="val 10526"/>
            </a:avLst>
          </a:prstGeom>
          <a:solidFill>
            <a:srgbClr val="221E58"/>
          </a:solidFill>
          <a:ln w="22225">
            <a:solidFill>
              <a:srgbClr val="8B7CFF"/>
            </a:solidFill>
            <a:prstDash val="solid"/>
          </a:ln>
        </p:spPr>
        <p:txBody>
          <a:bodyPr wrap="square" lIns="50800" tIns="50800" rIns="50800" bIns="50800" rtlCol="0" anchor="ctr"/>
          <a:lstStyle/>
          <a:p>
            <a:pPr algn="ctr" indent="0" marL="0">
              <a:buNone/>
            </a:pPr>
            <a:r>
              <a:rPr lang="en-US" sz="1500" b="1" dirty="0">
                <a:solidFill>
                  <a:srgbClr val="F4F3FF"/>
                </a:solidFill>
                <a:latin typeface="Calibri" pitchFamily="34" charset="0"/>
                <a:ea typeface="Calibri" pitchFamily="34" charset="-122"/>
                <a:cs typeface="Calibri" pitchFamily="34" charset="-120"/>
              </a:rPr>
              <a:t>Static (SSG)</a:t>
            </a:r>
            <a:endParaRPr lang="en-US" sz="1500" dirty="0"/>
          </a:p>
        </p:txBody>
      </p:sp>
      <p:sp>
        <p:nvSpPr>
          <p:cNvPr id="17" name="A2_d"/>
          <p:cNvSpPr/>
          <p:nvPr/>
        </p:nvSpPr>
        <p:spPr>
          <a:xfrm>
            <a:off x="548640" y="2880360"/>
            <a:ext cx="4206240" cy="868680"/>
          </a:xfrm>
          <a:prstGeom prst="roundRect">
            <a:avLst>
              <a:gd name="adj" fmla="val 12632"/>
            </a:avLst>
          </a:prstGeom>
          <a:solidFill>
            <a:srgbClr val="17143F"/>
          </a:solidFill>
          <a:ln w="12700">
            <a:solidFill>
              <a:srgbClr val="3A3580"/>
            </a:solidFill>
            <a:prstDash val="solid"/>
          </a:ln>
        </p:spPr>
      </p:sp>
      <p:sp>
        <p:nvSpPr>
          <p:cNvPr id="18" name="A2_dt"/>
          <p:cNvSpPr txBox="1"/>
          <p:nvPr/>
        </p:nvSpPr>
        <p:spPr>
          <a:xfrm>
            <a:off x="777240" y="3008376"/>
            <a:ext cx="3840480" cy="320040"/>
          </a:xfrm>
          <a:prstGeom prst="rect">
            <a:avLst/>
          </a:prstGeom>
          <a:noFill/>
          <a:ln/>
        </p:spPr>
        <p:txBody>
          <a:bodyPr wrap="square" lIns="0" tIns="0" rIns="0" bIns="0" rtlCol="0" anchor="t"/>
          <a:lstStyle/>
          <a:p>
            <a:pPr indent="0" marL="0">
              <a:buNone/>
            </a:pPr>
            <a:r>
              <a:rPr lang="en-US" sz="1500" b="1" dirty="0">
                <a:solidFill>
                  <a:srgbClr val="F4F3FF"/>
                </a:solidFill>
                <a:latin typeface="Calibri" pitchFamily="34" charset="0"/>
                <a:ea typeface="Calibri" pitchFamily="34" charset="-122"/>
                <a:cs typeface="Calibri" pitchFamily="34" charset="-120"/>
              </a:rPr>
              <a:t>Changes every few minutes</a:t>
            </a:r>
            <a:endParaRPr lang="en-US" sz="1500" dirty="0"/>
          </a:p>
        </p:txBody>
      </p:sp>
      <p:sp>
        <p:nvSpPr>
          <p:cNvPr id="19" name="A2_dd"/>
          <p:cNvSpPr txBox="1"/>
          <p:nvPr/>
        </p:nvSpPr>
        <p:spPr>
          <a:xfrm>
            <a:off x="777240" y="3355848"/>
            <a:ext cx="3840480" cy="2743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catalog, news</a:t>
            </a:r>
            <a:endParaRPr lang="en-US" sz="1200" dirty="0"/>
          </a:p>
        </p:txBody>
      </p:sp>
      <p:sp>
        <p:nvSpPr>
          <p:cNvPr id="20" name="A2_a1"/>
          <p:cNvSpPr/>
          <p:nvPr/>
        </p:nvSpPr>
        <p:spPr>
          <a:xfrm>
            <a:off x="4800600" y="3314700"/>
            <a:ext cx="365760" cy="0"/>
          </a:xfrm>
          <a:prstGeom prst="line">
            <a:avLst/>
          </a:prstGeom>
          <a:noFill/>
          <a:ln w="25400">
            <a:solidFill>
              <a:srgbClr val="A8A5D8"/>
            </a:solidFill>
            <a:prstDash val="solid"/>
            <a:tailEnd type="triangle"/>
          </a:ln>
        </p:spPr>
      </p:sp>
      <p:sp>
        <p:nvSpPr>
          <p:cNvPr id="21" name="A2_code"/>
          <p:cNvSpPr txBox="1"/>
          <p:nvPr/>
        </p:nvSpPr>
        <p:spPr>
          <a:xfrm>
            <a:off x="5212080" y="2971800"/>
            <a:ext cx="3200400" cy="685800"/>
          </a:xfrm>
          <a:prstGeom prst="roundRect">
            <a:avLst>
              <a:gd name="adj" fmla="val 13333"/>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050" dirty="0">
                <a:solidFill>
                  <a:srgbClr val="F4F3FF"/>
                </a:solidFill>
                <a:latin typeface="Courier New" pitchFamily="34" charset="0"/>
                <a:ea typeface="Courier New" pitchFamily="34" charset="-122"/>
                <a:cs typeface="Courier New" pitchFamily="34" charset="-120"/>
              </a:rPr>
              <a:t>next: { revalidate: 60 }</a:t>
            </a:r>
            <a:endParaRPr lang="en-US" sz="1050" dirty="0"/>
          </a:p>
        </p:txBody>
      </p:sp>
      <p:sp>
        <p:nvSpPr>
          <p:cNvPr id="22" name="A2_a2"/>
          <p:cNvSpPr/>
          <p:nvPr/>
        </p:nvSpPr>
        <p:spPr>
          <a:xfrm>
            <a:off x="8458200" y="3314700"/>
            <a:ext cx="182880" cy="0"/>
          </a:xfrm>
          <a:prstGeom prst="line">
            <a:avLst/>
          </a:prstGeom>
          <a:noFill/>
          <a:ln w="25400">
            <a:solidFill>
              <a:srgbClr val="34D399"/>
            </a:solidFill>
            <a:prstDash val="solid"/>
            <a:tailEnd type="triangle"/>
          </a:ln>
        </p:spPr>
      </p:sp>
      <p:sp>
        <p:nvSpPr>
          <p:cNvPr id="23" name="A2_r"/>
          <p:cNvSpPr txBox="1"/>
          <p:nvPr/>
        </p:nvSpPr>
        <p:spPr>
          <a:xfrm>
            <a:off x="8686800" y="2880360"/>
            <a:ext cx="2953512" cy="868680"/>
          </a:xfrm>
          <a:prstGeom prst="roundRect">
            <a:avLst>
              <a:gd name="adj" fmla="val 10526"/>
            </a:avLst>
          </a:prstGeom>
          <a:solidFill>
            <a:srgbClr val="221E58"/>
          </a:solidFill>
          <a:ln w="22225">
            <a:solidFill>
              <a:srgbClr val="34D399"/>
            </a:solidFill>
            <a:prstDash val="solid"/>
          </a:ln>
        </p:spPr>
        <p:txBody>
          <a:bodyPr wrap="square" lIns="50800" tIns="50800" rIns="50800" bIns="50800" rtlCol="0" anchor="ctr"/>
          <a:lstStyle/>
          <a:p>
            <a:pPr algn="ctr" indent="0" marL="0">
              <a:buNone/>
            </a:pPr>
            <a:r>
              <a:rPr lang="en-US" sz="1500" b="1" dirty="0">
                <a:solidFill>
                  <a:srgbClr val="F4F3FF"/>
                </a:solidFill>
                <a:latin typeface="Calibri" pitchFamily="34" charset="0"/>
                <a:ea typeface="Calibri" pitchFamily="34" charset="-122"/>
                <a:cs typeface="Calibri" pitchFamily="34" charset="-120"/>
              </a:rPr>
              <a:t>Static + refresh (ISR)</a:t>
            </a:r>
            <a:endParaRPr lang="en-US" sz="1500" dirty="0"/>
          </a:p>
        </p:txBody>
      </p:sp>
      <p:sp>
        <p:nvSpPr>
          <p:cNvPr id="24" name="A3_d"/>
          <p:cNvSpPr/>
          <p:nvPr/>
        </p:nvSpPr>
        <p:spPr>
          <a:xfrm>
            <a:off x="548640" y="3977640"/>
            <a:ext cx="4206240" cy="868680"/>
          </a:xfrm>
          <a:prstGeom prst="roundRect">
            <a:avLst>
              <a:gd name="adj" fmla="val 12632"/>
            </a:avLst>
          </a:prstGeom>
          <a:solidFill>
            <a:srgbClr val="17143F"/>
          </a:solidFill>
          <a:ln w="12700">
            <a:solidFill>
              <a:srgbClr val="3A3580"/>
            </a:solidFill>
            <a:prstDash val="solid"/>
          </a:ln>
        </p:spPr>
      </p:sp>
      <p:sp>
        <p:nvSpPr>
          <p:cNvPr id="25" name="A3_dt"/>
          <p:cNvSpPr txBox="1"/>
          <p:nvPr/>
        </p:nvSpPr>
        <p:spPr>
          <a:xfrm>
            <a:off x="777240" y="4105656"/>
            <a:ext cx="3840480" cy="320040"/>
          </a:xfrm>
          <a:prstGeom prst="rect">
            <a:avLst/>
          </a:prstGeom>
          <a:noFill/>
          <a:ln/>
        </p:spPr>
        <p:txBody>
          <a:bodyPr wrap="square" lIns="0" tIns="0" rIns="0" bIns="0" rtlCol="0" anchor="t"/>
          <a:lstStyle/>
          <a:p>
            <a:pPr indent="0" marL="0">
              <a:buNone/>
            </a:pPr>
            <a:r>
              <a:rPr lang="en-US" sz="1500" b="1" dirty="0">
                <a:solidFill>
                  <a:srgbClr val="F4F3FF"/>
                </a:solidFill>
                <a:latin typeface="Calibri" pitchFamily="34" charset="0"/>
                <a:ea typeface="Calibri" pitchFamily="34" charset="-122"/>
                <a:cs typeface="Calibri" pitchFamily="34" charset="-120"/>
              </a:rPr>
              <a:t>Different on every request</a:t>
            </a:r>
            <a:endParaRPr lang="en-US" sz="1500" dirty="0"/>
          </a:p>
        </p:txBody>
      </p:sp>
      <p:sp>
        <p:nvSpPr>
          <p:cNvPr id="26" name="A3_dd"/>
          <p:cNvSpPr txBox="1"/>
          <p:nvPr/>
        </p:nvSpPr>
        <p:spPr>
          <a:xfrm>
            <a:off x="777240" y="4453128"/>
            <a:ext cx="3840480" cy="2743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per user, real time</a:t>
            </a:r>
            <a:endParaRPr lang="en-US" sz="1200" dirty="0"/>
          </a:p>
        </p:txBody>
      </p:sp>
      <p:sp>
        <p:nvSpPr>
          <p:cNvPr id="27" name="A3_a1"/>
          <p:cNvSpPr/>
          <p:nvPr/>
        </p:nvSpPr>
        <p:spPr>
          <a:xfrm>
            <a:off x="4800600" y="4411980"/>
            <a:ext cx="365760" cy="0"/>
          </a:xfrm>
          <a:prstGeom prst="line">
            <a:avLst/>
          </a:prstGeom>
          <a:noFill/>
          <a:ln w="25400">
            <a:solidFill>
              <a:srgbClr val="A8A5D8"/>
            </a:solidFill>
            <a:prstDash val="solid"/>
            <a:tailEnd type="triangle"/>
          </a:ln>
        </p:spPr>
      </p:sp>
      <p:sp>
        <p:nvSpPr>
          <p:cNvPr id="28" name="A3_code"/>
          <p:cNvSpPr txBox="1"/>
          <p:nvPr/>
        </p:nvSpPr>
        <p:spPr>
          <a:xfrm>
            <a:off x="5212080" y="4069080"/>
            <a:ext cx="3200400" cy="685800"/>
          </a:xfrm>
          <a:prstGeom prst="roundRect">
            <a:avLst>
              <a:gd name="adj" fmla="val 13333"/>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050" dirty="0">
                <a:solidFill>
                  <a:srgbClr val="F4F3FF"/>
                </a:solidFill>
                <a:latin typeface="Courier New" pitchFamily="34" charset="0"/>
                <a:ea typeface="Courier New" pitchFamily="34" charset="-122"/>
                <a:cs typeface="Courier New" pitchFamily="34" charset="-120"/>
              </a:rPr>
              <a:t>fetch(url, { cache: "no-store" })</a:t>
            </a:r>
            <a:endParaRPr lang="en-US" sz="1050" dirty="0"/>
          </a:p>
        </p:txBody>
      </p:sp>
      <p:sp>
        <p:nvSpPr>
          <p:cNvPr id="29" name="A3_a2"/>
          <p:cNvSpPr/>
          <p:nvPr/>
        </p:nvSpPr>
        <p:spPr>
          <a:xfrm>
            <a:off x="8458200" y="4411980"/>
            <a:ext cx="182880" cy="0"/>
          </a:xfrm>
          <a:prstGeom prst="line">
            <a:avLst/>
          </a:prstGeom>
          <a:noFill/>
          <a:ln w="25400">
            <a:solidFill>
              <a:srgbClr val="22D3EE"/>
            </a:solidFill>
            <a:prstDash val="solid"/>
            <a:tailEnd type="triangle"/>
          </a:ln>
        </p:spPr>
      </p:sp>
      <p:sp>
        <p:nvSpPr>
          <p:cNvPr id="30" name="A3_r"/>
          <p:cNvSpPr txBox="1"/>
          <p:nvPr/>
        </p:nvSpPr>
        <p:spPr>
          <a:xfrm>
            <a:off x="8686800" y="3977640"/>
            <a:ext cx="2953512" cy="868680"/>
          </a:xfrm>
          <a:prstGeom prst="roundRect">
            <a:avLst>
              <a:gd name="adj" fmla="val 10526"/>
            </a:avLst>
          </a:prstGeom>
          <a:solidFill>
            <a:srgbClr val="221E58"/>
          </a:solidFill>
          <a:ln w="22225">
            <a:solidFill>
              <a:srgbClr val="22D3EE"/>
            </a:solidFill>
            <a:prstDash val="solid"/>
          </a:ln>
        </p:spPr>
        <p:txBody>
          <a:bodyPr wrap="square" lIns="50800" tIns="50800" rIns="50800" bIns="50800" rtlCol="0" anchor="ctr"/>
          <a:lstStyle/>
          <a:p>
            <a:pPr algn="ctr" indent="0" marL="0">
              <a:buNone/>
            </a:pPr>
            <a:r>
              <a:rPr lang="en-US" sz="1500" b="1" dirty="0">
                <a:solidFill>
                  <a:srgbClr val="F4F3FF"/>
                </a:solidFill>
                <a:latin typeface="Calibri" pitchFamily="34" charset="0"/>
                <a:ea typeface="Calibri" pitchFamily="34" charset="-122"/>
                <a:cs typeface="Calibri" pitchFamily="34" charset="-120"/>
              </a:rPr>
              <a:t>Dynamic (SSR)</a:t>
            </a:r>
            <a:endParaRPr lang="en-US" sz="1500" dirty="0"/>
          </a:p>
        </p:txBody>
      </p:sp>
      <p:sp>
        <p:nvSpPr>
          <p:cNvPr id="31" name="A4_d"/>
          <p:cNvSpPr/>
          <p:nvPr/>
        </p:nvSpPr>
        <p:spPr>
          <a:xfrm>
            <a:off x="548640" y="5074920"/>
            <a:ext cx="4206240" cy="868680"/>
          </a:xfrm>
          <a:prstGeom prst="roundRect">
            <a:avLst>
              <a:gd name="adj" fmla="val 12632"/>
            </a:avLst>
          </a:prstGeom>
          <a:solidFill>
            <a:srgbClr val="17143F"/>
          </a:solidFill>
          <a:ln w="12700">
            <a:solidFill>
              <a:srgbClr val="3A3580"/>
            </a:solidFill>
            <a:prstDash val="solid"/>
          </a:ln>
        </p:spPr>
      </p:sp>
      <p:sp>
        <p:nvSpPr>
          <p:cNvPr id="32" name="A4_dt"/>
          <p:cNvSpPr txBox="1"/>
          <p:nvPr/>
        </p:nvSpPr>
        <p:spPr>
          <a:xfrm>
            <a:off x="777240" y="5202936"/>
            <a:ext cx="3840480" cy="320040"/>
          </a:xfrm>
          <a:prstGeom prst="rect">
            <a:avLst/>
          </a:prstGeom>
          <a:noFill/>
          <a:ln/>
        </p:spPr>
        <p:txBody>
          <a:bodyPr wrap="square" lIns="0" tIns="0" rIns="0" bIns="0" rtlCol="0" anchor="t"/>
          <a:lstStyle/>
          <a:p>
            <a:pPr indent="0" marL="0">
              <a:buNone/>
            </a:pPr>
            <a:r>
              <a:rPr lang="en-US" sz="1500" b="1" dirty="0">
                <a:solidFill>
                  <a:srgbClr val="F4F3FF"/>
                </a:solidFill>
                <a:latin typeface="Calibri" pitchFamily="34" charset="0"/>
                <a:ea typeface="Calibri" pitchFamily="34" charset="-122"/>
                <a:cs typeface="Calibri" pitchFamily="34" charset="-120"/>
              </a:rPr>
              <a:t>Depends on what the user does</a:t>
            </a:r>
            <a:endParaRPr lang="en-US" sz="1500" dirty="0"/>
          </a:p>
        </p:txBody>
      </p:sp>
      <p:sp>
        <p:nvSpPr>
          <p:cNvPr id="33" name="A4_dd"/>
          <p:cNvSpPr txBox="1"/>
          <p:nvPr/>
        </p:nvSpPr>
        <p:spPr>
          <a:xfrm>
            <a:off x="777240" y="5550408"/>
            <a:ext cx="3840480" cy="2743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search, live widgets</a:t>
            </a:r>
            <a:endParaRPr lang="en-US" sz="1200" dirty="0"/>
          </a:p>
        </p:txBody>
      </p:sp>
      <p:sp>
        <p:nvSpPr>
          <p:cNvPr id="34" name="A4_a1"/>
          <p:cNvSpPr/>
          <p:nvPr/>
        </p:nvSpPr>
        <p:spPr>
          <a:xfrm>
            <a:off x="4800600" y="5509260"/>
            <a:ext cx="365760" cy="0"/>
          </a:xfrm>
          <a:prstGeom prst="line">
            <a:avLst/>
          </a:prstGeom>
          <a:noFill/>
          <a:ln w="25400">
            <a:solidFill>
              <a:srgbClr val="A8A5D8"/>
            </a:solidFill>
            <a:prstDash val="solid"/>
            <a:tailEnd type="triangle"/>
          </a:ln>
        </p:spPr>
      </p:sp>
      <p:sp>
        <p:nvSpPr>
          <p:cNvPr id="35" name="A4_code"/>
          <p:cNvSpPr txBox="1"/>
          <p:nvPr/>
        </p:nvSpPr>
        <p:spPr>
          <a:xfrm>
            <a:off x="5212080" y="5166360"/>
            <a:ext cx="3200400" cy="685800"/>
          </a:xfrm>
          <a:prstGeom prst="roundRect">
            <a:avLst>
              <a:gd name="adj" fmla="val 13333"/>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050" dirty="0">
                <a:solidFill>
                  <a:srgbClr val="F4F3FF"/>
                </a:solidFill>
                <a:latin typeface="Courier New" pitchFamily="34" charset="0"/>
                <a:ea typeface="Courier New" pitchFamily="34" charset="-122"/>
                <a:cs typeface="Courier New" pitchFamily="34" charset="-120"/>
              </a:rPr>
              <a:t>useEffect(() =&gt; fetch(...))</a:t>
            </a:r>
            <a:endParaRPr lang="en-US" sz="1050" dirty="0"/>
          </a:p>
        </p:txBody>
      </p:sp>
      <p:sp>
        <p:nvSpPr>
          <p:cNvPr id="36" name="A4_a2"/>
          <p:cNvSpPr/>
          <p:nvPr/>
        </p:nvSpPr>
        <p:spPr>
          <a:xfrm>
            <a:off x="8458200" y="5509260"/>
            <a:ext cx="182880" cy="0"/>
          </a:xfrm>
          <a:prstGeom prst="line">
            <a:avLst/>
          </a:prstGeom>
          <a:noFill/>
          <a:ln w="25400">
            <a:solidFill>
              <a:srgbClr val="FBBF24"/>
            </a:solidFill>
            <a:prstDash val="solid"/>
            <a:tailEnd type="triangle"/>
          </a:ln>
        </p:spPr>
      </p:sp>
      <p:sp>
        <p:nvSpPr>
          <p:cNvPr id="37" name="A4_r"/>
          <p:cNvSpPr txBox="1"/>
          <p:nvPr/>
        </p:nvSpPr>
        <p:spPr>
          <a:xfrm>
            <a:off x="8686800" y="5074920"/>
            <a:ext cx="2953512" cy="868680"/>
          </a:xfrm>
          <a:prstGeom prst="roundRect">
            <a:avLst>
              <a:gd name="adj" fmla="val 10526"/>
            </a:avLst>
          </a:prstGeom>
          <a:solidFill>
            <a:srgbClr val="221E58"/>
          </a:solidFill>
          <a:ln w="22225">
            <a:solidFill>
              <a:srgbClr val="FBBF24"/>
            </a:solidFill>
            <a:prstDash val="solid"/>
          </a:ln>
        </p:spPr>
        <p:txBody>
          <a:bodyPr wrap="square" lIns="50800" tIns="50800" rIns="50800" bIns="50800" rtlCol="0" anchor="ctr"/>
          <a:lstStyle/>
          <a:p>
            <a:pPr algn="ctr" indent="0" marL="0">
              <a:buNone/>
            </a:pPr>
            <a:r>
              <a:rPr lang="en-US" sz="1500" b="1" dirty="0">
                <a:solidFill>
                  <a:srgbClr val="F4F3FF"/>
                </a:solidFill>
                <a:latin typeface="Calibri" pitchFamily="34" charset="0"/>
                <a:ea typeface="Calibri" pitchFamily="34" charset="-122"/>
                <a:cs typeface="Calibri" pitchFamily="34" charset="-120"/>
              </a:rPr>
              <a:t>Client-side (CSR)</a:t>
            </a:r>
            <a:endParaRPr lang="en-US" sz="1500" dirty="0"/>
          </a:p>
        </p:txBody>
      </p:sp>
      <p:sp>
        <p:nvSpPr>
          <p:cNvPr id="38" name="Text 34"/>
          <p:cNvSpPr txBox="1"/>
          <p:nvPr/>
        </p:nvSpPr>
        <p:spPr>
          <a:xfrm>
            <a:off x="548640" y="6080760"/>
            <a:ext cx="10972800" cy="274320"/>
          </a:xfrm>
          <a:prstGeom prst="rect">
            <a:avLst/>
          </a:prstGeom>
          <a:noFill/>
          <a:ln/>
        </p:spPr>
        <p:txBody>
          <a:bodyPr wrap="square" lIns="0" tIns="0" rIns="0" bIns="0" rtlCol="0" anchor="t"/>
          <a:lstStyle/>
          <a:p>
            <a:pPr indent="0" marL="0">
              <a:buNone/>
            </a:pPr>
            <a:r>
              <a:rPr lang="en-US" sz="1300" b="1" dirty="0">
                <a:solidFill>
                  <a:srgbClr val="8B7CFF"/>
                </a:solidFill>
                <a:latin typeface="Calibri" pitchFamily="34" charset="0"/>
                <a:ea typeface="Calibri" pitchFamily="34" charset="-122"/>
                <a:cs typeface="Calibri" pitchFamily="34" charset="-120"/>
              </a:rPr>
              <a:t>Same page, different data needs, different rendering.</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25"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50"/>
                                        <p:tgtEl>
                                          <p:spTgt spid="10"/>
                                        </p:tgtEl>
                                      </p:cBhvr>
                                    </p:animEffect>
                                  </p:childTnLst>
                                </p:cTn>
                              </p:par>
                              <p:par>
                                <p:cTn id="6" presetID="10" presetClass="entr" presetSubtype="0" fill="hold"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50"/>
                                        <p:tgtEl>
                                          <p:spTgt spid="11"/>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50"/>
                                        <p:tgtEl>
                                          <p:spTgt spid="12"/>
                                        </p:tgtEl>
                                      </p:cBhvr>
                                    </p:animEffect>
                                  </p:childTnLst>
                                </p:cTn>
                              </p:par>
                              <p:par>
                                <p:cTn id="12" presetID="10"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childTnLst>
                    </p:cTn>
                  </p:par>
                  <p:par>
                    <p:cTn id="47" fill="hold">
                      <p:stCondLst>
                        <p:cond delay="indefinite"/>
                      </p:stCondLst>
                      <p:childTnLst>
                        <p:par>
                          <p:cTn id="48"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50"/>
                                        <p:tgtEl>
                                          <p:spTgt spid="17"/>
                                        </p:tgtEl>
                                      </p:cBhvr>
                                    </p:animEffect>
                                  </p:childTnLst>
                                </p:cTn>
                              </p:par>
                              <p:par>
                                <p:cTn id="29" presetID="10"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450"/>
                                        <p:tgtEl>
                                          <p:spTgt spid="18"/>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45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50"/>
                                        <p:tgtEl>
                                          <p:spTgt spid="20"/>
                                        </p:tgtEl>
                                      </p:cBhvr>
                                    </p:animEffect>
                                  </p:childTnLst>
                                </p:cTn>
                              </p:par>
                              <p:par>
                                <p:cTn id="38" presetID="10" presetClass="entr" presetSubtype="0" fill="hold"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450"/>
                                        <p:tgtEl>
                                          <p:spTgt spid="21"/>
                                        </p:tgtEl>
                                      </p:cBhvr>
                                    </p:animEffect>
                                  </p:childTnLst>
                                </p:cTn>
                              </p:par>
                              <p:par>
                                <p:cTn id="41" presetID="10"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50"/>
                                        <p:tgtEl>
                                          <p:spTgt spid="22"/>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50"/>
                                        <p:tgtEl>
                                          <p:spTgt spid="23"/>
                                        </p:tgtEl>
                                      </p:cBhvr>
                                    </p:animEffect>
                                  </p:childTnLst>
                                </p:cTn>
                              </p:par>
                            </p:childTnLst>
                          </p:cTn>
                        </p:par>
                      </p:childTnLst>
                    </p:cTn>
                  </p:par>
                  <p:par>
                    <p:cTn id="70" fill="hold">
                      <p:stCondLst>
                        <p:cond delay="indefinite"/>
                      </p:stCondLst>
                      <p:childTnLst>
                        <p:par>
                          <p:cTn id="71"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450"/>
                                        <p:tgtEl>
                                          <p:spTgt spid="24"/>
                                        </p:tgtEl>
                                      </p:cBhvr>
                                    </p:animEffect>
                                  </p:childTnLst>
                                </p:cTn>
                              </p:par>
                              <p:par>
                                <p:cTn id="52" presetID="10" presetClass="entr" presetSubtype="0" fill="hold"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50"/>
                                        <p:tgtEl>
                                          <p:spTgt spid="25"/>
                                        </p:tgtEl>
                                      </p:cBhvr>
                                    </p:animEffect>
                                  </p:childTnLst>
                                </p:cTn>
                              </p:par>
                              <p:par>
                                <p:cTn id="55" presetID="10" presetClass="entr" presetSubtype="0" fill="hold"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450"/>
                                        <p:tgtEl>
                                          <p:spTgt spid="26"/>
                                        </p:tgtEl>
                                      </p:cBhvr>
                                    </p:animEffect>
                                  </p:childTnLst>
                                </p:cTn>
                              </p:par>
                              <p:par>
                                <p:cTn id="58" presetID="10" presetClass="entr" presetSubtype="0" fill="hold"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450"/>
                                        <p:tgtEl>
                                          <p:spTgt spid="27"/>
                                        </p:tgtEl>
                                      </p:cBhvr>
                                    </p:animEffect>
                                  </p:childTnLst>
                                </p:cTn>
                              </p:par>
                              <p:par>
                                <p:cTn id="61" presetID="10" presetClass="entr" presetSubtype="0" fill="hold"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450"/>
                                        <p:tgtEl>
                                          <p:spTgt spid="28"/>
                                        </p:tgtEl>
                                      </p:cBhvr>
                                    </p:animEffect>
                                  </p:childTnLst>
                                </p:cTn>
                              </p:par>
                              <p:par>
                                <p:cTn id="64" presetID="10" presetClass="entr" presetSubtype="0" fill="hold"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450"/>
                                        <p:tgtEl>
                                          <p:spTgt spid="29"/>
                                        </p:tgtEl>
                                      </p:cBhvr>
                                    </p:animEffect>
                                  </p:childTnLst>
                                </p:cTn>
                              </p:par>
                              <p:par>
                                <p:cTn id="67" presetID="10" presetClass="entr" presetSubtype="0" fill="hold"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450"/>
                                        <p:tgtEl>
                                          <p:spTgt spid="30"/>
                                        </p:tgtEl>
                                      </p:cBhvr>
                                    </p:animEffect>
                                  </p:childTnLst>
                                </p:cTn>
                              </p:par>
                            </p:childTnLst>
                          </p:cTn>
                        </p:par>
                      </p:childTnLst>
                    </p:cTn>
                  </p:par>
                  <p:par>
                    <p:cTn id="93" fill="hold">
                      <p:stCondLst>
                        <p:cond delay="indefinite"/>
                      </p:stCondLst>
                      <p:childTnLst>
                        <p:par>
                          <p:cTn id="94"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fade">
                                      <p:cBhvr>
                                        <p:cTn id="74" dur="450"/>
                                        <p:tgtEl>
                                          <p:spTgt spid="31"/>
                                        </p:tgtEl>
                                      </p:cBhvr>
                                    </p:animEffect>
                                  </p:childTnLst>
                                </p:cTn>
                              </p:par>
                              <p:par>
                                <p:cTn id="75" presetID="10" presetClass="entr" presetSubtype="0" fill="hold" nodeType="with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450"/>
                                        <p:tgtEl>
                                          <p:spTgt spid="32"/>
                                        </p:tgtEl>
                                      </p:cBhvr>
                                    </p:animEffect>
                                  </p:childTnLst>
                                </p:cTn>
                              </p:par>
                              <p:par>
                                <p:cTn id="78" presetID="10" presetClass="entr" presetSubtype="0" fill="hold" nodeType="with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450"/>
                                        <p:tgtEl>
                                          <p:spTgt spid="33"/>
                                        </p:tgtEl>
                                      </p:cBhvr>
                                    </p:animEffect>
                                  </p:childTnLst>
                                </p:cTn>
                              </p:par>
                              <p:par>
                                <p:cTn id="81" presetID="10" presetClass="entr" presetSubtype="0" fill="hold" nodeType="with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3" dur="450"/>
                                        <p:tgtEl>
                                          <p:spTgt spid="34"/>
                                        </p:tgtEl>
                                      </p:cBhvr>
                                    </p:animEffect>
                                  </p:childTnLst>
                                </p:cTn>
                              </p:par>
                              <p:par>
                                <p:cTn id="84" presetID="10" presetClass="entr" presetSubtype="0" fill="hold" nodeType="with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450"/>
                                        <p:tgtEl>
                                          <p:spTgt spid="35"/>
                                        </p:tgtEl>
                                      </p:cBhvr>
                                    </p:animEffect>
                                  </p:childTnLst>
                                </p:cTn>
                              </p:par>
                              <p:par>
                                <p:cTn id="87" presetID="10" presetClass="entr" presetSubtype="0" fill="hold" nodeType="with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450"/>
                                        <p:tgtEl>
                                          <p:spTgt spid="36"/>
                                        </p:tgtEl>
                                      </p:cBhvr>
                                    </p:animEffect>
                                  </p:childTnLst>
                                </p:cTn>
                              </p:par>
                              <p:par>
                                <p:cTn id="90" presetID="10" presetClass="entr" presetSubtype="0" fill="hold" nodeType="with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4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CACHING</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Caching: do expensive work once, reuse the result</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22</a:t>
            </a:r>
            <a:endParaRPr lang="en-US" sz="1100" dirty="0"/>
          </a:p>
        </p:txBody>
      </p:sp>
      <p:sp>
        <p:nvSpPr>
          <p:cNvPr id="7" name="Shape 3"/>
          <p:cNvSpPr/>
          <p:nvPr/>
        </p:nvSpPr>
        <p:spPr>
          <a:xfrm>
            <a:off x="548640" y="1600200"/>
            <a:ext cx="11091672" cy="1737360"/>
          </a:xfrm>
          <a:prstGeom prst="roundRect">
            <a:avLst>
              <a:gd name="adj" fmla="val 6316"/>
            </a:avLst>
          </a:prstGeom>
          <a:solidFill>
            <a:srgbClr val="17143F"/>
          </a:solidFill>
          <a:ln w="12700">
            <a:solidFill>
              <a:srgbClr val="FB7185"/>
            </a:solidFill>
            <a:prstDash val="solid"/>
          </a:ln>
        </p:spPr>
      </p:sp>
      <p:sp>
        <p:nvSpPr>
          <p:cNvPr id="8" name="Text 4"/>
          <p:cNvSpPr txBox="1"/>
          <p:nvPr/>
        </p:nvSpPr>
        <p:spPr>
          <a:xfrm>
            <a:off x="777240" y="2240280"/>
            <a:ext cx="1280160" cy="274320"/>
          </a:xfrm>
          <a:prstGeom prst="rect">
            <a:avLst/>
          </a:prstGeom>
          <a:noFill/>
          <a:ln/>
        </p:spPr>
        <p:txBody>
          <a:bodyPr wrap="square" lIns="0" tIns="0" rIns="0" bIns="0" rtlCol="0" anchor="t"/>
          <a:lstStyle/>
          <a:p>
            <a:pPr indent="0" marL="0">
              <a:buNone/>
            </a:pPr>
            <a:r>
              <a:rPr lang="en-US" sz="1800" b="1" dirty="0">
                <a:solidFill>
                  <a:srgbClr val="F4F3FF"/>
                </a:solidFill>
                <a:latin typeface="Calibri" pitchFamily="34" charset="0"/>
                <a:ea typeface="Calibri" pitchFamily="34" charset="-122"/>
                <a:cs typeface="Calibri" pitchFamily="34" charset="-120"/>
              </a:rPr>
              <a:t>Visit 1</a:t>
            </a:r>
            <a:endParaRPr lang="en-US" sz="1800" dirty="0"/>
          </a:p>
        </p:txBody>
      </p:sp>
      <p:sp>
        <p:nvSpPr>
          <p:cNvPr id="9" name="Text 5"/>
          <p:cNvSpPr txBox="1"/>
          <p:nvPr/>
        </p:nvSpPr>
        <p:spPr>
          <a:xfrm>
            <a:off x="777240" y="2606040"/>
            <a:ext cx="1280160" cy="274320"/>
          </a:xfrm>
          <a:prstGeom prst="rect">
            <a:avLst/>
          </a:prstGeom>
          <a:noFill/>
          <a:ln/>
        </p:spPr>
        <p:txBody>
          <a:bodyPr wrap="square" lIns="0" tIns="0" rIns="0" bIns="0" rtlCol="0" anchor="t"/>
          <a:lstStyle/>
          <a:p>
            <a:pPr indent="0" marL="0">
              <a:buNone/>
            </a:pPr>
            <a:r>
              <a:rPr lang="en-US" sz="1200" b="1" dirty="0">
                <a:solidFill>
                  <a:srgbClr val="FB7185"/>
                </a:solidFill>
                <a:latin typeface="Calibri" pitchFamily="34" charset="0"/>
                <a:ea typeface="Calibri" pitchFamily="34" charset="-122"/>
                <a:cs typeface="Calibri" pitchFamily="34" charset="-120"/>
              </a:rPr>
              <a:t>cache MISS</a:t>
            </a:r>
            <a:endParaRPr lang="en-US" sz="1200" dirty="0"/>
          </a:p>
        </p:txBody>
      </p:sp>
      <p:sp>
        <p:nvSpPr>
          <p:cNvPr id="10" name="A1_n0"/>
          <p:cNvSpPr txBox="1"/>
          <p:nvPr/>
        </p:nvSpPr>
        <p:spPr>
          <a:xfrm>
            <a:off x="2148840" y="2057400"/>
            <a:ext cx="1691640" cy="822960"/>
          </a:xfrm>
          <a:prstGeom prst="roundRect">
            <a:avLst>
              <a:gd name="adj" fmla="val 11111"/>
            </a:avLst>
          </a:prstGeom>
          <a:solidFill>
            <a:srgbClr val="221E58"/>
          </a:solidFill>
          <a:ln w="12700">
            <a:solidFill>
              <a:srgbClr val="A8A5D8"/>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Request</a:t>
            </a:r>
            <a:endParaRPr lang="en-US" sz="1300" dirty="0"/>
          </a:p>
        </p:txBody>
      </p:sp>
      <p:sp>
        <p:nvSpPr>
          <p:cNvPr id="11" name="A1_a0"/>
          <p:cNvSpPr/>
          <p:nvPr/>
        </p:nvSpPr>
        <p:spPr>
          <a:xfrm>
            <a:off x="3867912" y="2468880"/>
            <a:ext cx="356616" cy="0"/>
          </a:xfrm>
          <a:prstGeom prst="line">
            <a:avLst/>
          </a:prstGeom>
          <a:noFill/>
          <a:ln w="25400">
            <a:solidFill>
              <a:srgbClr val="A8A5D8"/>
            </a:solidFill>
            <a:prstDash val="solid"/>
            <a:tailEnd type="triangle"/>
          </a:ln>
        </p:spPr>
      </p:sp>
      <p:sp>
        <p:nvSpPr>
          <p:cNvPr id="12" name="A1_n1"/>
          <p:cNvSpPr txBox="1"/>
          <p:nvPr/>
        </p:nvSpPr>
        <p:spPr>
          <a:xfrm>
            <a:off x="4251960" y="2057400"/>
            <a:ext cx="1691640" cy="822960"/>
          </a:xfrm>
          <a:prstGeom prst="roundRect">
            <a:avLst>
              <a:gd name="adj" fmla="val 11111"/>
            </a:avLst>
          </a:prstGeom>
          <a:solidFill>
            <a:srgbClr val="221E58"/>
          </a:solidFill>
          <a:ln w="12700">
            <a:solidFill>
              <a:srgbClr val="FB7185"/>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Cache: empty</a:t>
            </a:r>
            <a:endParaRPr lang="en-US" sz="1300" dirty="0"/>
          </a:p>
        </p:txBody>
      </p:sp>
      <p:sp>
        <p:nvSpPr>
          <p:cNvPr id="13" name="A1_a1"/>
          <p:cNvSpPr/>
          <p:nvPr/>
        </p:nvSpPr>
        <p:spPr>
          <a:xfrm>
            <a:off x="5971032" y="2468880"/>
            <a:ext cx="356616" cy="0"/>
          </a:xfrm>
          <a:prstGeom prst="line">
            <a:avLst/>
          </a:prstGeom>
          <a:noFill/>
          <a:ln w="25400">
            <a:solidFill>
              <a:srgbClr val="A8A5D8"/>
            </a:solidFill>
            <a:prstDash val="solid"/>
            <a:tailEnd type="triangle"/>
          </a:ln>
        </p:spPr>
      </p:sp>
      <p:sp>
        <p:nvSpPr>
          <p:cNvPr id="14" name="A1_n2"/>
          <p:cNvSpPr txBox="1"/>
          <p:nvPr/>
        </p:nvSpPr>
        <p:spPr>
          <a:xfrm>
            <a:off x="6355080" y="2057400"/>
            <a:ext cx="1691640" cy="822960"/>
          </a:xfrm>
          <a:prstGeom prst="roundRect">
            <a:avLst>
              <a:gd name="adj" fmla="val 11111"/>
            </a:avLst>
          </a:prstGeom>
          <a:solidFill>
            <a:srgbClr val="221E58"/>
          </a:solidFill>
          <a:ln w="12700">
            <a:solidFill>
              <a:srgbClr val="FBBF24"/>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Data source (slow)</a:t>
            </a:r>
            <a:endParaRPr lang="en-US" sz="1300" dirty="0"/>
          </a:p>
        </p:txBody>
      </p:sp>
      <p:sp>
        <p:nvSpPr>
          <p:cNvPr id="15" name="A1_a2"/>
          <p:cNvSpPr/>
          <p:nvPr/>
        </p:nvSpPr>
        <p:spPr>
          <a:xfrm>
            <a:off x="8074152" y="2468880"/>
            <a:ext cx="356616" cy="0"/>
          </a:xfrm>
          <a:prstGeom prst="line">
            <a:avLst/>
          </a:prstGeom>
          <a:noFill/>
          <a:ln w="25400">
            <a:solidFill>
              <a:srgbClr val="A8A5D8"/>
            </a:solidFill>
            <a:prstDash val="solid"/>
            <a:tailEnd type="triangle"/>
          </a:ln>
        </p:spPr>
      </p:sp>
      <p:sp>
        <p:nvSpPr>
          <p:cNvPr id="16" name="A1_n3"/>
          <p:cNvSpPr txBox="1"/>
          <p:nvPr/>
        </p:nvSpPr>
        <p:spPr>
          <a:xfrm>
            <a:off x="8458200" y="2057400"/>
            <a:ext cx="1691640" cy="822960"/>
          </a:xfrm>
          <a:prstGeom prst="roundRect">
            <a:avLst>
              <a:gd name="adj" fmla="val 11111"/>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Save a copy, respond</a:t>
            </a:r>
            <a:endParaRPr lang="en-US" sz="1300" dirty="0"/>
          </a:p>
        </p:txBody>
      </p:sp>
      <p:sp>
        <p:nvSpPr>
          <p:cNvPr id="17" name="A1_tm"/>
          <p:cNvSpPr txBox="1"/>
          <p:nvPr/>
        </p:nvSpPr>
        <p:spPr>
          <a:xfrm>
            <a:off x="10287000" y="2194560"/>
            <a:ext cx="1188720" cy="548640"/>
          </a:xfrm>
          <a:prstGeom prst="roundRect">
            <a:avLst>
              <a:gd name="adj" fmla="val 16667"/>
            </a:avLst>
          </a:prstGeom>
          <a:solidFill>
            <a:srgbClr val="0C0A20"/>
          </a:solidFill>
          <a:ln w="12700">
            <a:solidFill>
              <a:srgbClr val="FB7185"/>
            </a:solidFill>
            <a:prstDash val="solid"/>
          </a:ln>
        </p:spPr>
        <p:txBody>
          <a:bodyPr wrap="square" lIns="50800" tIns="50800" rIns="50800" bIns="50800" rtlCol="0" anchor="ctr"/>
          <a:lstStyle/>
          <a:p>
            <a:pPr algn="ctr" indent="0" marL="0">
              <a:buNone/>
            </a:pPr>
            <a:r>
              <a:rPr lang="en-US" sz="1500" b="1" dirty="0">
                <a:solidFill>
                  <a:srgbClr val="FB7185"/>
                </a:solidFill>
                <a:latin typeface="Calibri" pitchFamily="34" charset="0"/>
                <a:ea typeface="Calibri" pitchFamily="34" charset="-122"/>
                <a:cs typeface="Calibri" pitchFamily="34" charset="-120"/>
              </a:rPr>
              <a:t>~ 800 ms</a:t>
            </a:r>
            <a:endParaRPr lang="en-US" sz="1500" dirty="0"/>
          </a:p>
        </p:txBody>
      </p:sp>
      <p:sp>
        <p:nvSpPr>
          <p:cNvPr id="18" name="Shape 14"/>
          <p:cNvSpPr/>
          <p:nvPr/>
        </p:nvSpPr>
        <p:spPr>
          <a:xfrm>
            <a:off x="548640" y="3520440"/>
            <a:ext cx="11091672" cy="1554480"/>
          </a:xfrm>
          <a:prstGeom prst="roundRect">
            <a:avLst>
              <a:gd name="adj" fmla="val 7059"/>
            </a:avLst>
          </a:prstGeom>
          <a:solidFill>
            <a:srgbClr val="17143F"/>
          </a:solidFill>
          <a:ln w="12700">
            <a:solidFill>
              <a:srgbClr val="34D399"/>
            </a:solidFill>
            <a:prstDash val="solid"/>
          </a:ln>
        </p:spPr>
      </p:sp>
      <p:sp>
        <p:nvSpPr>
          <p:cNvPr id="19" name="Text 15"/>
          <p:cNvSpPr txBox="1"/>
          <p:nvPr/>
        </p:nvSpPr>
        <p:spPr>
          <a:xfrm>
            <a:off x="777240" y="3931920"/>
            <a:ext cx="1280160" cy="274320"/>
          </a:xfrm>
          <a:prstGeom prst="rect">
            <a:avLst/>
          </a:prstGeom>
          <a:noFill/>
          <a:ln/>
        </p:spPr>
        <p:txBody>
          <a:bodyPr wrap="square" lIns="0" tIns="0" rIns="0" bIns="0" rtlCol="0" anchor="t"/>
          <a:lstStyle/>
          <a:p>
            <a:pPr indent="0" marL="0">
              <a:buNone/>
            </a:pPr>
            <a:r>
              <a:rPr lang="en-US" sz="1800" b="1" dirty="0">
                <a:solidFill>
                  <a:srgbClr val="F4F3FF"/>
                </a:solidFill>
                <a:latin typeface="Calibri" pitchFamily="34" charset="0"/>
                <a:ea typeface="Calibri" pitchFamily="34" charset="-122"/>
                <a:cs typeface="Calibri" pitchFamily="34" charset="-120"/>
              </a:rPr>
              <a:t>Visit 2</a:t>
            </a:r>
            <a:endParaRPr lang="en-US" sz="1800" dirty="0"/>
          </a:p>
        </p:txBody>
      </p:sp>
      <p:sp>
        <p:nvSpPr>
          <p:cNvPr id="20" name="Text 16"/>
          <p:cNvSpPr txBox="1"/>
          <p:nvPr/>
        </p:nvSpPr>
        <p:spPr>
          <a:xfrm>
            <a:off x="777240" y="4297680"/>
            <a:ext cx="1280160" cy="274320"/>
          </a:xfrm>
          <a:prstGeom prst="rect">
            <a:avLst/>
          </a:prstGeom>
          <a:noFill/>
          <a:ln/>
        </p:spPr>
        <p:txBody>
          <a:bodyPr wrap="square" lIns="0" tIns="0" rIns="0" bIns="0" rtlCol="0" anchor="t"/>
          <a:lstStyle/>
          <a:p>
            <a:pPr indent="0" marL="0">
              <a:buNone/>
            </a:pPr>
            <a:r>
              <a:rPr lang="en-US" sz="1200" b="1" dirty="0">
                <a:solidFill>
                  <a:srgbClr val="34D399"/>
                </a:solidFill>
                <a:latin typeface="Calibri" pitchFamily="34" charset="0"/>
                <a:ea typeface="Calibri" pitchFamily="34" charset="-122"/>
                <a:cs typeface="Calibri" pitchFamily="34" charset="-120"/>
              </a:rPr>
              <a:t>cache HIT</a:t>
            </a:r>
            <a:endParaRPr lang="en-US" sz="1200" dirty="0"/>
          </a:p>
        </p:txBody>
      </p:sp>
      <p:sp>
        <p:nvSpPr>
          <p:cNvPr id="21" name="A2_n0"/>
          <p:cNvSpPr txBox="1"/>
          <p:nvPr/>
        </p:nvSpPr>
        <p:spPr>
          <a:xfrm>
            <a:off x="2148840" y="3749040"/>
            <a:ext cx="1691640" cy="822960"/>
          </a:xfrm>
          <a:prstGeom prst="roundRect">
            <a:avLst>
              <a:gd name="adj" fmla="val 11111"/>
            </a:avLst>
          </a:prstGeom>
          <a:solidFill>
            <a:srgbClr val="221E58"/>
          </a:solidFill>
          <a:ln w="12700">
            <a:solidFill>
              <a:srgbClr val="A8A5D8"/>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Request</a:t>
            </a:r>
            <a:endParaRPr lang="en-US" sz="1300" dirty="0"/>
          </a:p>
        </p:txBody>
      </p:sp>
      <p:sp>
        <p:nvSpPr>
          <p:cNvPr id="22" name="A2_a0"/>
          <p:cNvSpPr/>
          <p:nvPr/>
        </p:nvSpPr>
        <p:spPr>
          <a:xfrm>
            <a:off x="3867912" y="4160520"/>
            <a:ext cx="356616" cy="0"/>
          </a:xfrm>
          <a:prstGeom prst="line">
            <a:avLst/>
          </a:prstGeom>
          <a:noFill/>
          <a:ln w="25400">
            <a:solidFill>
              <a:srgbClr val="34D399"/>
            </a:solidFill>
            <a:prstDash val="solid"/>
            <a:tailEnd type="triangle"/>
          </a:ln>
        </p:spPr>
      </p:sp>
      <p:sp>
        <p:nvSpPr>
          <p:cNvPr id="23" name="A2_n1"/>
          <p:cNvSpPr txBox="1"/>
          <p:nvPr/>
        </p:nvSpPr>
        <p:spPr>
          <a:xfrm>
            <a:off x="4251960" y="3749040"/>
            <a:ext cx="1691640" cy="822960"/>
          </a:xfrm>
          <a:prstGeom prst="roundRect">
            <a:avLst>
              <a:gd name="adj" fmla="val 11111"/>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Cache: found it</a:t>
            </a:r>
            <a:endParaRPr lang="en-US" sz="1300" dirty="0"/>
          </a:p>
        </p:txBody>
      </p:sp>
      <p:sp>
        <p:nvSpPr>
          <p:cNvPr id="24" name="A2_a1"/>
          <p:cNvSpPr/>
          <p:nvPr/>
        </p:nvSpPr>
        <p:spPr>
          <a:xfrm>
            <a:off x="5971032" y="4160520"/>
            <a:ext cx="356616" cy="0"/>
          </a:xfrm>
          <a:prstGeom prst="line">
            <a:avLst/>
          </a:prstGeom>
          <a:noFill/>
          <a:ln w="25400">
            <a:solidFill>
              <a:srgbClr val="34D399"/>
            </a:solidFill>
            <a:prstDash val="solid"/>
            <a:tailEnd type="triangle"/>
          </a:ln>
        </p:spPr>
      </p:sp>
      <p:sp>
        <p:nvSpPr>
          <p:cNvPr id="25" name="A2_n2"/>
          <p:cNvSpPr txBox="1"/>
          <p:nvPr/>
        </p:nvSpPr>
        <p:spPr>
          <a:xfrm>
            <a:off x="6355080" y="3749040"/>
            <a:ext cx="2011680" cy="822960"/>
          </a:xfrm>
          <a:prstGeom prst="roundRect">
            <a:avLst>
              <a:gd name="adj" fmla="val 11111"/>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Respond from the saved copy</a:t>
            </a:r>
            <a:endParaRPr lang="en-US" sz="1300" dirty="0"/>
          </a:p>
        </p:txBody>
      </p:sp>
      <p:sp>
        <p:nvSpPr>
          <p:cNvPr id="26" name="A2_tm"/>
          <p:cNvSpPr txBox="1"/>
          <p:nvPr/>
        </p:nvSpPr>
        <p:spPr>
          <a:xfrm>
            <a:off x="10287000" y="3886200"/>
            <a:ext cx="1188720" cy="548640"/>
          </a:xfrm>
          <a:prstGeom prst="roundRect">
            <a:avLst>
              <a:gd name="adj" fmla="val 16667"/>
            </a:avLst>
          </a:prstGeom>
          <a:solidFill>
            <a:srgbClr val="0C0A20"/>
          </a:solidFill>
          <a:ln w="12700">
            <a:solidFill>
              <a:srgbClr val="34D399"/>
            </a:solidFill>
            <a:prstDash val="solid"/>
          </a:ln>
        </p:spPr>
        <p:txBody>
          <a:bodyPr wrap="square" lIns="50800" tIns="50800" rIns="50800" bIns="50800" rtlCol="0" anchor="ctr"/>
          <a:lstStyle/>
          <a:p>
            <a:pPr algn="ctr" indent="0" marL="0">
              <a:buNone/>
            </a:pPr>
            <a:r>
              <a:rPr lang="en-US" sz="1500" b="1" dirty="0">
                <a:solidFill>
                  <a:srgbClr val="34D399"/>
                </a:solidFill>
                <a:latin typeface="Calibri" pitchFamily="34" charset="0"/>
                <a:ea typeface="Calibri" pitchFamily="34" charset="-122"/>
                <a:cs typeface="Calibri" pitchFamily="34" charset="-120"/>
              </a:rPr>
              <a:t>~ 20 ms</a:t>
            </a:r>
            <a:endParaRPr lang="en-US" sz="1500" dirty="0"/>
          </a:p>
        </p:txBody>
      </p:sp>
      <p:sp>
        <p:nvSpPr>
          <p:cNvPr id="27" name="Text 23"/>
          <p:cNvSpPr txBox="1"/>
          <p:nvPr/>
        </p:nvSpPr>
        <p:spPr>
          <a:xfrm>
            <a:off x="10104120" y="4480560"/>
            <a:ext cx="1554480" cy="228600"/>
          </a:xfrm>
          <a:prstGeom prst="rect">
            <a:avLst/>
          </a:prstGeom>
          <a:noFill/>
          <a:ln/>
        </p:spPr>
        <p:txBody>
          <a:bodyPr wrap="square" lIns="0" tIns="0" rIns="0" bIns="0" rtlCol="0" anchor="t"/>
          <a:lstStyle/>
          <a:p>
            <a:pPr algn="ctr" indent="0" marL="0">
              <a:buNone/>
            </a:pPr>
            <a:r>
              <a:rPr lang="en-US" sz="1000" i="1" dirty="0">
                <a:solidFill>
                  <a:srgbClr val="A8A5D8"/>
                </a:solidFill>
                <a:latin typeface="Calibri" pitchFamily="34" charset="0"/>
                <a:ea typeface="Calibri" pitchFamily="34" charset="-122"/>
                <a:cs typeface="Calibri" pitchFamily="34" charset="-120"/>
              </a:rPr>
              <a:t>illustrative timings</a:t>
            </a:r>
            <a:endParaRPr lang="en-US" sz="1000" dirty="0"/>
          </a:p>
        </p:txBody>
      </p:sp>
      <p:sp>
        <p:nvSpPr>
          <p:cNvPr id="28" name="Shape 24"/>
          <p:cNvSpPr/>
          <p:nvPr/>
        </p:nvSpPr>
        <p:spPr>
          <a:xfrm>
            <a:off x="548640" y="5303520"/>
            <a:ext cx="3593592" cy="777240"/>
          </a:xfrm>
          <a:prstGeom prst="roundRect">
            <a:avLst>
              <a:gd name="adj" fmla="val 14118"/>
            </a:avLst>
          </a:prstGeom>
          <a:solidFill>
            <a:srgbClr val="221E58"/>
          </a:solidFill>
          <a:ln w="12700">
            <a:solidFill>
              <a:srgbClr val="8B7CFF"/>
            </a:solidFill>
            <a:prstDash val="solid"/>
          </a:ln>
        </p:spPr>
      </p:sp>
      <p:pic>
        <p:nvPicPr>
          <p:cNvPr id="29" name="Image 1" descr="preencoded.png">    </p:cNvPr>
          <p:cNvPicPr>
            <a:picLocks noChangeAspect="1"/>
          </p:cNvPicPr>
          <p:nvPr/>
        </p:nvPicPr>
        <p:blipFill>
          <a:blip r:embed="rId3"/>
          <a:stretch>
            <a:fillRect/>
          </a:stretch>
        </p:blipFill>
        <p:spPr>
          <a:xfrm>
            <a:off x="777240" y="5486400"/>
            <a:ext cx="411480" cy="411480"/>
          </a:xfrm>
          <a:prstGeom prst="rect">
            <a:avLst/>
          </a:prstGeom>
        </p:spPr>
      </p:pic>
      <p:sp>
        <p:nvSpPr>
          <p:cNvPr id="30" name="Text 25"/>
          <p:cNvSpPr txBox="1"/>
          <p:nvPr/>
        </p:nvSpPr>
        <p:spPr>
          <a:xfrm>
            <a:off x="1371600" y="5303520"/>
            <a:ext cx="2651760" cy="777240"/>
          </a:xfrm>
          <a:prstGeom prst="rect">
            <a:avLst/>
          </a:prstGeom>
          <a:noFill/>
          <a:ln/>
        </p:spPr>
        <p:txBody>
          <a:bodyPr wrap="square" lIns="0" tIns="0" rIns="0" bIns="0" rtlCol="0" anchor="ctr"/>
          <a:lstStyle/>
          <a:p>
            <a:pPr indent="0" marL="0">
              <a:buNone/>
            </a:pPr>
            <a:r>
              <a:rPr lang="en-US" sz="1500" b="1" dirty="0">
                <a:solidFill>
                  <a:srgbClr val="F4F3FF"/>
                </a:solidFill>
                <a:latin typeface="Calibri" pitchFamily="34" charset="0"/>
                <a:ea typeface="Calibri" pitchFamily="34" charset="-122"/>
                <a:cs typeface="Calibri" pitchFamily="34" charset="-120"/>
              </a:rPr>
              <a:t>Faster pages</a:t>
            </a:r>
            <a:endParaRPr lang="en-US" sz="1500" dirty="0"/>
          </a:p>
        </p:txBody>
      </p:sp>
      <p:sp>
        <p:nvSpPr>
          <p:cNvPr id="31" name="Shape 26"/>
          <p:cNvSpPr/>
          <p:nvPr/>
        </p:nvSpPr>
        <p:spPr>
          <a:xfrm>
            <a:off x="4297680" y="5303520"/>
            <a:ext cx="3593592" cy="777240"/>
          </a:xfrm>
          <a:prstGeom prst="roundRect">
            <a:avLst>
              <a:gd name="adj" fmla="val 14118"/>
            </a:avLst>
          </a:prstGeom>
          <a:solidFill>
            <a:srgbClr val="221E58"/>
          </a:solidFill>
          <a:ln w="12700">
            <a:solidFill>
              <a:srgbClr val="8B7CFF"/>
            </a:solidFill>
            <a:prstDash val="solid"/>
          </a:ln>
        </p:spPr>
      </p:sp>
      <p:pic>
        <p:nvPicPr>
          <p:cNvPr id="32" name="Image 2" descr="preencoded.png">    </p:cNvPr>
          <p:cNvPicPr>
            <a:picLocks noChangeAspect="1"/>
          </p:cNvPicPr>
          <p:nvPr/>
        </p:nvPicPr>
        <p:blipFill>
          <a:blip r:embed="rId4"/>
          <a:stretch>
            <a:fillRect/>
          </a:stretch>
        </p:blipFill>
        <p:spPr>
          <a:xfrm>
            <a:off x="4526280" y="5486400"/>
            <a:ext cx="411480" cy="411480"/>
          </a:xfrm>
          <a:prstGeom prst="rect">
            <a:avLst/>
          </a:prstGeom>
        </p:spPr>
      </p:pic>
      <p:sp>
        <p:nvSpPr>
          <p:cNvPr id="33" name="Text 27"/>
          <p:cNvSpPr txBox="1"/>
          <p:nvPr/>
        </p:nvSpPr>
        <p:spPr>
          <a:xfrm>
            <a:off x="5120640" y="5303520"/>
            <a:ext cx="2651760" cy="777240"/>
          </a:xfrm>
          <a:prstGeom prst="rect">
            <a:avLst/>
          </a:prstGeom>
          <a:noFill/>
          <a:ln/>
        </p:spPr>
        <p:txBody>
          <a:bodyPr wrap="square" lIns="0" tIns="0" rIns="0" bIns="0" rtlCol="0" anchor="ctr"/>
          <a:lstStyle/>
          <a:p>
            <a:pPr indent="0" marL="0">
              <a:buNone/>
            </a:pPr>
            <a:r>
              <a:rPr lang="en-US" sz="1500" b="1" dirty="0">
                <a:solidFill>
                  <a:srgbClr val="F4F3FF"/>
                </a:solidFill>
                <a:latin typeface="Calibri" pitchFamily="34" charset="0"/>
                <a:ea typeface="Calibri" pitchFamily="34" charset="-122"/>
                <a:cs typeface="Calibri" pitchFamily="34" charset="-120"/>
              </a:rPr>
              <a:t>Less work for the server</a:t>
            </a:r>
            <a:endParaRPr lang="en-US" sz="1500" dirty="0"/>
          </a:p>
        </p:txBody>
      </p:sp>
      <p:sp>
        <p:nvSpPr>
          <p:cNvPr id="34" name="Shape 28"/>
          <p:cNvSpPr/>
          <p:nvPr/>
        </p:nvSpPr>
        <p:spPr>
          <a:xfrm>
            <a:off x="8046720" y="5303520"/>
            <a:ext cx="3593592" cy="777240"/>
          </a:xfrm>
          <a:prstGeom prst="roundRect">
            <a:avLst>
              <a:gd name="adj" fmla="val 14118"/>
            </a:avLst>
          </a:prstGeom>
          <a:solidFill>
            <a:srgbClr val="221E58"/>
          </a:solidFill>
          <a:ln w="12700">
            <a:solidFill>
              <a:srgbClr val="8B7CFF"/>
            </a:solidFill>
            <a:prstDash val="solid"/>
          </a:ln>
        </p:spPr>
      </p:sp>
      <p:pic>
        <p:nvPicPr>
          <p:cNvPr id="35" name="Image 3" descr="preencoded.png">    </p:cNvPr>
          <p:cNvPicPr>
            <a:picLocks noChangeAspect="1"/>
          </p:cNvPicPr>
          <p:nvPr/>
        </p:nvPicPr>
        <p:blipFill>
          <a:blip r:embed="rId5"/>
          <a:stretch>
            <a:fillRect/>
          </a:stretch>
        </p:blipFill>
        <p:spPr>
          <a:xfrm>
            <a:off x="8275320" y="5486400"/>
            <a:ext cx="411480" cy="411480"/>
          </a:xfrm>
          <a:prstGeom prst="rect">
            <a:avLst/>
          </a:prstGeom>
        </p:spPr>
      </p:pic>
      <p:sp>
        <p:nvSpPr>
          <p:cNvPr id="36" name="Text 29"/>
          <p:cNvSpPr txBox="1"/>
          <p:nvPr/>
        </p:nvSpPr>
        <p:spPr>
          <a:xfrm>
            <a:off x="8869680" y="5303520"/>
            <a:ext cx="2651760" cy="777240"/>
          </a:xfrm>
          <a:prstGeom prst="rect">
            <a:avLst/>
          </a:prstGeom>
          <a:noFill/>
          <a:ln/>
        </p:spPr>
        <p:txBody>
          <a:bodyPr wrap="square" lIns="0" tIns="0" rIns="0" bIns="0" rtlCol="0" anchor="ctr"/>
          <a:lstStyle/>
          <a:p>
            <a:pPr indent="0" marL="0">
              <a:buNone/>
            </a:pPr>
            <a:r>
              <a:rPr lang="en-US" sz="1500" b="1" dirty="0">
                <a:solidFill>
                  <a:srgbClr val="F4F3FF"/>
                </a:solidFill>
                <a:latin typeface="Calibri" pitchFamily="34" charset="0"/>
                <a:ea typeface="Calibri" pitchFamily="34" charset="-122"/>
                <a:cs typeface="Calibri" pitchFamily="34" charset="-120"/>
              </a:rPr>
              <a:t>Fewer calls to slow APIs</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50"/>
                                        <p:tgtEl>
                                          <p:spTgt spid="10"/>
                                        </p:tgtEl>
                                      </p:cBhvr>
                                    </p:animEffect>
                                  </p:childTnLst>
                                </p:cTn>
                              </p:par>
                              <p:par>
                                <p:cTn id="6" presetID="10" presetClass="entr" presetSubtype="0" fill="hold"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50"/>
                                        <p:tgtEl>
                                          <p:spTgt spid="11"/>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50"/>
                                        <p:tgtEl>
                                          <p:spTgt spid="12"/>
                                        </p:tgtEl>
                                      </p:cBhvr>
                                    </p:animEffect>
                                  </p:childTnLst>
                                </p:cTn>
                              </p:par>
                              <p:par>
                                <p:cTn id="12" presetID="10"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50"/>
                                        <p:tgtEl>
                                          <p:spTgt spid="17"/>
                                        </p:tgtEl>
                                      </p:cBhvr>
                                    </p:animEffect>
                                  </p:childTnLst>
                                </p:cTn>
                              </p:par>
                            </p:childTnLst>
                          </p:cTn>
                        </p:par>
                      </p:childTnLst>
                    </p:cTn>
                  </p:par>
                  <p:par>
                    <p:cTn id="47" fill="hold">
                      <p:stCondLst>
                        <p:cond delay="indefinite"/>
                      </p:stCondLst>
                      <p:childTnLst>
                        <p:par>
                          <p:cTn id="4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50"/>
                                        <p:tgtEl>
                                          <p:spTgt spid="21"/>
                                        </p:tgtEl>
                                      </p:cBhvr>
                                    </p:animEffect>
                                  </p:childTnLst>
                                </p:cTn>
                              </p:par>
                              <p:par>
                                <p:cTn id="32" presetID="10"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childTnLst>
                                </p:cTn>
                              </p:par>
                              <p:par>
                                <p:cTn id="35" presetID="10"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450"/>
                                        <p:tgtEl>
                                          <p:spTgt spid="23"/>
                                        </p:tgtEl>
                                      </p:cBhvr>
                                    </p:animEffect>
                                  </p:childTnLst>
                                </p:cTn>
                              </p:par>
                              <p:par>
                                <p:cTn id="38" presetID="10" presetClass="entr" presetSubtype="0" fill="hold"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450"/>
                                        <p:tgtEl>
                                          <p:spTgt spid="24"/>
                                        </p:tgtEl>
                                      </p:cBhvr>
                                    </p:animEffect>
                                  </p:childTnLst>
                                </p:cTn>
                              </p:par>
                              <p:par>
                                <p:cTn id="41" presetID="10"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450"/>
                                        <p:tgtEl>
                                          <p:spTgt spid="25"/>
                                        </p:tgtEl>
                                      </p:cBhvr>
                                    </p:animEffect>
                                  </p:childTnLst>
                                </p:cTn>
                              </p:par>
                              <p:par>
                                <p:cTn id="44" presetID="10" presetClass="entr" presetSubtype="0" fill="hold" nodeType="withEffect">
                                  <p:stCondLst>
                                    <p:cond delay="0"/>
                                  </p:stCondLst>
                                  <p:childTnLst>
                                    <p:set>
                                      <p:cBhvr>
                                        <p:cTn id="45" dur="1" fill="hold">
                                          <p:stCondLst>
                                            <p:cond delay="0"/>
                                          </p:stCondLst>
                                        </p:cTn>
                                        <p:tgtEl>
                                          <p:spTgt spid="26"/>
                                        </p:tgtEl>
                                        <p:attrNameLst>
                                          <p:attrName>style.visibility</p:attrName>
                                        </p:attrNameLst>
                                      </p:cBhvr>
                                      <p:to>
                                        <p:strVal val="visible"/>
                                      </p:to>
                                    </p:set>
                                    <p:animEffect transition="in" filter="fade">
                                      <p:cBhvr>
                                        <p:cTn id="46" dur="4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CACHING</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Caching lives at several levels</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23</a:t>
            </a:r>
            <a:endParaRPr lang="en-US" sz="1100" dirty="0"/>
          </a:p>
        </p:txBody>
      </p:sp>
      <p:sp>
        <p:nvSpPr>
          <p:cNvPr id="7" name="A1_ly"/>
          <p:cNvSpPr/>
          <p:nvPr/>
        </p:nvSpPr>
        <p:spPr>
          <a:xfrm>
            <a:off x="548640" y="1600200"/>
            <a:ext cx="6949440" cy="960120"/>
          </a:xfrm>
          <a:prstGeom prst="roundRect">
            <a:avLst>
              <a:gd name="adj" fmla="val 11429"/>
            </a:avLst>
          </a:prstGeom>
          <a:solidFill>
            <a:srgbClr val="17143F"/>
          </a:solidFill>
          <a:ln w="12700">
            <a:solidFill>
              <a:srgbClr val="FBBF24"/>
            </a:solidFill>
            <a:prstDash val="solid"/>
          </a:ln>
        </p:spPr>
      </p:sp>
      <p:sp>
        <p:nvSpPr>
          <p:cNvPr id="8" name="A1_bdg"/>
          <p:cNvSpPr/>
          <p:nvPr/>
        </p:nvSpPr>
        <p:spPr>
          <a:xfrm>
            <a:off x="868680" y="1805940"/>
            <a:ext cx="548640" cy="548640"/>
          </a:xfrm>
          <a:prstGeom prst="ellipse">
            <a:avLst/>
          </a:prstGeom>
          <a:solidFill>
            <a:srgbClr val="221E58"/>
          </a:solidFill>
          <a:ln w="15875">
            <a:solidFill>
              <a:srgbClr val="FBBF24"/>
            </a:solidFill>
            <a:prstDash val="solid"/>
          </a:ln>
        </p:spPr>
      </p:sp>
      <p:pic>
        <p:nvPicPr>
          <p:cNvPr id="9" name="A1_bico" descr="preencoded.png">    </p:cNvPr>
          <p:cNvPicPr>
            <a:picLocks noChangeAspect="1"/>
          </p:cNvPicPr>
          <p:nvPr/>
        </p:nvPicPr>
        <p:blipFill>
          <a:blip r:embed="rId3"/>
          <a:stretch>
            <a:fillRect/>
          </a:stretch>
        </p:blipFill>
        <p:spPr>
          <a:xfrm>
            <a:off x="1005840" y="1943100"/>
            <a:ext cx="274320" cy="274320"/>
          </a:xfrm>
          <a:prstGeom prst="rect">
            <a:avLst/>
          </a:prstGeom>
        </p:spPr>
      </p:pic>
      <p:sp>
        <p:nvSpPr>
          <p:cNvPr id="10" name="A1_lt"/>
          <p:cNvSpPr txBox="1"/>
          <p:nvPr/>
        </p:nvSpPr>
        <p:spPr>
          <a:xfrm>
            <a:off x="1691640" y="1709928"/>
            <a:ext cx="4114800" cy="320040"/>
          </a:xfrm>
          <a:prstGeom prst="rect">
            <a:avLst/>
          </a:prstGeom>
          <a:noFill/>
          <a:ln/>
        </p:spPr>
        <p:txBody>
          <a:bodyPr wrap="square" lIns="0" tIns="0" rIns="0" bIns="0" rtlCol="0" anchor="t"/>
          <a:lstStyle/>
          <a:p>
            <a:pPr indent="0" marL="0">
              <a:buNone/>
            </a:pPr>
            <a:r>
              <a:rPr lang="en-US" sz="1700" b="1" dirty="0">
                <a:solidFill>
                  <a:srgbClr val="F4F3FF"/>
                </a:solidFill>
                <a:latin typeface="Calibri" pitchFamily="34" charset="0"/>
                <a:ea typeface="Calibri" pitchFamily="34" charset="-122"/>
                <a:cs typeface="Calibri" pitchFamily="34" charset="-120"/>
              </a:rPr>
              <a:t>In the browser</a:t>
            </a:r>
            <a:endParaRPr lang="en-US" sz="1700" dirty="0"/>
          </a:p>
        </p:txBody>
      </p:sp>
      <p:sp>
        <p:nvSpPr>
          <p:cNvPr id="11" name="A1_ld"/>
          <p:cNvSpPr txBox="1"/>
          <p:nvPr/>
        </p:nvSpPr>
        <p:spPr>
          <a:xfrm>
            <a:off x="1691640" y="2057400"/>
            <a:ext cx="4480560" cy="45720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Pages you already visited come back instantly.</a:t>
            </a:r>
            <a:endParaRPr lang="en-US" sz="1200" dirty="0"/>
          </a:p>
        </p:txBody>
      </p:sp>
      <p:sp>
        <p:nvSpPr>
          <p:cNvPr id="12" name="A2_ly"/>
          <p:cNvSpPr/>
          <p:nvPr/>
        </p:nvSpPr>
        <p:spPr>
          <a:xfrm>
            <a:off x="548640" y="2743200"/>
            <a:ext cx="6949440" cy="960120"/>
          </a:xfrm>
          <a:prstGeom prst="roundRect">
            <a:avLst>
              <a:gd name="adj" fmla="val 11429"/>
            </a:avLst>
          </a:prstGeom>
          <a:solidFill>
            <a:srgbClr val="17143F"/>
          </a:solidFill>
          <a:ln w="12700">
            <a:solidFill>
              <a:srgbClr val="8B7CFF"/>
            </a:solidFill>
            <a:prstDash val="solid"/>
          </a:ln>
        </p:spPr>
      </p:sp>
      <p:sp>
        <p:nvSpPr>
          <p:cNvPr id="13" name="A2_bdg"/>
          <p:cNvSpPr/>
          <p:nvPr/>
        </p:nvSpPr>
        <p:spPr>
          <a:xfrm>
            <a:off x="868680" y="2948940"/>
            <a:ext cx="548640" cy="548640"/>
          </a:xfrm>
          <a:prstGeom prst="ellipse">
            <a:avLst/>
          </a:prstGeom>
          <a:solidFill>
            <a:srgbClr val="221E58"/>
          </a:solidFill>
          <a:ln w="15875">
            <a:solidFill>
              <a:srgbClr val="8B7CFF"/>
            </a:solidFill>
            <a:prstDash val="solid"/>
          </a:ln>
        </p:spPr>
      </p:sp>
      <p:pic>
        <p:nvPicPr>
          <p:cNvPr id="14" name="A2_bico" descr="preencoded.png">    </p:cNvPr>
          <p:cNvPicPr>
            <a:picLocks noChangeAspect="1"/>
          </p:cNvPicPr>
          <p:nvPr/>
        </p:nvPicPr>
        <p:blipFill>
          <a:blip r:embed="rId4"/>
          <a:stretch>
            <a:fillRect/>
          </a:stretch>
        </p:blipFill>
        <p:spPr>
          <a:xfrm>
            <a:off x="1005840" y="3086100"/>
            <a:ext cx="274320" cy="274320"/>
          </a:xfrm>
          <a:prstGeom prst="rect">
            <a:avLst/>
          </a:prstGeom>
        </p:spPr>
      </p:pic>
      <p:sp>
        <p:nvSpPr>
          <p:cNvPr id="15" name="A2_lt"/>
          <p:cNvSpPr txBox="1"/>
          <p:nvPr/>
        </p:nvSpPr>
        <p:spPr>
          <a:xfrm>
            <a:off x="1691640" y="2852928"/>
            <a:ext cx="4114800" cy="320040"/>
          </a:xfrm>
          <a:prstGeom prst="rect">
            <a:avLst/>
          </a:prstGeom>
          <a:noFill/>
          <a:ln/>
        </p:spPr>
        <p:txBody>
          <a:bodyPr wrap="square" lIns="0" tIns="0" rIns="0" bIns="0" rtlCol="0" anchor="t"/>
          <a:lstStyle/>
          <a:p>
            <a:pPr indent="0" marL="0">
              <a:buNone/>
            </a:pPr>
            <a:r>
              <a:rPr lang="en-US" sz="1700" b="1" dirty="0">
                <a:solidFill>
                  <a:srgbClr val="F4F3FF"/>
                </a:solidFill>
                <a:latin typeface="Calibri" pitchFamily="34" charset="0"/>
                <a:ea typeface="Calibri" pitchFamily="34" charset="-122"/>
                <a:cs typeface="Calibri" pitchFamily="34" charset="-120"/>
              </a:rPr>
              <a:t>Saved pages</a:t>
            </a:r>
            <a:endParaRPr lang="en-US" sz="1700" dirty="0"/>
          </a:p>
        </p:txBody>
      </p:sp>
      <p:sp>
        <p:nvSpPr>
          <p:cNvPr id="16" name="A2_ld"/>
          <p:cNvSpPr txBox="1"/>
          <p:nvPr/>
        </p:nvSpPr>
        <p:spPr>
          <a:xfrm>
            <a:off x="1691640" y="3200400"/>
            <a:ext cx="4480560" cy="45720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Static and ISR pages are stored as ready HTML.</a:t>
            </a:r>
            <a:endParaRPr lang="en-US" sz="1200" dirty="0"/>
          </a:p>
        </p:txBody>
      </p:sp>
      <p:sp>
        <p:nvSpPr>
          <p:cNvPr id="17" name="A2_tag"/>
          <p:cNvSpPr txBox="1"/>
          <p:nvPr/>
        </p:nvSpPr>
        <p:spPr>
          <a:xfrm>
            <a:off x="5852160" y="3063240"/>
            <a:ext cx="1463040" cy="320040"/>
          </a:xfrm>
          <a:prstGeom prst="roundRect">
            <a:avLst>
              <a:gd name="adj" fmla="val 48571"/>
            </a:avLst>
          </a:prstGeom>
          <a:solidFill>
            <a:srgbClr val="0C0A20"/>
          </a:solidFill>
          <a:ln w="12700">
            <a:solidFill>
              <a:srgbClr val="8B7CFF"/>
            </a:solidFill>
            <a:prstDash val="solid"/>
          </a:ln>
        </p:spPr>
        <p:txBody>
          <a:bodyPr wrap="square" lIns="50800" tIns="50800" rIns="50800" bIns="50800" rtlCol="0" anchor="ctr"/>
          <a:lstStyle/>
          <a:p>
            <a:pPr algn="ctr" indent="0" marL="0">
              <a:buNone/>
            </a:pPr>
            <a:r>
              <a:rPr lang="en-US" sz="1000" b="1" dirty="0">
                <a:solidFill>
                  <a:srgbClr val="8B7CFF"/>
                </a:solidFill>
                <a:latin typeface="Calibri" pitchFamily="34" charset="0"/>
                <a:ea typeface="Calibri" pitchFamily="34" charset="-122"/>
                <a:cs typeface="Calibri" pitchFamily="34" charset="-120"/>
              </a:rPr>
              <a:t>Rendering</a:t>
            </a:r>
            <a:endParaRPr lang="en-US" sz="1000" dirty="0"/>
          </a:p>
        </p:txBody>
      </p:sp>
      <p:sp>
        <p:nvSpPr>
          <p:cNvPr id="18" name="A3_ly"/>
          <p:cNvSpPr/>
          <p:nvPr/>
        </p:nvSpPr>
        <p:spPr>
          <a:xfrm>
            <a:off x="548640" y="3886200"/>
            <a:ext cx="6949440" cy="960120"/>
          </a:xfrm>
          <a:prstGeom prst="roundRect">
            <a:avLst>
              <a:gd name="adj" fmla="val 11429"/>
            </a:avLst>
          </a:prstGeom>
          <a:solidFill>
            <a:srgbClr val="17143F"/>
          </a:solidFill>
          <a:ln w="12700">
            <a:solidFill>
              <a:srgbClr val="22D3EE"/>
            </a:solidFill>
            <a:prstDash val="solid"/>
          </a:ln>
        </p:spPr>
      </p:sp>
      <p:sp>
        <p:nvSpPr>
          <p:cNvPr id="19" name="A3_bdg"/>
          <p:cNvSpPr/>
          <p:nvPr/>
        </p:nvSpPr>
        <p:spPr>
          <a:xfrm>
            <a:off x="868680" y="4091940"/>
            <a:ext cx="548640" cy="548640"/>
          </a:xfrm>
          <a:prstGeom prst="ellipse">
            <a:avLst/>
          </a:prstGeom>
          <a:solidFill>
            <a:srgbClr val="221E58"/>
          </a:solidFill>
          <a:ln w="15875">
            <a:solidFill>
              <a:srgbClr val="22D3EE"/>
            </a:solidFill>
            <a:prstDash val="solid"/>
          </a:ln>
        </p:spPr>
      </p:sp>
      <p:pic>
        <p:nvPicPr>
          <p:cNvPr id="20" name="A3_bico" descr="preencoded.png">    </p:cNvPr>
          <p:cNvPicPr>
            <a:picLocks noChangeAspect="1"/>
          </p:cNvPicPr>
          <p:nvPr/>
        </p:nvPicPr>
        <p:blipFill>
          <a:blip r:embed="rId5"/>
          <a:stretch>
            <a:fillRect/>
          </a:stretch>
        </p:blipFill>
        <p:spPr>
          <a:xfrm>
            <a:off x="1005840" y="4229100"/>
            <a:ext cx="274320" cy="274320"/>
          </a:xfrm>
          <a:prstGeom prst="rect">
            <a:avLst/>
          </a:prstGeom>
        </p:spPr>
      </p:pic>
      <p:sp>
        <p:nvSpPr>
          <p:cNvPr id="21" name="A3_lt"/>
          <p:cNvSpPr txBox="1"/>
          <p:nvPr/>
        </p:nvSpPr>
        <p:spPr>
          <a:xfrm>
            <a:off x="1691640" y="3995928"/>
            <a:ext cx="4114800" cy="320040"/>
          </a:xfrm>
          <a:prstGeom prst="rect">
            <a:avLst/>
          </a:prstGeom>
          <a:noFill/>
          <a:ln/>
        </p:spPr>
        <p:txBody>
          <a:bodyPr wrap="square" lIns="0" tIns="0" rIns="0" bIns="0" rtlCol="0" anchor="t"/>
          <a:lstStyle/>
          <a:p>
            <a:pPr indent="0" marL="0">
              <a:buNone/>
            </a:pPr>
            <a:r>
              <a:rPr lang="en-US" sz="1700" b="1" dirty="0">
                <a:solidFill>
                  <a:srgbClr val="F4F3FF"/>
                </a:solidFill>
                <a:latin typeface="Calibri" pitchFamily="34" charset="0"/>
                <a:ea typeface="Calibri" pitchFamily="34" charset="-122"/>
                <a:cs typeface="Calibri" pitchFamily="34" charset="-120"/>
              </a:rPr>
              <a:t>Saved data</a:t>
            </a:r>
            <a:endParaRPr lang="en-US" sz="1700" dirty="0"/>
          </a:p>
        </p:txBody>
      </p:sp>
      <p:sp>
        <p:nvSpPr>
          <p:cNvPr id="22" name="A3_ld"/>
          <p:cNvSpPr txBox="1"/>
          <p:nvPr/>
        </p:nvSpPr>
        <p:spPr>
          <a:xfrm>
            <a:off x="1691640" y="4343400"/>
            <a:ext cx="4480560" cy="45720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Results of fetch calls are stored and reused.</a:t>
            </a:r>
            <a:endParaRPr lang="en-US" sz="1200" dirty="0"/>
          </a:p>
        </p:txBody>
      </p:sp>
      <p:sp>
        <p:nvSpPr>
          <p:cNvPr id="23" name="A3_tag"/>
          <p:cNvSpPr txBox="1"/>
          <p:nvPr/>
        </p:nvSpPr>
        <p:spPr>
          <a:xfrm>
            <a:off x="5852160" y="4206240"/>
            <a:ext cx="1463040" cy="320040"/>
          </a:xfrm>
          <a:prstGeom prst="roundRect">
            <a:avLst>
              <a:gd name="adj" fmla="val 48571"/>
            </a:avLst>
          </a:prstGeom>
          <a:solidFill>
            <a:srgbClr val="0C0A20"/>
          </a:solidFill>
          <a:ln w="12700">
            <a:solidFill>
              <a:srgbClr val="22D3EE"/>
            </a:solidFill>
            <a:prstDash val="solid"/>
          </a:ln>
        </p:spPr>
        <p:txBody>
          <a:bodyPr wrap="square" lIns="50800" tIns="50800" rIns="50800" bIns="50800" rtlCol="0" anchor="ctr"/>
          <a:lstStyle/>
          <a:p>
            <a:pPr algn="ctr" indent="0" marL="0">
              <a:buNone/>
            </a:pPr>
            <a:r>
              <a:rPr lang="en-US" sz="1000" b="1" dirty="0">
                <a:solidFill>
                  <a:srgbClr val="22D3EE"/>
                </a:solidFill>
                <a:latin typeface="Calibri" pitchFamily="34" charset="0"/>
                <a:ea typeface="Calibri" pitchFamily="34" charset="-122"/>
                <a:cs typeface="Calibri" pitchFamily="34" charset="-120"/>
              </a:rPr>
              <a:t>Data fetching</a:t>
            </a:r>
            <a:endParaRPr lang="en-US" sz="1000" dirty="0"/>
          </a:p>
        </p:txBody>
      </p:sp>
      <p:sp>
        <p:nvSpPr>
          <p:cNvPr id="24" name="A4_ly"/>
          <p:cNvSpPr/>
          <p:nvPr/>
        </p:nvSpPr>
        <p:spPr>
          <a:xfrm>
            <a:off x="548640" y="5029200"/>
            <a:ext cx="6949440" cy="960120"/>
          </a:xfrm>
          <a:prstGeom prst="roundRect">
            <a:avLst>
              <a:gd name="adj" fmla="val 11429"/>
            </a:avLst>
          </a:prstGeom>
          <a:solidFill>
            <a:srgbClr val="17143F"/>
          </a:solidFill>
          <a:ln w="12700">
            <a:solidFill>
              <a:srgbClr val="FB7185"/>
            </a:solidFill>
            <a:prstDash val="solid"/>
          </a:ln>
        </p:spPr>
      </p:sp>
      <p:sp>
        <p:nvSpPr>
          <p:cNvPr id="25" name="A4_bdg"/>
          <p:cNvSpPr/>
          <p:nvPr/>
        </p:nvSpPr>
        <p:spPr>
          <a:xfrm>
            <a:off x="868680" y="5234940"/>
            <a:ext cx="548640" cy="548640"/>
          </a:xfrm>
          <a:prstGeom prst="ellipse">
            <a:avLst/>
          </a:prstGeom>
          <a:solidFill>
            <a:srgbClr val="221E58"/>
          </a:solidFill>
          <a:ln w="15875">
            <a:solidFill>
              <a:srgbClr val="FB7185"/>
            </a:solidFill>
            <a:prstDash val="solid"/>
          </a:ln>
        </p:spPr>
      </p:sp>
      <p:pic>
        <p:nvPicPr>
          <p:cNvPr id="26" name="A4_bico" descr="preencoded.png">    </p:cNvPr>
          <p:cNvPicPr>
            <a:picLocks noChangeAspect="1"/>
          </p:cNvPicPr>
          <p:nvPr/>
        </p:nvPicPr>
        <p:blipFill>
          <a:blip r:embed="rId6"/>
          <a:stretch>
            <a:fillRect/>
          </a:stretch>
        </p:blipFill>
        <p:spPr>
          <a:xfrm>
            <a:off x="1005840" y="5372100"/>
            <a:ext cx="274320" cy="274320"/>
          </a:xfrm>
          <a:prstGeom prst="rect">
            <a:avLst/>
          </a:prstGeom>
        </p:spPr>
      </p:pic>
      <p:sp>
        <p:nvSpPr>
          <p:cNvPr id="27" name="A4_lt"/>
          <p:cNvSpPr txBox="1"/>
          <p:nvPr/>
        </p:nvSpPr>
        <p:spPr>
          <a:xfrm>
            <a:off x="1691640" y="5138928"/>
            <a:ext cx="4114800" cy="320040"/>
          </a:xfrm>
          <a:prstGeom prst="rect">
            <a:avLst/>
          </a:prstGeom>
          <a:noFill/>
          <a:ln/>
        </p:spPr>
        <p:txBody>
          <a:bodyPr wrap="square" lIns="0" tIns="0" rIns="0" bIns="0" rtlCol="0" anchor="t"/>
          <a:lstStyle/>
          <a:p>
            <a:pPr indent="0" marL="0">
              <a:buNone/>
            </a:pPr>
            <a:r>
              <a:rPr lang="en-US" sz="1700" b="1" dirty="0">
                <a:solidFill>
                  <a:srgbClr val="F4F3FF"/>
                </a:solidFill>
                <a:latin typeface="Calibri" pitchFamily="34" charset="0"/>
                <a:ea typeface="Calibri" pitchFamily="34" charset="-122"/>
                <a:cs typeface="Calibri" pitchFamily="34" charset="-120"/>
              </a:rPr>
              <a:t>Database / API</a:t>
            </a:r>
            <a:endParaRPr lang="en-US" sz="1700" dirty="0"/>
          </a:p>
        </p:txBody>
      </p:sp>
      <p:sp>
        <p:nvSpPr>
          <p:cNvPr id="28" name="A4_ld"/>
          <p:cNvSpPr txBox="1"/>
          <p:nvPr/>
        </p:nvSpPr>
        <p:spPr>
          <a:xfrm>
            <a:off x="1691640" y="5486400"/>
            <a:ext cx="4480560" cy="45720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The source of truth. Also the slowest stop.</a:t>
            </a:r>
            <a:endParaRPr lang="en-US" sz="1200" dirty="0"/>
          </a:p>
        </p:txBody>
      </p:sp>
      <p:sp>
        <p:nvSpPr>
          <p:cNvPr id="29" name="Shape 21"/>
          <p:cNvSpPr/>
          <p:nvPr/>
        </p:nvSpPr>
        <p:spPr>
          <a:xfrm>
            <a:off x="7863840" y="1737360"/>
            <a:ext cx="0" cy="4069080"/>
          </a:xfrm>
          <a:prstGeom prst="line">
            <a:avLst/>
          </a:prstGeom>
          <a:noFill/>
          <a:ln w="31750">
            <a:solidFill>
              <a:srgbClr val="A8A5D8"/>
            </a:solidFill>
            <a:prstDash val="solid"/>
            <a:tailEnd type="triangle"/>
          </a:ln>
        </p:spPr>
      </p:sp>
      <p:sp>
        <p:nvSpPr>
          <p:cNvPr id="30" name="Text 22"/>
          <p:cNvSpPr txBox="1"/>
          <p:nvPr/>
        </p:nvSpPr>
        <p:spPr>
          <a:xfrm>
            <a:off x="8046720" y="2926080"/>
            <a:ext cx="1463040" cy="457200"/>
          </a:xfrm>
          <a:prstGeom prst="rect">
            <a:avLst/>
          </a:prstGeom>
          <a:noFill/>
          <a:ln/>
        </p:spPr>
        <p:txBody>
          <a:bodyPr wrap="square" lIns="0" tIns="0" rIns="0" bIns="0" rtlCol="0" anchor="t"/>
          <a:lstStyle/>
          <a:p>
            <a:pPr indent="0" marL="0">
              <a:buNone/>
            </a:pPr>
            <a:r>
              <a:rPr lang="en-US" sz="1200" b="1" dirty="0">
                <a:solidFill>
                  <a:srgbClr val="A8A5D8"/>
                </a:solidFill>
                <a:latin typeface="Calibri" pitchFamily="34" charset="0"/>
                <a:ea typeface="Calibri" pitchFamily="34" charset="-122"/>
                <a:cs typeface="Calibri" pitchFamily="34" charset="-120"/>
              </a:rPr>
              <a:t>Deeper request</a:t>
            </a:r>
            <a:endParaRPr lang="en-US" sz="1200" dirty="0"/>
          </a:p>
        </p:txBody>
      </p:sp>
      <p:sp>
        <p:nvSpPr>
          <p:cNvPr id="31" name="Text 23"/>
          <p:cNvSpPr txBox="1"/>
          <p:nvPr/>
        </p:nvSpPr>
        <p:spPr>
          <a:xfrm>
            <a:off x="8046720" y="3200400"/>
            <a:ext cx="1554480" cy="27432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 slower response</a:t>
            </a:r>
            <a:endParaRPr lang="en-US" sz="1200" dirty="0"/>
          </a:p>
        </p:txBody>
      </p:sp>
      <p:sp>
        <p:nvSpPr>
          <p:cNvPr id="32" name="Shape 24"/>
          <p:cNvSpPr/>
          <p:nvPr/>
        </p:nvSpPr>
        <p:spPr>
          <a:xfrm>
            <a:off x="8412480" y="3931920"/>
            <a:ext cx="3227832" cy="2194560"/>
          </a:xfrm>
          <a:prstGeom prst="roundRect">
            <a:avLst>
              <a:gd name="adj" fmla="val 5000"/>
            </a:avLst>
          </a:prstGeom>
          <a:solidFill>
            <a:srgbClr val="221E58"/>
          </a:solidFill>
          <a:ln w="19050">
            <a:solidFill>
              <a:srgbClr val="8B7CFF"/>
            </a:solidFill>
            <a:prstDash val="solid"/>
          </a:ln>
        </p:spPr>
      </p:sp>
      <p:sp>
        <p:nvSpPr>
          <p:cNvPr id="33" name="Text 25"/>
          <p:cNvSpPr txBox="1"/>
          <p:nvPr/>
        </p:nvSpPr>
        <p:spPr>
          <a:xfrm>
            <a:off x="8595360" y="4041648"/>
            <a:ext cx="2926080" cy="228600"/>
          </a:xfrm>
          <a:prstGeom prst="rect">
            <a:avLst/>
          </a:prstGeom>
          <a:noFill/>
          <a:ln/>
        </p:spPr>
        <p:txBody>
          <a:bodyPr wrap="square" lIns="0" tIns="0" rIns="0" bIns="0" rtlCol="0" anchor="t"/>
          <a:lstStyle/>
          <a:p>
            <a:pPr indent="0" marL="0">
              <a:buNone/>
            </a:pPr>
            <a:r>
              <a:rPr lang="en-US" sz="1000" b="1" spc="200" kern="0" dirty="0">
                <a:solidFill>
                  <a:srgbClr val="8B7CFF"/>
                </a:solidFill>
                <a:latin typeface="Calibri" pitchFamily="34" charset="0"/>
                <a:ea typeface="Calibri" pitchFamily="34" charset="-122"/>
                <a:cs typeface="Calibri" pitchFamily="34" charset="-120"/>
              </a:rPr>
              <a:t>A HIT STOPS EARLY</a:t>
            </a:r>
            <a:endParaRPr lang="en-US" sz="1000" dirty="0"/>
          </a:p>
        </p:txBody>
      </p:sp>
      <p:sp>
        <p:nvSpPr>
          <p:cNvPr id="34" name="Text 26"/>
          <p:cNvSpPr txBox="1"/>
          <p:nvPr/>
        </p:nvSpPr>
        <p:spPr>
          <a:xfrm>
            <a:off x="8595360" y="4343400"/>
            <a:ext cx="2880360" cy="822960"/>
          </a:xfrm>
          <a:prstGeom prst="rect">
            <a:avLst/>
          </a:prstGeom>
          <a:noFill/>
          <a:ln/>
        </p:spPr>
        <p:txBody>
          <a:bodyPr wrap="square" lIns="0" tIns="0" rIns="0" bIns="0" rtlCol="0" anchor="t"/>
          <a:lstStyle/>
          <a:p>
            <a:pPr indent="0" marL="0">
              <a:buNone/>
            </a:pPr>
            <a:r>
              <a:rPr lang="en-US" sz="1300" dirty="0">
                <a:solidFill>
                  <a:srgbClr val="F4F3FF"/>
                </a:solidFill>
                <a:latin typeface="Calibri" pitchFamily="34" charset="0"/>
                <a:ea typeface="Calibri" pitchFamily="34" charset="-122"/>
                <a:cs typeface="Calibri" pitchFamily="34" charset="-120"/>
              </a:rPr>
              <a:t>The higher the layer that answers, the faster the user sees the page.</a:t>
            </a:r>
            <a:endParaRPr lang="en-US" sz="1300" dirty="0"/>
          </a:p>
        </p:txBody>
      </p:sp>
      <p:sp>
        <p:nvSpPr>
          <p:cNvPr id="35" name="Text 27"/>
          <p:cNvSpPr txBox="1"/>
          <p:nvPr/>
        </p:nvSpPr>
        <p:spPr>
          <a:xfrm>
            <a:off x="8595360" y="5257800"/>
            <a:ext cx="2880360" cy="640080"/>
          </a:xfrm>
          <a:prstGeom prst="roundRect">
            <a:avLst>
              <a:gd name="adj" fmla="val 14286"/>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400" dirty="0">
                <a:solidFill>
                  <a:srgbClr val="E6E4FF"/>
                </a:solidFill>
                <a:latin typeface="Courier New" pitchFamily="34" charset="0"/>
                <a:ea typeface="Courier New" pitchFamily="34" charset="-122"/>
                <a:cs typeface="Courier New" pitchFamily="34" charset="-120"/>
              </a:rPr>
              <a:t>revalidate</a:t>
            </a:r>
            <a:pPr algn="l" indent="0" marL="0">
              <a:buNone/>
            </a:pPr>
            <a:r>
              <a:rPr lang="en-US" sz="1400" dirty="0">
                <a:solidFill>
                  <a:srgbClr val="D6D3FF"/>
                </a:solidFill>
                <a:latin typeface="Courier New" pitchFamily="34" charset="0"/>
                <a:ea typeface="Courier New" pitchFamily="34" charset="-122"/>
                <a:cs typeface="Courier New" pitchFamily="34" charset="-120"/>
              </a:rPr>
              <a:t>: 60</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5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5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38" fill="hold">
                      <p:stCondLst>
                        <p:cond delay="indefinite"/>
                      </p:stCondLst>
                      <p:childTnLst>
                        <p:par>
                          <p:cTn id="3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5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5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5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50"/>
                                        <p:tgtEl>
                                          <p:spTgt spid="16"/>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50"/>
                                        <p:tgtEl>
                                          <p:spTgt spid="17"/>
                                        </p:tgtEl>
                                      </p:cBhvr>
                                    </p:animEffect>
                                  </p:childTnLst>
                                </p:cTn>
                              </p:par>
                            </p:childTnLst>
                          </p:cTn>
                        </p:par>
                      </p:childTnLst>
                    </p:cTn>
                  </p:par>
                  <p:par>
                    <p:cTn id="58" fill="hold">
                      <p:stCondLst>
                        <p:cond delay="indefinite"/>
                      </p:stCondLst>
                      <p:childTnLst>
                        <p:par>
                          <p:cTn id="5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50"/>
                                        <p:tgtEl>
                                          <p:spTgt spid="18"/>
                                        </p:tgtEl>
                                      </p:cBhvr>
                                    </p:animEffect>
                                  </p:childTnLst>
                                </p:cTn>
                              </p:par>
                              <p:par>
                                <p:cTn id="43" presetID="10"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50"/>
                                        <p:tgtEl>
                                          <p:spTgt spid="19"/>
                                        </p:tgtEl>
                                      </p:cBhvr>
                                    </p:animEffect>
                                  </p:childTnLst>
                                </p:cTn>
                              </p:par>
                              <p:par>
                                <p:cTn id="46" presetID="10" presetClass="entr" presetSubtype="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50"/>
                                        <p:tgtEl>
                                          <p:spTgt spid="20"/>
                                        </p:tgtEl>
                                      </p:cBhvr>
                                    </p:animEffect>
                                  </p:childTnLst>
                                </p:cTn>
                              </p:par>
                              <p:par>
                                <p:cTn id="49" presetID="10"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50"/>
                                        <p:tgtEl>
                                          <p:spTgt spid="21"/>
                                        </p:tgtEl>
                                      </p:cBhvr>
                                    </p:animEffect>
                                  </p:childTnLst>
                                </p:cTn>
                              </p:par>
                              <p:par>
                                <p:cTn id="52" presetID="10" presetClass="entr" presetSubtype="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50"/>
                                        <p:tgtEl>
                                          <p:spTgt spid="22"/>
                                        </p:tgtEl>
                                      </p:cBhvr>
                                    </p:animEffect>
                                  </p:childTnLst>
                                </p:cTn>
                              </p:par>
                              <p:par>
                                <p:cTn id="55" presetID="10"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450"/>
                                        <p:tgtEl>
                                          <p:spTgt spid="23"/>
                                        </p:tgtEl>
                                      </p:cBhvr>
                                    </p:animEffect>
                                  </p:childTnLst>
                                </p:cTn>
                              </p:par>
                            </p:childTnLst>
                          </p:cTn>
                        </p:par>
                      </p:childTnLst>
                    </p:cTn>
                  </p:par>
                  <p:par>
                    <p:cTn id="75" fill="hold">
                      <p:stCondLst>
                        <p:cond delay="indefinite"/>
                      </p:stCondLst>
                      <p:childTnLst>
                        <p:par>
                          <p:cTn id="76"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450"/>
                                        <p:tgtEl>
                                          <p:spTgt spid="24"/>
                                        </p:tgtEl>
                                      </p:cBhvr>
                                    </p:animEffect>
                                  </p:childTnLst>
                                </p:cTn>
                              </p:par>
                              <p:par>
                                <p:cTn id="63" presetID="10"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450"/>
                                        <p:tgtEl>
                                          <p:spTgt spid="25"/>
                                        </p:tgtEl>
                                      </p:cBhvr>
                                    </p:animEffect>
                                  </p:childTnLst>
                                </p:cTn>
                              </p:par>
                              <p:par>
                                <p:cTn id="66" presetID="10" presetClass="entr" presetSubtype="0" fill="hold"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50"/>
                                        <p:tgtEl>
                                          <p:spTgt spid="26"/>
                                        </p:tgtEl>
                                      </p:cBhvr>
                                    </p:animEffect>
                                  </p:childTnLst>
                                </p:cTn>
                              </p:par>
                              <p:par>
                                <p:cTn id="69" presetID="10" presetClass="entr" presetSubtype="0"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50"/>
                                        <p:tgtEl>
                                          <p:spTgt spid="27"/>
                                        </p:tgtEl>
                                      </p:cBhvr>
                                    </p:animEffect>
                                  </p:childTnLst>
                                </p:cTn>
                              </p:par>
                              <p:par>
                                <p:cTn id="72" presetID="10" presetClass="entr" presetSubtype="0" fill="hold"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STATIC GENERATION</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Dynamic routes + static generation</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24</a:t>
            </a:r>
            <a:endParaRPr lang="en-US" sz="1100" dirty="0"/>
          </a:p>
        </p:txBody>
      </p:sp>
      <p:sp>
        <p:nvSpPr>
          <p:cNvPr id="7" name="A1_c1"/>
          <p:cNvSpPr/>
          <p:nvPr/>
        </p:nvSpPr>
        <p:spPr>
          <a:xfrm>
            <a:off x="548640" y="1600200"/>
            <a:ext cx="2743200" cy="3611880"/>
          </a:xfrm>
          <a:prstGeom prst="roundRect">
            <a:avLst>
              <a:gd name="adj" fmla="val 4000"/>
            </a:avLst>
          </a:prstGeom>
          <a:solidFill>
            <a:srgbClr val="17143F"/>
          </a:solidFill>
          <a:ln w="12700">
            <a:solidFill>
              <a:srgbClr val="FBBF24"/>
            </a:solidFill>
            <a:prstDash val="solid"/>
          </a:ln>
        </p:spPr>
      </p:sp>
      <p:sp>
        <p:nvSpPr>
          <p:cNvPr id="8" name="A1_t"/>
          <p:cNvSpPr txBox="1"/>
          <p:nvPr/>
        </p:nvSpPr>
        <p:spPr>
          <a:xfrm>
            <a:off x="777240" y="1737360"/>
            <a:ext cx="2377440" cy="320040"/>
          </a:xfrm>
          <a:prstGeom prst="rect">
            <a:avLst/>
          </a:prstGeom>
          <a:noFill/>
          <a:ln/>
        </p:spPr>
        <p:txBody>
          <a:bodyPr wrap="square" lIns="0" tIns="0" rIns="0" bIns="0" rtlCol="0" anchor="t"/>
          <a:lstStyle/>
          <a:p>
            <a:pPr indent="0" marL="0">
              <a:buNone/>
            </a:pPr>
            <a:r>
              <a:rPr lang="en-US" sz="1700" b="1" dirty="0">
                <a:solidFill>
                  <a:srgbClr val="F4F3FF"/>
                </a:solidFill>
                <a:latin typeface="Calibri" pitchFamily="34" charset="0"/>
                <a:ea typeface="Calibri" pitchFamily="34" charset="-122"/>
                <a:cs typeface="Calibri" pitchFamily="34" charset="-120"/>
              </a:rPr>
              <a:t>Dynamic route</a:t>
            </a:r>
            <a:endParaRPr lang="en-US" sz="1700" dirty="0"/>
          </a:p>
        </p:txBody>
      </p:sp>
      <p:sp>
        <p:nvSpPr>
          <p:cNvPr id="9" name="A1_code"/>
          <p:cNvSpPr txBox="1"/>
          <p:nvPr/>
        </p:nvSpPr>
        <p:spPr>
          <a:xfrm>
            <a:off x="731520" y="2286000"/>
            <a:ext cx="2377440" cy="685800"/>
          </a:xfrm>
          <a:prstGeom prst="roundRect">
            <a:avLst>
              <a:gd name="adj" fmla="val 13333"/>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100" dirty="0">
                <a:solidFill>
                  <a:srgbClr val="F4F3FF"/>
                </a:solidFill>
                <a:latin typeface="Courier New" pitchFamily="34" charset="0"/>
                <a:ea typeface="Courier New" pitchFamily="34" charset="-122"/>
                <a:cs typeface="Courier New" pitchFamily="34" charset="-120"/>
              </a:rPr>
              <a:t>app/products/</a:t>
            </a:r>
            <a:pPr algn="l" indent="0" marL="0">
              <a:buNone/>
            </a:pPr>
            <a:r>
              <a:rPr lang="en-US" sz="1100" b="1" dirty="0">
                <a:solidFill>
                  <a:srgbClr val="FBBF24"/>
                </a:solidFill>
                <a:latin typeface="Courier New" pitchFamily="34" charset="0"/>
                <a:ea typeface="Courier New" pitchFamily="34" charset="-122"/>
                <a:cs typeface="Courier New" pitchFamily="34" charset="-120"/>
              </a:rPr>
              <a:t>[id]</a:t>
            </a:r>
            <a:pPr algn="l" indent="0" marL="0">
              <a:buNone/>
            </a:pPr>
            <a:r>
              <a:rPr lang="en-US" sz="1100" dirty="0">
                <a:solidFill>
                  <a:srgbClr val="F4F3FF"/>
                </a:solidFill>
                <a:latin typeface="Courier New" pitchFamily="34" charset="0"/>
                <a:ea typeface="Courier New" pitchFamily="34" charset="-122"/>
                <a:cs typeface="Courier New" pitchFamily="34" charset="-120"/>
              </a:rPr>
              <a:t>/page.tsx</a:t>
            </a:r>
            <a:endParaRPr lang="en-US" sz="1100" dirty="0"/>
          </a:p>
        </p:txBody>
      </p:sp>
      <p:sp>
        <p:nvSpPr>
          <p:cNvPr id="10" name="A1_q"/>
          <p:cNvSpPr txBox="1"/>
          <p:nvPr/>
        </p:nvSpPr>
        <p:spPr>
          <a:xfrm>
            <a:off x="777240" y="3017520"/>
            <a:ext cx="2286000" cy="914400"/>
          </a:xfrm>
          <a:prstGeom prst="rect">
            <a:avLst/>
          </a:prstGeom>
          <a:noFill/>
          <a:ln/>
        </p:spPr>
        <p:txBody>
          <a:bodyPr wrap="square" lIns="0" tIns="0" rIns="0" bIns="0" rtlCol="0" anchor="t"/>
          <a:lstStyle/>
          <a:p>
            <a:pPr algn="ctr" indent="0" marL="0">
              <a:buNone/>
            </a:pPr>
            <a:r>
              <a:rPr lang="en-US" sz="6600" b="1" dirty="0">
                <a:solidFill>
                  <a:srgbClr val="FBBF24"/>
                </a:solidFill>
                <a:latin typeface="Calibri" pitchFamily="34" charset="0"/>
                <a:ea typeface="Calibri" pitchFamily="34" charset="-122"/>
                <a:cs typeface="Calibri" pitchFamily="34" charset="-120"/>
              </a:rPr>
              <a:t>?</a:t>
            </a:r>
            <a:endParaRPr lang="en-US" sz="6600" dirty="0"/>
          </a:p>
        </p:txBody>
      </p:sp>
      <p:sp>
        <p:nvSpPr>
          <p:cNvPr id="11" name="A1_d"/>
          <p:cNvSpPr txBox="1"/>
          <p:nvPr/>
        </p:nvSpPr>
        <p:spPr>
          <a:xfrm>
            <a:off x="777240" y="4069080"/>
            <a:ext cx="2377440" cy="82296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Which ids exist? Next.js cannot guess at build time.</a:t>
            </a:r>
            <a:endParaRPr lang="en-US" sz="1300" dirty="0"/>
          </a:p>
        </p:txBody>
      </p:sp>
      <p:sp>
        <p:nvSpPr>
          <p:cNvPr id="12" name="A2_a1"/>
          <p:cNvSpPr/>
          <p:nvPr/>
        </p:nvSpPr>
        <p:spPr>
          <a:xfrm>
            <a:off x="3337560" y="3383280"/>
            <a:ext cx="365760" cy="0"/>
          </a:xfrm>
          <a:prstGeom prst="line">
            <a:avLst/>
          </a:prstGeom>
          <a:noFill/>
          <a:ln w="31750">
            <a:solidFill>
              <a:srgbClr val="8B7CFF"/>
            </a:solidFill>
            <a:prstDash val="solid"/>
            <a:tailEnd type="triangle"/>
          </a:ln>
        </p:spPr>
      </p:sp>
      <p:sp>
        <p:nvSpPr>
          <p:cNvPr id="13" name="A2_c2"/>
          <p:cNvSpPr/>
          <p:nvPr/>
        </p:nvSpPr>
        <p:spPr>
          <a:xfrm>
            <a:off x="3749040" y="1600200"/>
            <a:ext cx="4480560" cy="3611880"/>
          </a:xfrm>
          <a:prstGeom prst="roundRect">
            <a:avLst>
              <a:gd name="adj" fmla="val 3038"/>
            </a:avLst>
          </a:prstGeom>
          <a:solidFill>
            <a:srgbClr val="17143F"/>
          </a:solidFill>
          <a:ln w="12700">
            <a:solidFill>
              <a:srgbClr val="8B7CFF"/>
            </a:solidFill>
            <a:prstDash val="solid"/>
          </a:ln>
        </p:spPr>
      </p:sp>
      <p:sp>
        <p:nvSpPr>
          <p:cNvPr id="14" name="A2_t"/>
          <p:cNvSpPr txBox="1"/>
          <p:nvPr/>
        </p:nvSpPr>
        <p:spPr>
          <a:xfrm>
            <a:off x="3977640" y="1737360"/>
            <a:ext cx="4023360" cy="320040"/>
          </a:xfrm>
          <a:prstGeom prst="rect">
            <a:avLst/>
          </a:prstGeom>
          <a:noFill/>
          <a:ln/>
        </p:spPr>
        <p:txBody>
          <a:bodyPr wrap="square" lIns="0" tIns="0" rIns="0" bIns="0" rtlCol="0" anchor="t"/>
          <a:lstStyle/>
          <a:p>
            <a:pPr indent="0" marL="0">
              <a:buNone/>
            </a:pPr>
            <a:r>
              <a:rPr lang="en-US" sz="1700" b="1" dirty="0">
                <a:solidFill>
                  <a:srgbClr val="8B7CFF"/>
                </a:solidFill>
                <a:latin typeface="Courier New" pitchFamily="34" charset="0"/>
                <a:ea typeface="Courier New" pitchFamily="34" charset="-122"/>
                <a:cs typeface="Courier New" pitchFamily="34" charset="-120"/>
              </a:rPr>
              <a:t>generateStaticParams</a:t>
            </a:r>
            <a:endParaRPr lang="en-US" sz="1700" dirty="0"/>
          </a:p>
        </p:txBody>
      </p:sp>
      <p:sp>
        <p:nvSpPr>
          <p:cNvPr id="15" name="A2_code"/>
          <p:cNvSpPr txBox="1"/>
          <p:nvPr/>
        </p:nvSpPr>
        <p:spPr>
          <a:xfrm>
            <a:off x="3931920" y="2286000"/>
            <a:ext cx="4114800" cy="2377440"/>
          </a:xfrm>
          <a:prstGeom prst="roundRect">
            <a:avLst>
              <a:gd name="adj" fmla="val 3846"/>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000" dirty="0">
                <a:solidFill>
                  <a:srgbClr val="C4B5FD"/>
                </a:solidFill>
                <a:latin typeface="Courier New" pitchFamily="34" charset="0"/>
                <a:ea typeface="Courier New" pitchFamily="34" charset="-122"/>
                <a:cs typeface="Courier New" pitchFamily="34" charset="-120"/>
              </a:rPr>
              <a:t>export</a:t>
            </a:r>
            <a:pPr algn="l" indent="0" marL="0">
              <a:buNone/>
            </a:pPr>
            <a:r>
              <a:rPr lang="en-US" sz="1000" dirty="0">
                <a:solidFill>
                  <a:srgbClr val="D6D3FF"/>
                </a:solidFill>
                <a:latin typeface="Courier New" pitchFamily="34" charset="0"/>
                <a:ea typeface="Courier New" pitchFamily="34" charset="-122"/>
                <a:cs typeface="Courier New" pitchFamily="34" charset="-120"/>
              </a:rPr>
              <a:t> </a:t>
            </a:r>
            <a:pPr algn="l" indent="0" marL="0">
              <a:buNone/>
            </a:pPr>
            <a:r>
              <a:rPr lang="en-US" sz="1000" dirty="0">
                <a:solidFill>
                  <a:srgbClr val="C4B5FD"/>
                </a:solidFill>
                <a:latin typeface="Courier New" pitchFamily="34" charset="0"/>
                <a:ea typeface="Courier New" pitchFamily="34" charset="-122"/>
                <a:cs typeface="Courier New" pitchFamily="34" charset="-120"/>
              </a:rPr>
              <a:t>async</a:t>
            </a:r>
            <a:pPr algn="l" indent="0" marL="0">
              <a:buNone/>
            </a:pPr>
            <a:r>
              <a:rPr lang="en-US" sz="1000" dirty="0">
                <a:solidFill>
                  <a:srgbClr val="D6D3FF"/>
                </a:solidFill>
                <a:latin typeface="Courier New" pitchFamily="34" charset="0"/>
                <a:ea typeface="Courier New" pitchFamily="34" charset="-122"/>
                <a:cs typeface="Courier New" pitchFamily="34" charset="-120"/>
              </a:rPr>
              <a:t> </a:t>
            </a:r>
            <a:pPr algn="l" indent="0" marL="0">
              <a:buNone/>
            </a:pPr>
            <a:r>
              <a:rPr lang="en-US" sz="1000" dirty="0">
                <a:solidFill>
                  <a:srgbClr val="C4B5FD"/>
                </a:solidFill>
                <a:latin typeface="Courier New" pitchFamily="34" charset="0"/>
                <a:ea typeface="Courier New" pitchFamily="34" charset="-122"/>
                <a:cs typeface="Courier New" pitchFamily="34" charset="-120"/>
              </a:rPr>
              <a:t>function</a:t>
            </a:r>
            <a:pPr algn="l" indent="0" marL="0">
              <a:buNone/>
            </a:pPr>
            <a:r>
              <a:rPr lang="en-US" sz="1000" dirty="0">
                <a:solidFill>
                  <a:srgbClr val="D6D3FF"/>
                </a:solidFill>
                <a:latin typeface="Courier New" pitchFamily="34" charset="0"/>
                <a:ea typeface="Courier New" pitchFamily="34" charset="-122"/>
                <a:cs typeface="Courier New" pitchFamily="34" charset="-120"/>
              </a:rPr>
              <a:t> </a:t>
            </a:r>
            <a:pPr algn="l" indent="0" marL="0">
              <a:buNone/>
            </a:pPr>
            <a:r>
              <a:rPr lang="en-US" sz="1000" dirty="0">
                <a:solidFill>
                  <a:srgbClr val="E6E4FF"/>
                </a:solidFill>
                <a:latin typeface="Courier New" pitchFamily="34" charset="0"/>
                <a:ea typeface="Courier New" pitchFamily="34" charset="-122"/>
                <a:cs typeface="Courier New" pitchFamily="34" charset="-120"/>
              </a:rPr>
              <a:t>generateStaticParams</a:t>
            </a:r>
            <a:pPr algn="l" indent="0" marL="0">
              <a:buNone/>
            </a:pPr>
            <a:r>
              <a:rPr lang="en-US" sz="1000" dirty="0">
                <a:solidFill>
                  <a:srgbClr val="D6D3FF"/>
                </a:solidFill>
                <a:latin typeface="Courier New" pitchFamily="34" charset="0"/>
                <a:ea typeface="Courier New" pitchFamily="34" charset="-122"/>
                <a:cs typeface="Courier New" pitchFamily="34" charset="-120"/>
              </a:rPr>
              <a:t>() {</a:t>
            </a:r>
            <a:endParaRPr lang="en-US" sz="1000" dirty="0"/>
          </a:p>
          <a:p>
            <a:pPr algn="l" indent="0" marL="0">
              <a:buNone/>
            </a:pPr>
            <a:r>
              <a:rPr lang="en-US" sz="1000" dirty="0">
                <a:solidFill>
                  <a:srgbClr val="D6D3FF"/>
                </a:solidFill>
                <a:latin typeface="Courier New" pitchFamily="34" charset="0"/>
                <a:ea typeface="Courier New" pitchFamily="34" charset="-122"/>
                <a:cs typeface="Courier New" pitchFamily="34" charset="-120"/>
              </a:rPr>
              <a:t>  </a:t>
            </a:r>
            <a:pPr algn="l" indent="0" marL="0">
              <a:buNone/>
            </a:pPr>
            <a:r>
              <a:rPr lang="en-US" sz="1000" dirty="0">
                <a:solidFill>
                  <a:srgbClr val="C4B5FD"/>
                </a:solidFill>
                <a:latin typeface="Courier New" pitchFamily="34" charset="0"/>
                <a:ea typeface="Courier New" pitchFamily="34" charset="-122"/>
                <a:cs typeface="Courier New" pitchFamily="34" charset="-120"/>
              </a:rPr>
              <a:t>const</a:t>
            </a:r>
            <a:pPr algn="l" indent="0" marL="0">
              <a:buNone/>
            </a:pPr>
            <a:r>
              <a:rPr lang="en-US" sz="1000" dirty="0">
                <a:solidFill>
                  <a:srgbClr val="D6D3FF"/>
                </a:solidFill>
                <a:latin typeface="Courier New" pitchFamily="34" charset="0"/>
                <a:ea typeface="Courier New" pitchFamily="34" charset="-122"/>
                <a:cs typeface="Courier New" pitchFamily="34" charset="-120"/>
              </a:rPr>
              <a:t> </a:t>
            </a:r>
            <a:pPr algn="l" indent="0" marL="0">
              <a:buNone/>
            </a:pPr>
            <a:r>
              <a:rPr lang="en-US" sz="1000" dirty="0">
                <a:solidFill>
                  <a:srgbClr val="E6E4FF"/>
                </a:solidFill>
                <a:latin typeface="Courier New" pitchFamily="34" charset="0"/>
                <a:ea typeface="Courier New" pitchFamily="34" charset="-122"/>
                <a:cs typeface="Courier New" pitchFamily="34" charset="-120"/>
              </a:rPr>
              <a:t>products</a:t>
            </a:r>
            <a:pPr algn="l" indent="0" marL="0">
              <a:buNone/>
            </a:pPr>
            <a:r>
              <a:rPr lang="en-US" sz="1000" dirty="0">
                <a:solidFill>
                  <a:srgbClr val="D6D3FF"/>
                </a:solidFill>
                <a:latin typeface="Courier New" pitchFamily="34" charset="0"/>
                <a:ea typeface="Courier New" pitchFamily="34" charset="-122"/>
                <a:cs typeface="Courier New" pitchFamily="34" charset="-120"/>
              </a:rPr>
              <a:t> = </a:t>
            </a:r>
            <a:pPr algn="l" indent="0" marL="0">
              <a:buNone/>
            </a:pPr>
            <a:r>
              <a:rPr lang="en-US" sz="1000" dirty="0">
                <a:solidFill>
                  <a:srgbClr val="C4B5FD"/>
                </a:solidFill>
                <a:latin typeface="Courier New" pitchFamily="34" charset="0"/>
                <a:ea typeface="Courier New" pitchFamily="34" charset="-122"/>
                <a:cs typeface="Courier New" pitchFamily="34" charset="-120"/>
              </a:rPr>
              <a:t>await</a:t>
            </a:r>
            <a:pPr algn="l" indent="0" marL="0">
              <a:buNone/>
            </a:pPr>
            <a:r>
              <a:rPr lang="en-US" sz="1000" dirty="0">
                <a:solidFill>
                  <a:srgbClr val="D6D3FF"/>
                </a:solidFill>
                <a:latin typeface="Courier New" pitchFamily="34" charset="0"/>
                <a:ea typeface="Courier New" pitchFamily="34" charset="-122"/>
                <a:cs typeface="Courier New" pitchFamily="34" charset="-120"/>
              </a:rPr>
              <a:t> </a:t>
            </a:r>
            <a:pPr algn="l" indent="0" marL="0">
              <a:buNone/>
            </a:pPr>
            <a:r>
              <a:rPr lang="en-US" sz="1000" dirty="0">
                <a:solidFill>
                  <a:srgbClr val="E6E4FF"/>
                </a:solidFill>
                <a:latin typeface="Courier New" pitchFamily="34" charset="0"/>
                <a:ea typeface="Courier New" pitchFamily="34" charset="-122"/>
                <a:cs typeface="Courier New" pitchFamily="34" charset="-120"/>
              </a:rPr>
              <a:t>getProducts</a:t>
            </a:r>
            <a:pPr algn="l" indent="0" marL="0">
              <a:buNone/>
            </a:pPr>
            <a:r>
              <a:rPr lang="en-US" sz="1000" dirty="0">
                <a:solidFill>
                  <a:srgbClr val="D6D3FF"/>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6D3FF"/>
                </a:solidFill>
                <a:latin typeface="Courier New" pitchFamily="34" charset="0"/>
                <a:ea typeface="Courier New" pitchFamily="34" charset="-122"/>
                <a:cs typeface="Courier New" pitchFamily="34" charset="-120"/>
              </a:rPr>
              <a:t>  </a:t>
            </a:r>
            <a:pPr algn="l" indent="0" marL="0">
              <a:buNone/>
            </a:pPr>
            <a:r>
              <a:rPr lang="en-US" sz="1000" dirty="0">
                <a:solidFill>
                  <a:srgbClr val="C4B5FD"/>
                </a:solidFill>
                <a:latin typeface="Courier New" pitchFamily="34" charset="0"/>
                <a:ea typeface="Courier New" pitchFamily="34" charset="-122"/>
                <a:cs typeface="Courier New" pitchFamily="34" charset="-120"/>
              </a:rPr>
              <a:t>return</a:t>
            </a:r>
            <a:pPr algn="l" indent="0" marL="0">
              <a:buNone/>
            </a:pPr>
            <a:r>
              <a:rPr lang="en-US" sz="1000" dirty="0">
                <a:solidFill>
                  <a:srgbClr val="D6D3FF"/>
                </a:solidFill>
                <a:latin typeface="Courier New" pitchFamily="34" charset="0"/>
                <a:ea typeface="Courier New" pitchFamily="34" charset="-122"/>
                <a:cs typeface="Courier New" pitchFamily="34" charset="-120"/>
              </a:rPr>
              <a:t> </a:t>
            </a:r>
            <a:pPr algn="l" indent="0" marL="0">
              <a:buNone/>
            </a:pPr>
            <a:r>
              <a:rPr lang="en-US" sz="1000" dirty="0">
                <a:solidFill>
                  <a:srgbClr val="E6E4FF"/>
                </a:solidFill>
                <a:latin typeface="Courier New" pitchFamily="34" charset="0"/>
                <a:ea typeface="Courier New" pitchFamily="34" charset="-122"/>
                <a:cs typeface="Courier New" pitchFamily="34" charset="-120"/>
              </a:rPr>
              <a:t>products</a:t>
            </a:r>
            <a:pPr algn="l" indent="0" marL="0">
              <a:buNone/>
            </a:pPr>
            <a:r>
              <a:rPr lang="en-US" sz="1000" dirty="0">
                <a:solidFill>
                  <a:srgbClr val="D6D3FF"/>
                </a:solidFill>
                <a:latin typeface="Courier New" pitchFamily="34" charset="0"/>
                <a:ea typeface="Courier New" pitchFamily="34" charset="-122"/>
                <a:cs typeface="Courier New" pitchFamily="34" charset="-120"/>
              </a:rPr>
              <a:t>.</a:t>
            </a:r>
            <a:pPr algn="l" indent="0" marL="0">
              <a:buNone/>
            </a:pPr>
            <a:r>
              <a:rPr lang="en-US" sz="1000" dirty="0">
                <a:solidFill>
                  <a:srgbClr val="E6E4FF"/>
                </a:solidFill>
                <a:latin typeface="Courier New" pitchFamily="34" charset="0"/>
                <a:ea typeface="Courier New" pitchFamily="34" charset="-122"/>
                <a:cs typeface="Courier New" pitchFamily="34" charset="-120"/>
              </a:rPr>
              <a:t>map</a:t>
            </a:r>
            <a:pPr algn="l" indent="0" marL="0">
              <a:buNone/>
            </a:pPr>
            <a:r>
              <a:rPr lang="en-US" sz="1000" dirty="0">
                <a:solidFill>
                  <a:srgbClr val="D6D3FF"/>
                </a:solidFill>
                <a:latin typeface="Courier New" pitchFamily="34" charset="0"/>
                <a:ea typeface="Courier New" pitchFamily="34" charset="-122"/>
                <a:cs typeface="Courier New" pitchFamily="34" charset="-120"/>
              </a:rPr>
              <a:t>((</a:t>
            </a:r>
            <a:pPr algn="l" indent="0" marL="0">
              <a:buNone/>
            </a:pPr>
            <a:r>
              <a:rPr lang="en-US" sz="1000" dirty="0">
                <a:solidFill>
                  <a:srgbClr val="E6E4FF"/>
                </a:solidFill>
                <a:latin typeface="Courier New" pitchFamily="34" charset="0"/>
                <a:ea typeface="Courier New" pitchFamily="34" charset="-122"/>
                <a:cs typeface="Courier New" pitchFamily="34" charset="-120"/>
              </a:rPr>
              <a:t>p</a:t>
            </a:r>
            <a:pPr algn="l" indent="0" marL="0">
              <a:buNone/>
            </a:pPr>
            <a:r>
              <a:rPr lang="en-US" sz="1000" dirty="0">
                <a:solidFill>
                  <a:srgbClr val="D6D3FF"/>
                </a:solidFill>
                <a:latin typeface="Courier New" pitchFamily="34" charset="0"/>
                <a:ea typeface="Courier New" pitchFamily="34" charset="-122"/>
                <a:cs typeface="Courier New" pitchFamily="34" charset="-120"/>
              </a:rPr>
              <a:t>) =&gt; ({</a:t>
            </a:r>
            <a:endParaRPr lang="en-US" sz="1000" dirty="0"/>
          </a:p>
          <a:p>
            <a:pPr algn="l" indent="0" marL="0">
              <a:buNone/>
            </a:pPr>
            <a:r>
              <a:rPr lang="en-US" sz="1000" dirty="0">
                <a:solidFill>
                  <a:srgbClr val="D6D3FF"/>
                </a:solidFill>
                <a:latin typeface="Courier New" pitchFamily="34" charset="0"/>
                <a:ea typeface="Courier New" pitchFamily="34" charset="-122"/>
                <a:cs typeface="Courier New" pitchFamily="34" charset="-120"/>
              </a:rPr>
              <a:t>    </a:t>
            </a:r>
            <a:pPr algn="l" indent="0" marL="0">
              <a:buNone/>
            </a:pPr>
            <a:r>
              <a:rPr lang="en-US" sz="1000" dirty="0">
                <a:solidFill>
                  <a:srgbClr val="E6E4FF"/>
                </a:solidFill>
                <a:latin typeface="Courier New" pitchFamily="34" charset="0"/>
                <a:ea typeface="Courier New" pitchFamily="34" charset="-122"/>
                <a:cs typeface="Courier New" pitchFamily="34" charset="-120"/>
              </a:rPr>
              <a:t>id</a:t>
            </a:r>
            <a:pPr algn="l" indent="0" marL="0">
              <a:buNone/>
            </a:pPr>
            <a:r>
              <a:rPr lang="en-US" sz="1000" dirty="0">
                <a:solidFill>
                  <a:srgbClr val="D6D3FF"/>
                </a:solidFill>
                <a:latin typeface="Courier New" pitchFamily="34" charset="0"/>
                <a:ea typeface="Courier New" pitchFamily="34" charset="-122"/>
                <a:cs typeface="Courier New" pitchFamily="34" charset="-120"/>
              </a:rPr>
              <a:t>: </a:t>
            </a:r>
            <a:pPr algn="l" indent="0" marL="0">
              <a:buNone/>
            </a:pPr>
            <a:r>
              <a:rPr lang="en-US" sz="1000" dirty="0">
                <a:solidFill>
                  <a:srgbClr val="E6E4FF"/>
                </a:solidFill>
                <a:latin typeface="Courier New" pitchFamily="34" charset="0"/>
                <a:ea typeface="Courier New" pitchFamily="34" charset="-122"/>
                <a:cs typeface="Courier New" pitchFamily="34" charset="-120"/>
              </a:rPr>
              <a:t>String</a:t>
            </a:r>
            <a:pPr algn="l" indent="0" marL="0">
              <a:buNone/>
            </a:pPr>
            <a:r>
              <a:rPr lang="en-US" sz="1000" dirty="0">
                <a:solidFill>
                  <a:srgbClr val="D6D3FF"/>
                </a:solidFill>
                <a:latin typeface="Courier New" pitchFamily="34" charset="0"/>
                <a:ea typeface="Courier New" pitchFamily="34" charset="-122"/>
                <a:cs typeface="Courier New" pitchFamily="34" charset="-120"/>
              </a:rPr>
              <a:t>(</a:t>
            </a:r>
            <a:pPr algn="l" indent="0" marL="0">
              <a:buNone/>
            </a:pPr>
            <a:r>
              <a:rPr lang="en-US" sz="1000" dirty="0">
                <a:solidFill>
                  <a:srgbClr val="E6E4FF"/>
                </a:solidFill>
                <a:latin typeface="Courier New" pitchFamily="34" charset="0"/>
                <a:ea typeface="Courier New" pitchFamily="34" charset="-122"/>
                <a:cs typeface="Courier New" pitchFamily="34" charset="-120"/>
              </a:rPr>
              <a:t>p</a:t>
            </a:r>
            <a:pPr algn="l" indent="0" marL="0">
              <a:buNone/>
            </a:pPr>
            <a:r>
              <a:rPr lang="en-US" sz="1000" dirty="0">
                <a:solidFill>
                  <a:srgbClr val="D6D3FF"/>
                </a:solidFill>
                <a:latin typeface="Courier New" pitchFamily="34" charset="0"/>
                <a:ea typeface="Courier New" pitchFamily="34" charset="-122"/>
                <a:cs typeface="Courier New" pitchFamily="34" charset="-120"/>
              </a:rPr>
              <a:t>.</a:t>
            </a:r>
            <a:pPr algn="l" indent="0" marL="0">
              <a:buNone/>
            </a:pPr>
            <a:r>
              <a:rPr lang="en-US" sz="1000" dirty="0">
                <a:solidFill>
                  <a:srgbClr val="E6E4FF"/>
                </a:solidFill>
                <a:latin typeface="Courier New" pitchFamily="34" charset="0"/>
                <a:ea typeface="Courier New" pitchFamily="34" charset="-122"/>
                <a:cs typeface="Courier New" pitchFamily="34" charset="-120"/>
              </a:rPr>
              <a:t>id</a:t>
            </a:r>
            <a:pPr algn="l" indent="0" marL="0">
              <a:buNone/>
            </a:pPr>
            <a:r>
              <a:rPr lang="en-US" sz="1000" dirty="0">
                <a:solidFill>
                  <a:srgbClr val="D6D3FF"/>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D6D3FF"/>
                </a:solidFill>
                <a:latin typeface="Courier New" pitchFamily="34" charset="0"/>
                <a:ea typeface="Courier New" pitchFamily="34" charset="-122"/>
                <a:cs typeface="Courier New" pitchFamily="34" charset="-120"/>
              </a:rPr>
              <a:t>  }));</a:t>
            </a:r>
            <a:endParaRPr lang="en-US" sz="1000" dirty="0"/>
          </a:p>
          <a:p>
            <a:pPr algn="l" indent="0" marL="0">
              <a:buNone/>
            </a:pPr>
            <a:r>
              <a:rPr lang="en-US" sz="1000" dirty="0">
                <a:solidFill>
                  <a:srgbClr val="D6D3FF"/>
                </a:solidFill>
                <a:latin typeface="Courier New" pitchFamily="34" charset="0"/>
                <a:ea typeface="Courier New" pitchFamily="34" charset="-122"/>
                <a:cs typeface="Courier New" pitchFamily="34" charset="-120"/>
              </a:rPr>
              <a:t>}</a:t>
            </a:r>
            <a:endParaRPr lang="en-US" sz="1000" dirty="0"/>
          </a:p>
        </p:txBody>
      </p:sp>
      <p:sp>
        <p:nvSpPr>
          <p:cNvPr id="16" name="A2_d"/>
          <p:cNvSpPr txBox="1"/>
          <p:nvPr/>
        </p:nvSpPr>
        <p:spPr>
          <a:xfrm>
            <a:off x="3977640" y="4754880"/>
            <a:ext cx="4023360" cy="36576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Returns the list of ids to pre-build.</a:t>
            </a:r>
            <a:endParaRPr lang="en-US" sz="1200" dirty="0"/>
          </a:p>
        </p:txBody>
      </p:sp>
      <p:sp>
        <p:nvSpPr>
          <p:cNvPr id="17" name="A3_a2"/>
          <p:cNvSpPr/>
          <p:nvPr/>
        </p:nvSpPr>
        <p:spPr>
          <a:xfrm>
            <a:off x="8275320" y="3383280"/>
            <a:ext cx="365760" cy="0"/>
          </a:xfrm>
          <a:prstGeom prst="line">
            <a:avLst/>
          </a:prstGeom>
          <a:noFill/>
          <a:ln w="31750">
            <a:solidFill>
              <a:srgbClr val="8B7CFF"/>
            </a:solidFill>
            <a:prstDash val="solid"/>
            <a:tailEnd type="triangle"/>
          </a:ln>
        </p:spPr>
      </p:sp>
      <p:sp>
        <p:nvSpPr>
          <p:cNvPr id="18" name="A3_c3"/>
          <p:cNvSpPr/>
          <p:nvPr/>
        </p:nvSpPr>
        <p:spPr>
          <a:xfrm>
            <a:off x="8686800" y="1600200"/>
            <a:ext cx="2953512" cy="3611880"/>
          </a:xfrm>
          <a:prstGeom prst="roundRect">
            <a:avLst>
              <a:gd name="adj" fmla="val 3715"/>
            </a:avLst>
          </a:prstGeom>
          <a:solidFill>
            <a:srgbClr val="17143F"/>
          </a:solidFill>
          <a:ln w="12700">
            <a:solidFill>
              <a:srgbClr val="34D399"/>
            </a:solidFill>
            <a:prstDash val="solid"/>
          </a:ln>
        </p:spPr>
      </p:sp>
      <p:sp>
        <p:nvSpPr>
          <p:cNvPr id="19" name="A3_t"/>
          <p:cNvSpPr txBox="1"/>
          <p:nvPr/>
        </p:nvSpPr>
        <p:spPr>
          <a:xfrm>
            <a:off x="8915400" y="1737360"/>
            <a:ext cx="2560320" cy="320040"/>
          </a:xfrm>
          <a:prstGeom prst="rect">
            <a:avLst/>
          </a:prstGeom>
          <a:noFill/>
          <a:ln/>
        </p:spPr>
        <p:txBody>
          <a:bodyPr wrap="square" lIns="0" tIns="0" rIns="0" bIns="0" rtlCol="0" anchor="t"/>
          <a:lstStyle/>
          <a:p>
            <a:pPr indent="0" marL="0">
              <a:buNone/>
            </a:pPr>
            <a:r>
              <a:rPr lang="en-US" sz="1700" b="1" dirty="0">
                <a:solidFill>
                  <a:srgbClr val="F4F3FF"/>
                </a:solidFill>
                <a:latin typeface="Calibri" pitchFamily="34" charset="0"/>
                <a:ea typeface="Calibri" pitchFamily="34" charset="-122"/>
                <a:cs typeface="Calibri" pitchFamily="34" charset="-120"/>
              </a:rPr>
              <a:t>Built at build time</a:t>
            </a:r>
            <a:endParaRPr lang="en-US" sz="1700" dirty="0"/>
          </a:p>
        </p:txBody>
      </p:sp>
      <p:sp>
        <p:nvSpPr>
          <p:cNvPr id="20" name="A3_p0"/>
          <p:cNvSpPr txBox="1"/>
          <p:nvPr/>
        </p:nvSpPr>
        <p:spPr>
          <a:xfrm>
            <a:off x="8915400" y="2331720"/>
            <a:ext cx="2496312" cy="594360"/>
          </a:xfrm>
          <a:prstGeom prst="roundRect">
            <a:avLst>
              <a:gd name="adj" fmla="val 15385"/>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400" dirty="0">
                <a:solidFill>
                  <a:srgbClr val="F4F3FF"/>
                </a:solidFill>
                <a:latin typeface="Courier New" pitchFamily="34" charset="0"/>
                <a:ea typeface="Courier New" pitchFamily="34" charset="-122"/>
                <a:cs typeface="Courier New" pitchFamily="34" charset="-120"/>
              </a:rPr>
              <a:t>/products/1</a:t>
            </a:r>
            <a:endParaRPr lang="en-US" sz="1400" dirty="0"/>
          </a:p>
        </p:txBody>
      </p:sp>
      <p:sp>
        <p:nvSpPr>
          <p:cNvPr id="21" name="A3_p1"/>
          <p:cNvSpPr txBox="1"/>
          <p:nvPr/>
        </p:nvSpPr>
        <p:spPr>
          <a:xfrm>
            <a:off x="8915400" y="3108960"/>
            <a:ext cx="2496312" cy="594360"/>
          </a:xfrm>
          <a:prstGeom prst="roundRect">
            <a:avLst>
              <a:gd name="adj" fmla="val 15385"/>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400" dirty="0">
                <a:solidFill>
                  <a:srgbClr val="F4F3FF"/>
                </a:solidFill>
                <a:latin typeface="Courier New" pitchFamily="34" charset="0"/>
                <a:ea typeface="Courier New" pitchFamily="34" charset="-122"/>
                <a:cs typeface="Courier New" pitchFamily="34" charset="-120"/>
              </a:rPr>
              <a:t>/products/2</a:t>
            </a:r>
            <a:endParaRPr lang="en-US" sz="1400" dirty="0"/>
          </a:p>
        </p:txBody>
      </p:sp>
      <p:sp>
        <p:nvSpPr>
          <p:cNvPr id="22" name="A3_p2"/>
          <p:cNvSpPr txBox="1"/>
          <p:nvPr/>
        </p:nvSpPr>
        <p:spPr>
          <a:xfrm>
            <a:off x="8915400" y="3886200"/>
            <a:ext cx="2496312" cy="594360"/>
          </a:xfrm>
          <a:prstGeom prst="roundRect">
            <a:avLst>
              <a:gd name="adj" fmla="val 15385"/>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400" dirty="0">
                <a:solidFill>
                  <a:srgbClr val="F4F3FF"/>
                </a:solidFill>
                <a:latin typeface="Courier New" pitchFamily="34" charset="0"/>
                <a:ea typeface="Courier New" pitchFamily="34" charset="-122"/>
                <a:cs typeface="Courier New" pitchFamily="34" charset="-120"/>
              </a:rPr>
              <a:t>/products/3</a:t>
            </a:r>
            <a:endParaRPr lang="en-US" sz="1400" dirty="0"/>
          </a:p>
        </p:txBody>
      </p:sp>
      <p:sp>
        <p:nvSpPr>
          <p:cNvPr id="23" name="A3_d"/>
          <p:cNvSpPr txBox="1"/>
          <p:nvPr/>
        </p:nvSpPr>
        <p:spPr>
          <a:xfrm>
            <a:off x="8915400" y="4709160"/>
            <a:ext cx="2560320" cy="365760"/>
          </a:xfrm>
          <a:prstGeom prst="rect">
            <a:avLst/>
          </a:prstGeom>
          <a:noFill/>
          <a:ln/>
        </p:spPr>
        <p:txBody>
          <a:bodyPr wrap="square" lIns="0" tIns="0" rIns="0" bIns="0" rtlCol="0" anchor="t"/>
          <a:lstStyle/>
          <a:p>
            <a:pPr indent="0" marL="0">
              <a:buNone/>
            </a:pPr>
            <a:r>
              <a:rPr lang="en-US" sz="1200" dirty="0">
                <a:solidFill>
                  <a:srgbClr val="A8A5D8"/>
                </a:solidFill>
                <a:latin typeface="Calibri" pitchFamily="34" charset="0"/>
                <a:ea typeface="Calibri" pitchFamily="34" charset="-122"/>
                <a:cs typeface="Calibri" pitchFamily="34" charset="-120"/>
              </a:rPr>
              <a:t>Static HTML for each</a:t>
            </a:r>
            <a:endParaRPr lang="en-US" sz="1200" dirty="0"/>
          </a:p>
        </p:txBody>
      </p:sp>
      <p:sp>
        <p:nvSpPr>
          <p:cNvPr id="24" name="Shape 20"/>
          <p:cNvSpPr/>
          <p:nvPr/>
        </p:nvSpPr>
        <p:spPr>
          <a:xfrm>
            <a:off x="548640" y="5440680"/>
            <a:ext cx="11091672" cy="685800"/>
          </a:xfrm>
          <a:prstGeom prst="roundRect">
            <a:avLst>
              <a:gd name="adj" fmla="val 16000"/>
            </a:avLst>
          </a:prstGeom>
          <a:solidFill>
            <a:srgbClr val="221E58"/>
          </a:solidFill>
          <a:ln w="12700">
            <a:solidFill>
              <a:srgbClr val="8B7CFF"/>
            </a:solidFill>
            <a:prstDash val="solid"/>
          </a:ln>
        </p:spPr>
      </p:sp>
      <p:sp>
        <p:nvSpPr>
          <p:cNvPr id="25" name="Text 21"/>
          <p:cNvSpPr txBox="1"/>
          <p:nvPr/>
        </p:nvSpPr>
        <p:spPr>
          <a:xfrm>
            <a:off x="777240" y="5440680"/>
            <a:ext cx="10607040" cy="685800"/>
          </a:xfrm>
          <a:prstGeom prst="rect">
            <a:avLst/>
          </a:prstGeom>
          <a:noFill/>
          <a:ln/>
        </p:spPr>
        <p:txBody>
          <a:bodyPr wrap="square" lIns="0" tIns="0" rIns="0" bIns="0" rtlCol="0" anchor="ctr"/>
          <a:lstStyle/>
          <a:p>
            <a:pPr indent="0" marL="0">
              <a:buNone/>
            </a:pPr>
            <a:r>
              <a:rPr lang="en-US" sz="1500" b="1" dirty="0">
                <a:solidFill>
                  <a:srgbClr val="F4F3FF"/>
                </a:solidFill>
                <a:latin typeface="Calibri" pitchFamily="34" charset="0"/>
                <a:ea typeface="Calibri" pitchFamily="34" charset="-122"/>
                <a:cs typeface="Calibri" pitchFamily="34" charset="-120"/>
              </a:rPr>
              <a:t>Not in the list? It is rendered on the first request, then saved for next time.</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5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5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5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5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5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50"/>
                                        <p:tgtEl>
                                          <p:spTgt spid="16"/>
                                        </p:tgtEl>
                                      </p:cBhvr>
                                    </p:animEffect>
                                  </p:childTnLst>
                                </p:cTn>
                              </p:par>
                            </p:childTnLst>
                          </p:cTn>
                        </p:par>
                      </p:childTnLst>
                    </p:cTn>
                  </p:par>
                  <p:par>
                    <p:cTn id="58" fill="hold">
                      <p:stCondLst>
                        <p:cond delay="indefinite"/>
                      </p:stCondLst>
                      <p:childTnLst>
                        <p:par>
                          <p:cTn id="59"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50"/>
                                        <p:tgtEl>
                                          <p:spTgt spid="17"/>
                                        </p:tgtEl>
                                      </p:cBhvr>
                                    </p:animEffect>
                                  </p:childTnLst>
                                </p:cTn>
                              </p:par>
                              <p:par>
                                <p:cTn id="40" presetID="10"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50"/>
                                        <p:tgtEl>
                                          <p:spTgt spid="18"/>
                                        </p:tgtEl>
                                      </p:cBhvr>
                                    </p:animEffect>
                                  </p:childTnLst>
                                </p:cTn>
                              </p:par>
                              <p:par>
                                <p:cTn id="43" presetID="10" presetClass="entr" presetSubtype="0"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fade">
                                      <p:cBhvr>
                                        <p:cTn id="45" dur="450"/>
                                        <p:tgtEl>
                                          <p:spTgt spid="19"/>
                                        </p:tgtEl>
                                      </p:cBhvr>
                                    </p:animEffect>
                                  </p:childTnLst>
                                </p:cTn>
                              </p:par>
                              <p:par>
                                <p:cTn id="46" presetID="10" presetClass="entr" presetSubtype="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50"/>
                                        <p:tgtEl>
                                          <p:spTgt spid="20"/>
                                        </p:tgtEl>
                                      </p:cBhvr>
                                    </p:animEffect>
                                  </p:childTnLst>
                                </p:cTn>
                              </p:par>
                              <p:par>
                                <p:cTn id="49" presetID="10"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50"/>
                                        <p:tgtEl>
                                          <p:spTgt spid="21"/>
                                        </p:tgtEl>
                                      </p:cBhvr>
                                    </p:animEffect>
                                  </p:childTnLst>
                                </p:cTn>
                              </p:par>
                              <p:par>
                                <p:cTn id="52" presetID="10" presetClass="entr" presetSubtype="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50"/>
                                        <p:tgtEl>
                                          <p:spTgt spid="22"/>
                                        </p:tgtEl>
                                      </p:cBhvr>
                                    </p:animEffect>
                                  </p:childTnLst>
                                </p:cTn>
                              </p:par>
                              <p:par>
                                <p:cTn id="55" presetID="10"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4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SUSPENSE &amp; STREAMING</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Don't make users wait for the slowest part</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25</a:t>
            </a:r>
            <a:endParaRPr lang="en-US" sz="1100" dirty="0"/>
          </a:p>
        </p:txBody>
      </p:sp>
      <p:sp>
        <p:nvSpPr>
          <p:cNvPr id="7" name="Shape 3"/>
          <p:cNvSpPr/>
          <p:nvPr/>
        </p:nvSpPr>
        <p:spPr>
          <a:xfrm>
            <a:off x="548640" y="1600200"/>
            <a:ext cx="5303520" cy="2880360"/>
          </a:xfrm>
          <a:prstGeom prst="roundRect">
            <a:avLst>
              <a:gd name="adj" fmla="val 3810"/>
            </a:avLst>
          </a:prstGeom>
          <a:solidFill>
            <a:srgbClr val="100E2E"/>
          </a:solidFill>
          <a:ln w="12700">
            <a:solidFill>
              <a:srgbClr val="3A3580"/>
            </a:solidFill>
            <a:prstDash val="solid"/>
          </a:ln>
        </p:spPr>
      </p:sp>
      <p:sp>
        <p:nvSpPr>
          <p:cNvPr id="8" name="Shape 4"/>
          <p:cNvSpPr/>
          <p:nvPr/>
        </p:nvSpPr>
        <p:spPr>
          <a:xfrm>
            <a:off x="694944" y="1700784"/>
            <a:ext cx="109728" cy="109728"/>
          </a:xfrm>
          <a:prstGeom prst="ellipse">
            <a:avLst/>
          </a:prstGeom>
          <a:solidFill>
            <a:srgbClr val="FB7185"/>
          </a:solidFill>
          <a:ln w="12700">
            <a:solidFill>
              <a:srgbClr val="FB7185"/>
            </a:solidFill>
            <a:prstDash val="solid"/>
          </a:ln>
        </p:spPr>
      </p:sp>
      <p:sp>
        <p:nvSpPr>
          <p:cNvPr id="9" name="Shape 5"/>
          <p:cNvSpPr/>
          <p:nvPr/>
        </p:nvSpPr>
        <p:spPr>
          <a:xfrm>
            <a:off x="877824" y="1700784"/>
            <a:ext cx="109728" cy="109728"/>
          </a:xfrm>
          <a:prstGeom prst="ellipse">
            <a:avLst/>
          </a:prstGeom>
          <a:solidFill>
            <a:srgbClr val="FBBF24"/>
          </a:solidFill>
          <a:ln w="12700">
            <a:solidFill>
              <a:srgbClr val="FBBF24"/>
            </a:solidFill>
            <a:prstDash val="solid"/>
          </a:ln>
        </p:spPr>
      </p:sp>
      <p:sp>
        <p:nvSpPr>
          <p:cNvPr id="10" name="Shape 6"/>
          <p:cNvSpPr/>
          <p:nvPr/>
        </p:nvSpPr>
        <p:spPr>
          <a:xfrm>
            <a:off x="1060704" y="1700784"/>
            <a:ext cx="109728" cy="109728"/>
          </a:xfrm>
          <a:prstGeom prst="ellipse">
            <a:avLst/>
          </a:prstGeom>
          <a:solidFill>
            <a:srgbClr val="34D399"/>
          </a:solidFill>
          <a:ln w="12700">
            <a:solidFill>
              <a:srgbClr val="34D399"/>
            </a:solidFill>
            <a:prstDash val="solid"/>
          </a:ln>
        </p:spPr>
      </p:sp>
      <p:sp>
        <p:nvSpPr>
          <p:cNvPr id="11" name="Text 7"/>
          <p:cNvSpPr txBox="1"/>
          <p:nvPr/>
        </p:nvSpPr>
        <p:spPr>
          <a:xfrm>
            <a:off x="1371600" y="1655064"/>
            <a:ext cx="4206240" cy="201168"/>
          </a:xfrm>
          <a:prstGeom prst="roundRect">
            <a:avLst>
              <a:gd name="adj" fmla="val 50000"/>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900" dirty="0">
                <a:solidFill>
                  <a:srgbClr val="A8A5D8"/>
                </a:solidFill>
                <a:latin typeface="Courier New" pitchFamily="34" charset="0"/>
                <a:ea typeface="Courier New" pitchFamily="34" charset="-122"/>
                <a:cs typeface="Courier New" pitchFamily="34" charset="-120"/>
              </a:rPr>
              <a:t>/products</a:t>
            </a:r>
            <a:endParaRPr lang="en-US" sz="900" dirty="0"/>
          </a:p>
        </p:txBody>
      </p:sp>
      <p:sp>
        <p:nvSpPr>
          <p:cNvPr id="12" name="Text 8"/>
          <p:cNvSpPr txBox="1"/>
          <p:nvPr/>
        </p:nvSpPr>
        <p:spPr>
          <a:xfrm>
            <a:off x="777240" y="2103120"/>
            <a:ext cx="4846320" cy="2194560"/>
          </a:xfrm>
          <a:prstGeom prst="roundRect">
            <a:avLst>
              <a:gd name="adj" fmla="val 4167"/>
            </a:avLst>
          </a:prstGeom>
          <a:solidFill>
            <a:srgbClr val="0C0A20"/>
          </a:solidFill>
          <a:ln w="12700">
            <a:solidFill>
              <a:srgbClr val="FB7185"/>
            </a:solidFill>
            <a:prstDash val="dash"/>
          </a:ln>
        </p:spPr>
        <p:txBody>
          <a:bodyPr wrap="square" lIns="50800" tIns="50800" rIns="50800" bIns="50800" rtlCol="0" anchor="ctr"/>
          <a:lstStyle/>
          <a:p>
            <a:pPr algn="ctr" indent="0" marL="0">
              <a:buNone/>
            </a:pPr>
            <a:r>
              <a:rPr lang="en-US" sz="1600" b="1" dirty="0">
                <a:solidFill>
                  <a:srgbClr val="FB7185"/>
                </a:solidFill>
                <a:latin typeface="Calibri" pitchFamily="34" charset="0"/>
                <a:ea typeface="Calibri" pitchFamily="34" charset="-122"/>
                <a:cs typeface="Calibri" pitchFamily="34" charset="-120"/>
              </a:rPr>
              <a:t>Waiting for the slowest data...</a:t>
            </a:r>
            <a:endParaRPr lang="en-US" sz="1600" dirty="0"/>
          </a:p>
        </p:txBody>
      </p:sp>
      <p:sp>
        <p:nvSpPr>
          <p:cNvPr id="13" name="Shape 9"/>
          <p:cNvSpPr/>
          <p:nvPr/>
        </p:nvSpPr>
        <p:spPr>
          <a:xfrm>
            <a:off x="6336792" y="1600200"/>
            <a:ext cx="5303520" cy="2880360"/>
          </a:xfrm>
          <a:prstGeom prst="roundRect">
            <a:avLst>
              <a:gd name="adj" fmla="val 3810"/>
            </a:avLst>
          </a:prstGeom>
          <a:solidFill>
            <a:srgbClr val="100E2E"/>
          </a:solidFill>
          <a:ln w="12700">
            <a:solidFill>
              <a:srgbClr val="3A3580"/>
            </a:solidFill>
            <a:prstDash val="solid"/>
          </a:ln>
        </p:spPr>
      </p:sp>
      <p:sp>
        <p:nvSpPr>
          <p:cNvPr id="14" name="Shape 10"/>
          <p:cNvSpPr/>
          <p:nvPr/>
        </p:nvSpPr>
        <p:spPr>
          <a:xfrm>
            <a:off x="6483096" y="1700784"/>
            <a:ext cx="109728" cy="109728"/>
          </a:xfrm>
          <a:prstGeom prst="ellipse">
            <a:avLst/>
          </a:prstGeom>
          <a:solidFill>
            <a:srgbClr val="FB7185"/>
          </a:solidFill>
          <a:ln w="12700">
            <a:solidFill>
              <a:srgbClr val="FB7185"/>
            </a:solidFill>
            <a:prstDash val="solid"/>
          </a:ln>
        </p:spPr>
      </p:sp>
      <p:sp>
        <p:nvSpPr>
          <p:cNvPr id="15" name="Shape 11"/>
          <p:cNvSpPr/>
          <p:nvPr/>
        </p:nvSpPr>
        <p:spPr>
          <a:xfrm>
            <a:off x="6665976" y="1700784"/>
            <a:ext cx="109728" cy="109728"/>
          </a:xfrm>
          <a:prstGeom prst="ellipse">
            <a:avLst/>
          </a:prstGeom>
          <a:solidFill>
            <a:srgbClr val="FBBF24"/>
          </a:solidFill>
          <a:ln w="12700">
            <a:solidFill>
              <a:srgbClr val="FBBF24"/>
            </a:solidFill>
            <a:prstDash val="solid"/>
          </a:ln>
        </p:spPr>
      </p:sp>
      <p:sp>
        <p:nvSpPr>
          <p:cNvPr id="16" name="Shape 12"/>
          <p:cNvSpPr/>
          <p:nvPr/>
        </p:nvSpPr>
        <p:spPr>
          <a:xfrm>
            <a:off x="6848856" y="1700784"/>
            <a:ext cx="109728" cy="109728"/>
          </a:xfrm>
          <a:prstGeom prst="ellipse">
            <a:avLst/>
          </a:prstGeom>
          <a:solidFill>
            <a:srgbClr val="34D399"/>
          </a:solidFill>
          <a:ln w="12700">
            <a:solidFill>
              <a:srgbClr val="34D399"/>
            </a:solidFill>
            <a:prstDash val="solid"/>
          </a:ln>
        </p:spPr>
      </p:sp>
      <p:sp>
        <p:nvSpPr>
          <p:cNvPr id="17" name="Text 13"/>
          <p:cNvSpPr txBox="1"/>
          <p:nvPr/>
        </p:nvSpPr>
        <p:spPr>
          <a:xfrm>
            <a:off x="7159752" y="1655064"/>
            <a:ext cx="4206240" cy="201168"/>
          </a:xfrm>
          <a:prstGeom prst="roundRect">
            <a:avLst>
              <a:gd name="adj" fmla="val 50000"/>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900" dirty="0">
                <a:solidFill>
                  <a:srgbClr val="A8A5D8"/>
                </a:solidFill>
                <a:latin typeface="Courier New" pitchFamily="34" charset="0"/>
                <a:ea typeface="Courier New" pitchFamily="34" charset="-122"/>
                <a:cs typeface="Courier New" pitchFamily="34" charset="-120"/>
              </a:rPr>
              <a:t>/products</a:t>
            </a:r>
            <a:endParaRPr lang="en-US" sz="900" dirty="0"/>
          </a:p>
        </p:txBody>
      </p:sp>
      <p:sp>
        <p:nvSpPr>
          <p:cNvPr id="18" name="Text 14"/>
          <p:cNvSpPr txBox="1"/>
          <p:nvPr/>
        </p:nvSpPr>
        <p:spPr>
          <a:xfrm>
            <a:off x="6565392" y="2103120"/>
            <a:ext cx="4846320" cy="457200"/>
          </a:xfrm>
          <a:prstGeom prst="roundRect">
            <a:avLst>
              <a:gd name="adj" fmla="val 20000"/>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Header</a:t>
            </a:r>
            <a:endParaRPr lang="en-US" sz="1300" dirty="0"/>
          </a:p>
        </p:txBody>
      </p:sp>
      <p:sp>
        <p:nvSpPr>
          <p:cNvPr id="19" name="Text 15"/>
          <p:cNvSpPr txBox="1"/>
          <p:nvPr/>
        </p:nvSpPr>
        <p:spPr>
          <a:xfrm>
            <a:off x="6565392" y="2651760"/>
            <a:ext cx="4846320" cy="685800"/>
          </a:xfrm>
          <a:prstGeom prst="roundRect">
            <a:avLst>
              <a:gd name="adj" fmla="val 13333"/>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300" b="1" dirty="0">
                <a:solidFill>
                  <a:srgbClr val="F4F3FF"/>
                </a:solidFill>
                <a:latin typeface="Calibri" pitchFamily="34" charset="0"/>
                <a:ea typeface="Calibri" pitchFamily="34" charset="-122"/>
                <a:cs typeface="Calibri" pitchFamily="34" charset="-120"/>
              </a:rPr>
              <a:t>Product list (fast, ready)</a:t>
            </a:r>
            <a:endParaRPr lang="en-US" sz="1300" dirty="0"/>
          </a:p>
        </p:txBody>
      </p:sp>
      <p:sp>
        <p:nvSpPr>
          <p:cNvPr id="20" name="Text 16"/>
          <p:cNvSpPr txBox="1"/>
          <p:nvPr/>
        </p:nvSpPr>
        <p:spPr>
          <a:xfrm>
            <a:off x="6565392" y="3429000"/>
            <a:ext cx="4846320" cy="868680"/>
          </a:xfrm>
          <a:prstGeom prst="roundRect">
            <a:avLst>
              <a:gd name="adj" fmla="val 10526"/>
            </a:avLst>
          </a:prstGeom>
          <a:solidFill>
            <a:srgbClr val="0C0A20"/>
          </a:solidFill>
          <a:ln w="12700">
            <a:solidFill>
              <a:srgbClr val="FBBF24"/>
            </a:solidFill>
            <a:prstDash val="dash"/>
          </a:ln>
        </p:spPr>
        <p:txBody>
          <a:bodyPr wrap="square" lIns="50800" tIns="50800" rIns="50800" bIns="50800" rtlCol="0" anchor="ctr"/>
          <a:lstStyle/>
          <a:p>
            <a:pPr algn="ctr" indent="0" marL="0">
              <a:buNone/>
            </a:pPr>
            <a:r>
              <a:rPr lang="en-US" sz="1300" b="1" dirty="0">
                <a:solidFill>
                  <a:srgbClr val="FBBF24"/>
                </a:solidFill>
                <a:latin typeface="Calibri" pitchFamily="34" charset="0"/>
                <a:ea typeface="Calibri" pitchFamily="34" charset="-122"/>
                <a:cs typeface="Calibri" pitchFamily="34" charset="-120"/>
              </a:rPr>
              <a:t>Reviews: skeleton fallback</a:t>
            </a:r>
            <a:endParaRPr lang="en-US" sz="1300" dirty="0"/>
          </a:p>
        </p:txBody>
      </p:sp>
      <p:sp>
        <p:nvSpPr>
          <p:cNvPr id="21" name="Text 17"/>
          <p:cNvSpPr txBox="1"/>
          <p:nvPr/>
        </p:nvSpPr>
        <p:spPr>
          <a:xfrm>
            <a:off x="548640" y="4572000"/>
            <a:ext cx="5303520" cy="274320"/>
          </a:xfrm>
          <a:prstGeom prst="rect">
            <a:avLst/>
          </a:prstGeom>
          <a:noFill/>
          <a:ln/>
        </p:spPr>
        <p:txBody>
          <a:bodyPr wrap="square" lIns="0" tIns="0" rIns="0" bIns="0" rtlCol="0" anchor="t"/>
          <a:lstStyle/>
          <a:p>
            <a:pPr indent="0" marL="0">
              <a:buNone/>
            </a:pPr>
            <a:r>
              <a:rPr lang="en-US" sz="1400" b="1" dirty="0">
                <a:solidFill>
                  <a:srgbClr val="FB7185"/>
                </a:solidFill>
                <a:latin typeface="Calibri" pitchFamily="34" charset="0"/>
                <a:ea typeface="Calibri" pitchFamily="34" charset="-122"/>
                <a:cs typeface="Calibri" pitchFamily="34" charset="-120"/>
              </a:rPr>
              <a:t>Without Suspense: the whole page waits</a:t>
            </a:r>
            <a:endParaRPr lang="en-US" sz="1400" dirty="0"/>
          </a:p>
        </p:txBody>
      </p:sp>
      <p:sp>
        <p:nvSpPr>
          <p:cNvPr id="22" name="Text 18"/>
          <p:cNvSpPr txBox="1"/>
          <p:nvPr/>
        </p:nvSpPr>
        <p:spPr>
          <a:xfrm>
            <a:off x="6336792" y="4572000"/>
            <a:ext cx="5303520" cy="274320"/>
          </a:xfrm>
          <a:prstGeom prst="rect">
            <a:avLst/>
          </a:prstGeom>
          <a:noFill/>
          <a:ln/>
        </p:spPr>
        <p:txBody>
          <a:bodyPr wrap="square" lIns="0" tIns="0" rIns="0" bIns="0" rtlCol="0" anchor="t"/>
          <a:lstStyle/>
          <a:p>
            <a:pPr indent="0" marL="0">
              <a:buNone/>
            </a:pPr>
            <a:r>
              <a:rPr lang="en-US" sz="1400" b="1" dirty="0">
                <a:solidFill>
                  <a:srgbClr val="34D399"/>
                </a:solidFill>
                <a:latin typeface="Calibri" pitchFamily="34" charset="0"/>
                <a:ea typeface="Calibri" pitchFamily="34" charset="-122"/>
                <a:cs typeface="Calibri" pitchFamily="34" charset="-120"/>
              </a:rPr>
              <a:t>With Suspense: show what is ready, fallback for the rest</a:t>
            </a:r>
            <a:endParaRPr lang="en-US" sz="1400" dirty="0"/>
          </a:p>
        </p:txBody>
      </p:sp>
      <p:sp>
        <p:nvSpPr>
          <p:cNvPr id="23" name="Shape 19"/>
          <p:cNvSpPr/>
          <p:nvPr/>
        </p:nvSpPr>
        <p:spPr>
          <a:xfrm>
            <a:off x="548640" y="5029200"/>
            <a:ext cx="5303520" cy="1097280"/>
          </a:xfrm>
          <a:prstGeom prst="roundRect">
            <a:avLst>
              <a:gd name="adj" fmla="val 10000"/>
            </a:avLst>
          </a:prstGeom>
          <a:solidFill>
            <a:srgbClr val="17143F"/>
          </a:solidFill>
          <a:ln w="12700">
            <a:solidFill>
              <a:srgbClr val="3A3580"/>
            </a:solidFill>
            <a:prstDash val="solid"/>
          </a:ln>
        </p:spPr>
      </p:sp>
      <p:pic>
        <p:nvPicPr>
          <p:cNvPr id="24" name="Image 1" descr="preencoded.png">    </p:cNvPr>
          <p:cNvPicPr>
            <a:picLocks noChangeAspect="1"/>
          </p:cNvPicPr>
          <p:nvPr/>
        </p:nvPicPr>
        <p:blipFill>
          <a:blip r:embed="rId3"/>
          <a:stretch>
            <a:fillRect/>
          </a:stretch>
        </p:blipFill>
        <p:spPr>
          <a:xfrm>
            <a:off x="777240" y="5394960"/>
            <a:ext cx="365760" cy="365760"/>
          </a:xfrm>
          <a:prstGeom prst="rect">
            <a:avLst/>
          </a:prstGeom>
        </p:spPr>
      </p:pic>
      <p:sp>
        <p:nvSpPr>
          <p:cNvPr id="25" name="Text 20"/>
          <p:cNvSpPr txBox="1"/>
          <p:nvPr/>
        </p:nvSpPr>
        <p:spPr>
          <a:xfrm>
            <a:off x="1325880" y="5120640"/>
            <a:ext cx="4389120" cy="914400"/>
          </a:xfrm>
          <a:prstGeom prst="rect">
            <a:avLst/>
          </a:prstGeom>
          <a:noFill/>
          <a:ln/>
        </p:spPr>
        <p:txBody>
          <a:bodyPr wrap="square" lIns="0" tIns="0" rIns="0" bIns="0" rtlCol="0" anchor="ctr"/>
          <a:lstStyle/>
          <a:p>
            <a:pPr indent="0" marL="0">
              <a:buNone/>
            </a:pPr>
            <a:r>
              <a:rPr lang="en-US" sz="1600" b="1" dirty="0">
                <a:solidFill>
                  <a:srgbClr val="8B7CFF"/>
                </a:solidFill>
                <a:latin typeface="Courier New" pitchFamily="34" charset="0"/>
                <a:ea typeface="Courier New" pitchFamily="34" charset="-122"/>
                <a:cs typeface="Courier New" pitchFamily="34" charset="-120"/>
              </a:rPr>
              <a:t>loading.tsx</a:t>
            </a:r>
            <a:endParaRPr lang="en-US" sz="1600" dirty="0"/>
          </a:p>
          <a:p>
            <a:pPr indent="0" marL="0">
              <a:buNone/>
            </a:pPr>
            <a:r>
              <a:rPr lang="en-US" sz="1300" dirty="0">
                <a:solidFill>
                  <a:srgbClr val="A8A5D8"/>
                </a:solidFill>
                <a:latin typeface="Calibri" pitchFamily="34" charset="0"/>
                <a:ea typeface="Calibri" pitchFamily="34" charset="-122"/>
                <a:cs typeface="Calibri" pitchFamily="34" charset="-120"/>
              </a:rPr>
              <a:t>Instant loading UI for a whole route</a:t>
            </a:r>
            <a:endParaRPr lang="en-US" sz="1600" dirty="0"/>
          </a:p>
        </p:txBody>
      </p:sp>
      <p:sp>
        <p:nvSpPr>
          <p:cNvPr id="26" name="Text 21"/>
          <p:cNvSpPr txBox="1"/>
          <p:nvPr/>
        </p:nvSpPr>
        <p:spPr>
          <a:xfrm>
            <a:off x="6336792" y="5029200"/>
            <a:ext cx="5303520" cy="1097280"/>
          </a:xfrm>
          <a:prstGeom prst="roundRect">
            <a:avLst>
              <a:gd name="adj" fmla="val 8333"/>
            </a:avLst>
          </a:prstGeom>
          <a:solidFill>
            <a:srgbClr val="08071A"/>
          </a:solidFill>
          <a:ln w="12700">
            <a:solidFill>
              <a:srgbClr val="3A3580"/>
            </a:solidFill>
          </a:ln>
        </p:spPr>
        <p:txBody>
          <a:bodyPr wrap="square" lIns="127000" tIns="127000" rIns="127000" bIns="127000" rtlCol="0" anchor="ctr"/>
          <a:lstStyle/>
          <a:p>
            <a:pPr algn="l" indent="0" marL="0">
              <a:buNone/>
            </a:pPr>
            <a:r>
              <a:rPr lang="en-US" sz="1300" dirty="0">
                <a:solidFill>
                  <a:srgbClr val="22D3EE"/>
                </a:solidFill>
                <a:latin typeface="Courier New" pitchFamily="34" charset="0"/>
                <a:ea typeface="Courier New" pitchFamily="34" charset="-122"/>
                <a:cs typeface="Courier New" pitchFamily="34" charset="-120"/>
              </a:rPr>
              <a:t>&lt;Suspense</a:t>
            </a:r>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E6E4FF"/>
                </a:solidFill>
                <a:latin typeface="Courier New" pitchFamily="34" charset="0"/>
                <a:ea typeface="Courier New" pitchFamily="34" charset="-122"/>
                <a:cs typeface="Courier New" pitchFamily="34" charset="-120"/>
              </a:rPr>
              <a:t>fallback</a:t>
            </a:r>
            <a:pPr algn="l" indent="0" marL="0">
              <a:buNone/>
            </a:pPr>
            <a:r>
              <a:rPr lang="en-US" sz="1300" dirty="0">
                <a:solidFill>
                  <a:srgbClr val="D6D3FF"/>
                </a:solidFill>
                <a:latin typeface="Courier New" pitchFamily="34" charset="0"/>
                <a:ea typeface="Courier New" pitchFamily="34" charset="-122"/>
                <a:cs typeface="Courier New" pitchFamily="34" charset="-120"/>
              </a:rPr>
              <a:t>={</a:t>
            </a:r>
            <a:pPr algn="l" indent="0" marL="0">
              <a:buNone/>
            </a:pPr>
            <a:r>
              <a:rPr lang="en-US" sz="1300" dirty="0">
                <a:solidFill>
                  <a:srgbClr val="22D3EE"/>
                </a:solidFill>
                <a:latin typeface="Courier New" pitchFamily="34" charset="0"/>
                <a:ea typeface="Courier New" pitchFamily="34" charset="-122"/>
                <a:cs typeface="Courier New" pitchFamily="34" charset="-120"/>
              </a:rPr>
              <a:t>&lt;Skeleton</a:t>
            </a:r>
            <a:pPr algn="l" indent="0" marL="0">
              <a:buNone/>
            </a:pPr>
            <a:r>
              <a:rPr lang="en-US" sz="1300" dirty="0">
                <a:solidFill>
                  <a:srgbClr val="D6D3FF"/>
                </a:solidFill>
                <a:latin typeface="Courier New" pitchFamily="34" charset="0"/>
                <a:ea typeface="Courier New" pitchFamily="34" charset="-122"/>
                <a:cs typeface="Courier New" pitchFamily="34" charset="-120"/>
              </a:rPr>
              <a:t> /&gt;}&gt;</a:t>
            </a:r>
            <a:endParaRPr lang="en-US" sz="1300" dirty="0"/>
          </a:p>
          <a:p>
            <a:pPr algn="l" indent="0" marL="0">
              <a:buNone/>
            </a:pPr>
            <a:r>
              <a:rPr lang="en-US" sz="1300" dirty="0">
                <a:solidFill>
                  <a:srgbClr val="D6D3FF"/>
                </a:solidFill>
                <a:latin typeface="Courier New" pitchFamily="34" charset="0"/>
                <a:ea typeface="Courier New" pitchFamily="34" charset="-122"/>
                <a:cs typeface="Courier New" pitchFamily="34" charset="-120"/>
              </a:rPr>
              <a:t>  </a:t>
            </a:r>
            <a:pPr algn="l" indent="0" marL="0">
              <a:buNone/>
            </a:pPr>
            <a:r>
              <a:rPr lang="en-US" sz="1300" dirty="0">
                <a:solidFill>
                  <a:srgbClr val="22D3EE"/>
                </a:solidFill>
                <a:latin typeface="Courier New" pitchFamily="34" charset="0"/>
                <a:ea typeface="Courier New" pitchFamily="34" charset="-122"/>
                <a:cs typeface="Courier New" pitchFamily="34" charset="-120"/>
              </a:rPr>
              <a:t>&lt;SlowReviews</a:t>
            </a:r>
            <a:pPr algn="l" indent="0" marL="0">
              <a:buNone/>
            </a:pPr>
            <a:r>
              <a:rPr lang="en-US" sz="1300" dirty="0">
                <a:solidFill>
                  <a:srgbClr val="D6D3FF"/>
                </a:solidFill>
                <a:latin typeface="Courier New" pitchFamily="34" charset="0"/>
                <a:ea typeface="Courier New" pitchFamily="34" charset="-122"/>
                <a:cs typeface="Courier New" pitchFamily="34" charset="-120"/>
              </a:rPr>
              <a:t> /&gt;</a:t>
            </a:r>
            <a:endParaRPr lang="en-US" sz="1300" dirty="0"/>
          </a:p>
          <a:p>
            <a:pPr algn="l" indent="0" marL="0">
              <a:buNone/>
            </a:pPr>
            <a:r>
              <a:rPr lang="en-US" sz="1300" dirty="0">
                <a:solidFill>
                  <a:srgbClr val="22D3EE"/>
                </a:solidFill>
                <a:latin typeface="Courier New" pitchFamily="34" charset="0"/>
                <a:ea typeface="Courier New" pitchFamily="34" charset="-122"/>
                <a:cs typeface="Courier New" pitchFamily="34" charset="-120"/>
              </a:rPr>
              <a:t>&lt;/Suspense</a:t>
            </a:r>
            <a:pPr algn="l" indent="0" marL="0">
              <a:buNone/>
            </a:pPr>
            <a:r>
              <a:rPr lang="en-US" sz="1300" dirty="0">
                <a:solidFill>
                  <a:srgbClr val="D6D3FF"/>
                </a:solidFill>
                <a:latin typeface="Courier New" pitchFamily="34" charset="0"/>
                <a:ea typeface="Courier New" pitchFamily="34" charset="-122"/>
                <a:cs typeface="Courier New" pitchFamily="34" charset="-120"/>
              </a:rPr>
              <a:t>&gt;</a:t>
            </a:r>
            <a:endParaRPr lang="en-US" sz="13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SUSPENSE &amp; STREAMING</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Streaming: the page fills in as data arrives</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26</a:t>
            </a:r>
            <a:endParaRPr lang="en-US" sz="1100" dirty="0"/>
          </a:p>
        </p:txBody>
      </p:sp>
      <p:sp>
        <p:nvSpPr>
          <p:cNvPr id="7" name="Shape 3"/>
          <p:cNvSpPr/>
          <p:nvPr/>
        </p:nvSpPr>
        <p:spPr>
          <a:xfrm>
            <a:off x="548640" y="1600200"/>
            <a:ext cx="11091672" cy="502920"/>
          </a:xfrm>
          <a:prstGeom prst="roundRect">
            <a:avLst>
              <a:gd name="adj" fmla="val 21818"/>
            </a:avLst>
          </a:prstGeom>
          <a:solidFill>
            <a:srgbClr val="221E58"/>
          </a:solidFill>
          <a:ln w="12700">
            <a:solidFill>
              <a:srgbClr val="22D3EE"/>
            </a:solidFill>
            <a:prstDash val="solid"/>
          </a:ln>
        </p:spPr>
      </p:sp>
      <p:pic>
        <p:nvPicPr>
          <p:cNvPr id="8" name="Image 1" descr="preencoded.png">    </p:cNvPr>
          <p:cNvPicPr>
            <a:picLocks noChangeAspect="1"/>
          </p:cNvPicPr>
          <p:nvPr/>
        </p:nvPicPr>
        <p:blipFill>
          <a:blip r:embed="rId3"/>
          <a:stretch>
            <a:fillRect/>
          </a:stretch>
        </p:blipFill>
        <p:spPr>
          <a:xfrm>
            <a:off x="777240" y="1709928"/>
            <a:ext cx="274320" cy="274320"/>
          </a:xfrm>
          <a:prstGeom prst="rect">
            <a:avLst/>
          </a:prstGeom>
        </p:spPr>
      </p:pic>
      <p:sp>
        <p:nvSpPr>
          <p:cNvPr id="9" name="Text 4"/>
          <p:cNvSpPr txBox="1"/>
          <p:nvPr/>
        </p:nvSpPr>
        <p:spPr>
          <a:xfrm>
            <a:off x="1188720" y="1600200"/>
            <a:ext cx="10058400" cy="502920"/>
          </a:xfrm>
          <a:prstGeom prst="rect">
            <a:avLst/>
          </a:prstGeom>
          <a:noFill/>
          <a:ln/>
        </p:spPr>
        <p:txBody>
          <a:bodyPr wrap="square" lIns="0" tIns="0" rIns="0" bIns="0" rtlCol="0" anchor="ctr"/>
          <a:lstStyle/>
          <a:p>
            <a:pPr indent="0" marL="0">
              <a:buNone/>
            </a:pPr>
            <a:r>
              <a:rPr lang="en-US" sz="1500" b="1" dirty="0">
                <a:solidFill>
                  <a:srgbClr val="F4F3FF"/>
                </a:solidFill>
                <a:latin typeface="Calibri" pitchFamily="34" charset="0"/>
                <a:ea typeface="Calibri" pitchFamily="34" charset="-122"/>
                <a:cs typeface="Calibri" pitchFamily="34" charset="-120"/>
              </a:rPr>
              <a:t>Server streams HTML in chunks, as each part becomes ready</a:t>
            </a:r>
            <a:endParaRPr lang="en-US" sz="1500" dirty="0"/>
          </a:p>
        </p:txBody>
      </p:sp>
      <p:sp>
        <p:nvSpPr>
          <p:cNvPr id="10" name="A1_ar"/>
          <p:cNvSpPr/>
          <p:nvPr/>
        </p:nvSpPr>
        <p:spPr>
          <a:xfrm>
            <a:off x="2286000" y="2148840"/>
            <a:ext cx="0" cy="640080"/>
          </a:xfrm>
          <a:prstGeom prst="line">
            <a:avLst/>
          </a:prstGeom>
          <a:noFill/>
          <a:ln w="25400">
            <a:solidFill>
              <a:srgbClr val="22D3EE"/>
            </a:solidFill>
            <a:prstDash val="solid"/>
            <a:tailEnd type="triangle"/>
          </a:ln>
        </p:spPr>
      </p:sp>
      <p:sp>
        <p:nvSpPr>
          <p:cNvPr id="11" name="A1_ct"/>
          <p:cNvSpPr txBox="1"/>
          <p:nvPr/>
        </p:nvSpPr>
        <p:spPr>
          <a:xfrm>
            <a:off x="2423160" y="2331720"/>
            <a:ext cx="1828800" cy="365760"/>
          </a:xfrm>
          <a:prstGeom prst="rect">
            <a:avLst/>
          </a:prstGeom>
          <a:noFill/>
          <a:ln/>
        </p:spPr>
        <p:txBody>
          <a:bodyPr wrap="square" lIns="0" tIns="0" rIns="0" bIns="0" rtlCol="0" anchor="t"/>
          <a:lstStyle/>
          <a:p>
            <a:pPr indent="0" marL="0">
              <a:buNone/>
            </a:pPr>
            <a:r>
              <a:rPr lang="en-US" sz="1100" b="1" dirty="0">
                <a:solidFill>
                  <a:srgbClr val="22D3EE"/>
                </a:solidFill>
                <a:latin typeface="Calibri" pitchFamily="34" charset="0"/>
                <a:ea typeface="Calibri" pitchFamily="34" charset="-122"/>
                <a:cs typeface="Calibri" pitchFamily="34" charset="-120"/>
              </a:rPr>
              <a:t>Chunk 1: shell + fallbacks</a:t>
            </a:r>
            <a:endParaRPr lang="en-US" sz="1100" dirty="0"/>
          </a:p>
        </p:txBody>
      </p:sp>
      <p:sp>
        <p:nvSpPr>
          <p:cNvPr id="12" name="A1_brw"/>
          <p:cNvSpPr/>
          <p:nvPr/>
        </p:nvSpPr>
        <p:spPr>
          <a:xfrm>
            <a:off x="548640" y="2834640"/>
            <a:ext cx="3502152" cy="2514600"/>
          </a:xfrm>
          <a:prstGeom prst="roundRect">
            <a:avLst>
              <a:gd name="adj" fmla="val 4364"/>
            </a:avLst>
          </a:prstGeom>
          <a:solidFill>
            <a:srgbClr val="100E2E"/>
          </a:solidFill>
          <a:ln w="12700">
            <a:solidFill>
              <a:srgbClr val="3A3580"/>
            </a:solidFill>
            <a:prstDash val="solid"/>
          </a:ln>
        </p:spPr>
      </p:sp>
      <p:sp>
        <p:nvSpPr>
          <p:cNvPr id="13" name="A1_dot"/>
          <p:cNvSpPr/>
          <p:nvPr/>
        </p:nvSpPr>
        <p:spPr>
          <a:xfrm>
            <a:off x="694944" y="2935224"/>
            <a:ext cx="109728" cy="109728"/>
          </a:xfrm>
          <a:prstGeom prst="ellipse">
            <a:avLst/>
          </a:prstGeom>
          <a:solidFill>
            <a:srgbClr val="FB7185"/>
          </a:solidFill>
          <a:ln w="12700">
            <a:solidFill>
              <a:srgbClr val="FB7185"/>
            </a:solidFill>
            <a:prstDash val="solid"/>
          </a:ln>
        </p:spPr>
      </p:sp>
      <p:sp>
        <p:nvSpPr>
          <p:cNvPr id="14" name="A1_dot"/>
          <p:cNvSpPr/>
          <p:nvPr/>
        </p:nvSpPr>
        <p:spPr>
          <a:xfrm>
            <a:off x="877824" y="2935224"/>
            <a:ext cx="109728" cy="109728"/>
          </a:xfrm>
          <a:prstGeom prst="ellipse">
            <a:avLst/>
          </a:prstGeom>
          <a:solidFill>
            <a:srgbClr val="FBBF24"/>
          </a:solidFill>
          <a:ln w="12700">
            <a:solidFill>
              <a:srgbClr val="FBBF24"/>
            </a:solidFill>
            <a:prstDash val="solid"/>
          </a:ln>
        </p:spPr>
      </p:sp>
      <p:sp>
        <p:nvSpPr>
          <p:cNvPr id="15" name="A1_dot"/>
          <p:cNvSpPr/>
          <p:nvPr/>
        </p:nvSpPr>
        <p:spPr>
          <a:xfrm>
            <a:off x="1060704" y="2935224"/>
            <a:ext cx="109728" cy="109728"/>
          </a:xfrm>
          <a:prstGeom prst="ellipse">
            <a:avLst/>
          </a:prstGeom>
          <a:solidFill>
            <a:srgbClr val="34D399"/>
          </a:solidFill>
          <a:ln w="12700">
            <a:solidFill>
              <a:srgbClr val="34D399"/>
            </a:solidFill>
            <a:prstDash val="solid"/>
          </a:ln>
        </p:spPr>
      </p:sp>
      <p:sp>
        <p:nvSpPr>
          <p:cNvPr id="16" name="A1_url"/>
          <p:cNvSpPr txBox="1"/>
          <p:nvPr/>
        </p:nvSpPr>
        <p:spPr>
          <a:xfrm>
            <a:off x="1371600" y="2889504"/>
            <a:ext cx="2404872" cy="201168"/>
          </a:xfrm>
          <a:prstGeom prst="roundRect">
            <a:avLst>
              <a:gd name="adj" fmla="val 50000"/>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900" dirty="0">
                <a:solidFill>
                  <a:srgbClr val="A8A5D8"/>
                </a:solidFill>
                <a:latin typeface="Courier New" pitchFamily="34" charset="0"/>
                <a:ea typeface="Courier New" pitchFamily="34" charset="-122"/>
                <a:cs typeface="Courier New" pitchFamily="34" charset="-120"/>
              </a:rPr>
              <a:t>/products</a:t>
            </a:r>
            <a:endParaRPr lang="en-US" sz="900" dirty="0"/>
          </a:p>
        </p:txBody>
      </p:sp>
      <p:sp>
        <p:nvSpPr>
          <p:cNvPr id="17" name="A1_b0"/>
          <p:cNvSpPr txBox="1"/>
          <p:nvPr/>
        </p:nvSpPr>
        <p:spPr>
          <a:xfrm>
            <a:off x="713232" y="3291840"/>
            <a:ext cx="3172968" cy="429768"/>
          </a:xfrm>
          <a:prstGeom prst="roundRect">
            <a:avLst>
              <a:gd name="adj" fmla="val 21277"/>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Header</a:t>
            </a:r>
            <a:endParaRPr lang="en-US" sz="1200" dirty="0"/>
          </a:p>
        </p:txBody>
      </p:sp>
      <p:sp>
        <p:nvSpPr>
          <p:cNvPr id="18" name="A1_b1"/>
          <p:cNvSpPr txBox="1"/>
          <p:nvPr/>
        </p:nvSpPr>
        <p:spPr>
          <a:xfrm>
            <a:off x="713232" y="3794760"/>
            <a:ext cx="3172968" cy="429768"/>
          </a:xfrm>
          <a:prstGeom prst="roundRect">
            <a:avLst>
              <a:gd name="adj" fmla="val 21277"/>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Nav</a:t>
            </a:r>
            <a:endParaRPr lang="en-US" sz="1200" dirty="0"/>
          </a:p>
        </p:txBody>
      </p:sp>
      <p:sp>
        <p:nvSpPr>
          <p:cNvPr id="19" name="A1_b2"/>
          <p:cNvSpPr txBox="1"/>
          <p:nvPr/>
        </p:nvSpPr>
        <p:spPr>
          <a:xfrm>
            <a:off x="713232" y="4297680"/>
            <a:ext cx="3172968" cy="429768"/>
          </a:xfrm>
          <a:prstGeom prst="roundRect">
            <a:avLst>
              <a:gd name="adj" fmla="val 21277"/>
            </a:avLst>
          </a:prstGeom>
          <a:solidFill>
            <a:srgbClr val="0C0A20"/>
          </a:solidFill>
          <a:ln w="12700">
            <a:solidFill>
              <a:srgbClr val="FBBF24"/>
            </a:solidFill>
            <a:prstDash val="dash"/>
          </a:ln>
        </p:spPr>
        <p:txBody>
          <a:bodyPr wrap="square" lIns="50800" tIns="50800" rIns="50800" bIns="50800" rtlCol="0" anchor="ctr"/>
          <a:lstStyle/>
          <a:p>
            <a:pPr algn="ctr" indent="0" marL="0">
              <a:buNone/>
            </a:pPr>
            <a:r>
              <a:rPr lang="en-US" sz="1200" dirty="0">
                <a:solidFill>
                  <a:srgbClr val="FBBF24"/>
                </a:solidFill>
                <a:latin typeface="Calibri" pitchFamily="34" charset="0"/>
                <a:ea typeface="Calibri" pitchFamily="34" charset="-122"/>
                <a:cs typeface="Calibri" pitchFamily="34" charset="-120"/>
              </a:rPr>
              <a:t>Skeleton</a:t>
            </a:r>
            <a:endParaRPr lang="en-US" sz="1200" dirty="0"/>
          </a:p>
        </p:txBody>
      </p:sp>
      <p:sp>
        <p:nvSpPr>
          <p:cNvPr id="20" name="A1_b3"/>
          <p:cNvSpPr txBox="1"/>
          <p:nvPr/>
        </p:nvSpPr>
        <p:spPr>
          <a:xfrm>
            <a:off x="713232" y="4800600"/>
            <a:ext cx="3172968" cy="429768"/>
          </a:xfrm>
          <a:prstGeom prst="roundRect">
            <a:avLst>
              <a:gd name="adj" fmla="val 21277"/>
            </a:avLst>
          </a:prstGeom>
          <a:solidFill>
            <a:srgbClr val="0C0A20"/>
          </a:solidFill>
          <a:ln w="12700">
            <a:solidFill>
              <a:srgbClr val="FBBF24"/>
            </a:solidFill>
            <a:prstDash val="dash"/>
          </a:ln>
        </p:spPr>
        <p:txBody>
          <a:bodyPr wrap="square" lIns="50800" tIns="50800" rIns="50800" bIns="50800" rtlCol="0" anchor="ctr"/>
          <a:lstStyle/>
          <a:p>
            <a:pPr algn="ctr" indent="0" marL="0">
              <a:buNone/>
            </a:pPr>
            <a:r>
              <a:rPr lang="en-US" sz="1200" dirty="0">
                <a:solidFill>
                  <a:srgbClr val="FBBF24"/>
                </a:solidFill>
                <a:latin typeface="Calibri" pitchFamily="34" charset="0"/>
                <a:ea typeface="Calibri" pitchFamily="34" charset="-122"/>
                <a:cs typeface="Calibri" pitchFamily="34" charset="-120"/>
              </a:rPr>
              <a:t>Skeleton</a:t>
            </a:r>
            <a:endParaRPr lang="en-US" sz="1200" dirty="0"/>
          </a:p>
        </p:txBody>
      </p:sp>
      <p:sp>
        <p:nvSpPr>
          <p:cNvPr id="21" name="A1_tm"/>
          <p:cNvSpPr txBox="1"/>
          <p:nvPr/>
        </p:nvSpPr>
        <p:spPr>
          <a:xfrm>
            <a:off x="548640" y="5440680"/>
            <a:ext cx="3502152" cy="274320"/>
          </a:xfrm>
          <a:prstGeom prst="rect">
            <a:avLst/>
          </a:prstGeom>
          <a:noFill/>
          <a:ln/>
        </p:spPr>
        <p:txBody>
          <a:bodyPr wrap="square" lIns="0" tIns="0" rIns="0" bIns="0" rtlCol="0" anchor="t"/>
          <a:lstStyle/>
          <a:p>
            <a:pPr algn="ctr" indent="0" marL="0">
              <a:buNone/>
            </a:pPr>
            <a:r>
              <a:rPr lang="en-US" sz="1300" b="1" dirty="0">
                <a:solidFill>
                  <a:srgbClr val="A8A5D8"/>
                </a:solidFill>
                <a:latin typeface="Calibri" pitchFamily="34" charset="0"/>
                <a:ea typeface="Calibri" pitchFamily="34" charset="-122"/>
                <a:cs typeface="Calibri" pitchFamily="34" charset="-120"/>
              </a:rPr>
              <a:t>0 ms</a:t>
            </a:r>
            <a:endParaRPr lang="en-US" sz="1300" dirty="0"/>
          </a:p>
        </p:txBody>
      </p:sp>
      <p:sp>
        <p:nvSpPr>
          <p:cNvPr id="22" name="A2_ar"/>
          <p:cNvSpPr/>
          <p:nvPr/>
        </p:nvSpPr>
        <p:spPr>
          <a:xfrm>
            <a:off x="6080760" y="2148840"/>
            <a:ext cx="0" cy="640080"/>
          </a:xfrm>
          <a:prstGeom prst="line">
            <a:avLst/>
          </a:prstGeom>
          <a:noFill/>
          <a:ln w="25400">
            <a:solidFill>
              <a:srgbClr val="22D3EE"/>
            </a:solidFill>
            <a:prstDash val="solid"/>
            <a:tailEnd type="triangle"/>
          </a:ln>
        </p:spPr>
      </p:sp>
      <p:sp>
        <p:nvSpPr>
          <p:cNvPr id="23" name="A2_ct"/>
          <p:cNvSpPr txBox="1"/>
          <p:nvPr/>
        </p:nvSpPr>
        <p:spPr>
          <a:xfrm>
            <a:off x="6217920" y="2331720"/>
            <a:ext cx="1828800" cy="365760"/>
          </a:xfrm>
          <a:prstGeom prst="rect">
            <a:avLst/>
          </a:prstGeom>
          <a:noFill/>
          <a:ln/>
        </p:spPr>
        <p:txBody>
          <a:bodyPr wrap="square" lIns="0" tIns="0" rIns="0" bIns="0" rtlCol="0" anchor="t"/>
          <a:lstStyle/>
          <a:p>
            <a:pPr indent="0" marL="0">
              <a:buNone/>
            </a:pPr>
            <a:r>
              <a:rPr lang="en-US" sz="1100" b="1" dirty="0">
                <a:solidFill>
                  <a:srgbClr val="22D3EE"/>
                </a:solidFill>
                <a:latin typeface="Calibri" pitchFamily="34" charset="0"/>
                <a:ea typeface="Calibri" pitchFamily="34" charset="-122"/>
                <a:cs typeface="Calibri" pitchFamily="34" charset="-120"/>
              </a:rPr>
              <a:t>Chunk 2: fast content</a:t>
            </a:r>
            <a:endParaRPr lang="en-US" sz="1100" dirty="0"/>
          </a:p>
        </p:txBody>
      </p:sp>
      <p:sp>
        <p:nvSpPr>
          <p:cNvPr id="24" name="A2_brw"/>
          <p:cNvSpPr/>
          <p:nvPr/>
        </p:nvSpPr>
        <p:spPr>
          <a:xfrm>
            <a:off x="4343400" y="2834640"/>
            <a:ext cx="3502152" cy="2514600"/>
          </a:xfrm>
          <a:prstGeom prst="roundRect">
            <a:avLst>
              <a:gd name="adj" fmla="val 4364"/>
            </a:avLst>
          </a:prstGeom>
          <a:solidFill>
            <a:srgbClr val="100E2E"/>
          </a:solidFill>
          <a:ln w="12700">
            <a:solidFill>
              <a:srgbClr val="3A3580"/>
            </a:solidFill>
            <a:prstDash val="solid"/>
          </a:ln>
        </p:spPr>
      </p:sp>
      <p:sp>
        <p:nvSpPr>
          <p:cNvPr id="25" name="A2_dot"/>
          <p:cNvSpPr/>
          <p:nvPr/>
        </p:nvSpPr>
        <p:spPr>
          <a:xfrm>
            <a:off x="4489704" y="2935224"/>
            <a:ext cx="109728" cy="109728"/>
          </a:xfrm>
          <a:prstGeom prst="ellipse">
            <a:avLst/>
          </a:prstGeom>
          <a:solidFill>
            <a:srgbClr val="FB7185"/>
          </a:solidFill>
          <a:ln w="12700">
            <a:solidFill>
              <a:srgbClr val="FB7185"/>
            </a:solidFill>
            <a:prstDash val="solid"/>
          </a:ln>
        </p:spPr>
      </p:sp>
      <p:sp>
        <p:nvSpPr>
          <p:cNvPr id="26" name="A2_dot"/>
          <p:cNvSpPr/>
          <p:nvPr/>
        </p:nvSpPr>
        <p:spPr>
          <a:xfrm>
            <a:off x="4672584" y="2935224"/>
            <a:ext cx="109728" cy="109728"/>
          </a:xfrm>
          <a:prstGeom prst="ellipse">
            <a:avLst/>
          </a:prstGeom>
          <a:solidFill>
            <a:srgbClr val="FBBF24"/>
          </a:solidFill>
          <a:ln w="12700">
            <a:solidFill>
              <a:srgbClr val="FBBF24"/>
            </a:solidFill>
            <a:prstDash val="solid"/>
          </a:ln>
        </p:spPr>
      </p:sp>
      <p:sp>
        <p:nvSpPr>
          <p:cNvPr id="27" name="A2_dot"/>
          <p:cNvSpPr/>
          <p:nvPr/>
        </p:nvSpPr>
        <p:spPr>
          <a:xfrm>
            <a:off x="4855464" y="2935224"/>
            <a:ext cx="109728" cy="109728"/>
          </a:xfrm>
          <a:prstGeom prst="ellipse">
            <a:avLst/>
          </a:prstGeom>
          <a:solidFill>
            <a:srgbClr val="34D399"/>
          </a:solidFill>
          <a:ln w="12700">
            <a:solidFill>
              <a:srgbClr val="34D399"/>
            </a:solidFill>
            <a:prstDash val="solid"/>
          </a:ln>
        </p:spPr>
      </p:sp>
      <p:sp>
        <p:nvSpPr>
          <p:cNvPr id="28" name="A2_url"/>
          <p:cNvSpPr txBox="1"/>
          <p:nvPr/>
        </p:nvSpPr>
        <p:spPr>
          <a:xfrm>
            <a:off x="5166360" y="2889504"/>
            <a:ext cx="2404872" cy="201168"/>
          </a:xfrm>
          <a:prstGeom prst="roundRect">
            <a:avLst>
              <a:gd name="adj" fmla="val 50000"/>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900" dirty="0">
                <a:solidFill>
                  <a:srgbClr val="A8A5D8"/>
                </a:solidFill>
                <a:latin typeface="Courier New" pitchFamily="34" charset="0"/>
                <a:ea typeface="Courier New" pitchFamily="34" charset="-122"/>
                <a:cs typeface="Courier New" pitchFamily="34" charset="-120"/>
              </a:rPr>
              <a:t>/products</a:t>
            </a:r>
            <a:endParaRPr lang="en-US" sz="900" dirty="0"/>
          </a:p>
        </p:txBody>
      </p:sp>
      <p:sp>
        <p:nvSpPr>
          <p:cNvPr id="29" name="A2_b0"/>
          <p:cNvSpPr txBox="1"/>
          <p:nvPr/>
        </p:nvSpPr>
        <p:spPr>
          <a:xfrm>
            <a:off x="4507992" y="3291840"/>
            <a:ext cx="3172968" cy="429768"/>
          </a:xfrm>
          <a:prstGeom prst="roundRect">
            <a:avLst>
              <a:gd name="adj" fmla="val 21277"/>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Header</a:t>
            </a:r>
            <a:endParaRPr lang="en-US" sz="1200" dirty="0"/>
          </a:p>
        </p:txBody>
      </p:sp>
      <p:sp>
        <p:nvSpPr>
          <p:cNvPr id="30" name="A2_b1"/>
          <p:cNvSpPr txBox="1"/>
          <p:nvPr/>
        </p:nvSpPr>
        <p:spPr>
          <a:xfrm>
            <a:off x="4507992" y="3794760"/>
            <a:ext cx="3172968" cy="429768"/>
          </a:xfrm>
          <a:prstGeom prst="roundRect">
            <a:avLst>
              <a:gd name="adj" fmla="val 21277"/>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Nav</a:t>
            </a:r>
            <a:endParaRPr lang="en-US" sz="1200" dirty="0"/>
          </a:p>
        </p:txBody>
      </p:sp>
      <p:sp>
        <p:nvSpPr>
          <p:cNvPr id="31" name="A2_b2"/>
          <p:cNvSpPr txBox="1"/>
          <p:nvPr/>
        </p:nvSpPr>
        <p:spPr>
          <a:xfrm>
            <a:off x="4507992" y="4297680"/>
            <a:ext cx="3172968" cy="429768"/>
          </a:xfrm>
          <a:prstGeom prst="roundRect">
            <a:avLst>
              <a:gd name="adj" fmla="val 21277"/>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Product list</a:t>
            </a:r>
            <a:endParaRPr lang="en-US" sz="1200" dirty="0"/>
          </a:p>
        </p:txBody>
      </p:sp>
      <p:sp>
        <p:nvSpPr>
          <p:cNvPr id="32" name="A2_b3"/>
          <p:cNvSpPr txBox="1"/>
          <p:nvPr/>
        </p:nvSpPr>
        <p:spPr>
          <a:xfrm>
            <a:off x="4507992" y="4800600"/>
            <a:ext cx="3172968" cy="429768"/>
          </a:xfrm>
          <a:prstGeom prst="roundRect">
            <a:avLst>
              <a:gd name="adj" fmla="val 21277"/>
            </a:avLst>
          </a:prstGeom>
          <a:solidFill>
            <a:srgbClr val="0C0A20"/>
          </a:solidFill>
          <a:ln w="12700">
            <a:solidFill>
              <a:srgbClr val="FBBF24"/>
            </a:solidFill>
            <a:prstDash val="dash"/>
          </a:ln>
        </p:spPr>
        <p:txBody>
          <a:bodyPr wrap="square" lIns="50800" tIns="50800" rIns="50800" bIns="50800" rtlCol="0" anchor="ctr"/>
          <a:lstStyle/>
          <a:p>
            <a:pPr algn="ctr" indent="0" marL="0">
              <a:buNone/>
            </a:pPr>
            <a:r>
              <a:rPr lang="en-US" sz="1200" dirty="0">
                <a:solidFill>
                  <a:srgbClr val="FBBF24"/>
                </a:solidFill>
                <a:latin typeface="Calibri" pitchFamily="34" charset="0"/>
                <a:ea typeface="Calibri" pitchFamily="34" charset="-122"/>
                <a:cs typeface="Calibri" pitchFamily="34" charset="-120"/>
              </a:rPr>
              <a:t>Skeleton</a:t>
            </a:r>
            <a:endParaRPr lang="en-US" sz="1200" dirty="0"/>
          </a:p>
        </p:txBody>
      </p:sp>
      <p:sp>
        <p:nvSpPr>
          <p:cNvPr id="33" name="A2_tm"/>
          <p:cNvSpPr txBox="1"/>
          <p:nvPr/>
        </p:nvSpPr>
        <p:spPr>
          <a:xfrm>
            <a:off x="4343400" y="5440680"/>
            <a:ext cx="3502152" cy="274320"/>
          </a:xfrm>
          <a:prstGeom prst="rect">
            <a:avLst/>
          </a:prstGeom>
          <a:noFill/>
          <a:ln/>
        </p:spPr>
        <p:txBody>
          <a:bodyPr wrap="square" lIns="0" tIns="0" rIns="0" bIns="0" rtlCol="0" anchor="t"/>
          <a:lstStyle/>
          <a:p>
            <a:pPr algn="ctr" indent="0" marL="0">
              <a:buNone/>
            </a:pPr>
            <a:r>
              <a:rPr lang="en-US" sz="1300" b="1" dirty="0">
                <a:solidFill>
                  <a:srgbClr val="A8A5D8"/>
                </a:solidFill>
                <a:latin typeface="Calibri" pitchFamily="34" charset="0"/>
                <a:ea typeface="Calibri" pitchFamily="34" charset="-122"/>
                <a:cs typeface="Calibri" pitchFamily="34" charset="-120"/>
              </a:rPr>
              <a:t>200 ms</a:t>
            </a:r>
            <a:endParaRPr lang="en-US" sz="1300" dirty="0"/>
          </a:p>
        </p:txBody>
      </p:sp>
      <p:sp>
        <p:nvSpPr>
          <p:cNvPr id="34" name="A3_ar"/>
          <p:cNvSpPr/>
          <p:nvPr/>
        </p:nvSpPr>
        <p:spPr>
          <a:xfrm>
            <a:off x="9875520" y="2148840"/>
            <a:ext cx="0" cy="640080"/>
          </a:xfrm>
          <a:prstGeom prst="line">
            <a:avLst/>
          </a:prstGeom>
          <a:noFill/>
          <a:ln w="25400">
            <a:solidFill>
              <a:srgbClr val="22D3EE"/>
            </a:solidFill>
            <a:prstDash val="solid"/>
            <a:tailEnd type="triangle"/>
          </a:ln>
        </p:spPr>
      </p:sp>
      <p:sp>
        <p:nvSpPr>
          <p:cNvPr id="35" name="A3_ct"/>
          <p:cNvSpPr txBox="1"/>
          <p:nvPr/>
        </p:nvSpPr>
        <p:spPr>
          <a:xfrm>
            <a:off x="10012680" y="2331720"/>
            <a:ext cx="1828800" cy="365760"/>
          </a:xfrm>
          <a:prstGeom prst="rect">
            <a:avLst/>
          </a:prstGeom>
          <a:noFill/>
          <a:ln/>
        </p:spPr>
        <p:txBody>
          <a:bodyPr wrap="square" lIns="0" tIns="0" rIns="0" bIns="0" rtlCol="0" anchor="t"/>
          <a:lstStyle/>
          <a:p>
            <a:pPr indent="0" marL="0">
              <a:buNone/>
            </a:pPr>
            <a:r>
              <a:rPr lang="en-US" sz="1100" b="1" dirty="0">
                <a:solidFill>
                  <a:srgbClr val="22D3EE"/>
                </a:solidFill>
                <a:latin typeface="Calibri" pitchFamily="34" charset="0"/>
                <a:ea typeface="Calibri" pitchFamily="34" charset="-122"/>
                <a:cs typeface="Calibri" pitchFamily="34" charset="-120"/>
              </a:rPr>
              <a:t>Chunk 3: slow content</a:t>
            </a:r>
            <a:endParaRPr lang="en-US" sz="1100" dirty="0"/>
          </a:p>
        </p:txBody>
      </p:sp>
      <p:sp>
        <p:nvSpPr>
          <p:cNvPr id="36" name="A3_brw"/>
          <p:cNvSpPr/>
          <p:nvPr/>
        </p:nvSpPr>
        <p:spPr>
          <a:xfrm>
            <a:off x="8138160" y="2834640"/>
            <a:ext cx="3502152" cy="2514600"/>
          </a:xfrm>
          <a:prstGeom prst="roundRect">
            <a:avLst>
              <a:gd name="adj" fmla="val 4364"/>
            </a:avLst>
          </a:prstGeom>
          <a:solidFill>
            <a:srgbClr val="100E2E"/>
          </a:solidFill>
          <a:ln w="12700">
            <a:solidFill>
              <a:srgbClr val="3A3580"/>
            </a:solidFill>
            <a:prstDash val="solid"/>
          </a:ln>
        </p:spPr>
      </p:sp>
      <p:sp>
        <p:nvSpPr>
          <p:cNvPr id="37" name="A3_dot"/>
          <p:cNvSpPr/>
          <p:nvPr/>
        </p:nvSpPr>
        <p:spPr>
          <a:xfrm>
            <a:off x="8284464" y="2935224"/>
            <a:ext cx="109728" cy="109728"/>
          </a:xfrm>
          <a:prstGeom prst="ellipse">
            <a:avLst/>
          </a:prstGeom>
          <a:solidFill>
            <a:srgbClr val="FB7185"/>
          </a:solidFill>
          <a:ln w="12700">
            <a:solidFill>
              <a:srgbClr val="FB7185"/>
            </a:solidFill>
            <a:prstDash val="solid"/>
          </a:ln>
        </p:spPr>
      </p:sp>
      <p:sp>
        <p:nvSpPr>
          <p:cNvPr id="38" name="A3_dot"/>
          <p:cNvSpPr/>
          <p:nvPr/>
        </p:nvSpPr>
        <p:spPr>
          <a:xfrm>
            <a:off x="8467344" y="2935224"/>
            <a:ext cx="109728" cy="109728"/>
          </a:xfrm>
          <a:prstGeom prst="ellipse">
            <a:avLst/>
          </a:prstGeom>
          <a:solidFill>
            <a:srgbClr val="FBBF24"/>
          </a:solidFill>
          <a:ln w="12700">
            <a:solidFill>
              <a:srgbClr val="FBBF24"/>
            </a:solidFill>
            <a:prstDash val="solid"/>
          </a:ln>
        </p:spPr>
      </p:sp>
      <p:sp>
        <p:nvSpPr>
          <p:cNvPr id="39" name="A3_dot"/>
          <p:cNvSpPr/>
          <p:nvPr/>
        </p:nvSpPr>
        <p:spPr>
          <a:xfrm>
            <a:off x="8650224" y="2935224"/>
            <a:ext cx="109728" cy="109728"/>
          </a:xfrm>
          <a:prstGeom prst="ellipse">
            <a:avLst/>
          </a:prstGeom>
          <a:solidFill>
            <a:srgbClr val="34D399"/>
          </a:solidFill>
          <a:ln w="12700">
            <a:solidFill>
              <a:srgbClr val="34D399"/>
            </a:solidFill>
            <a:prstDash val="solid"/>
          </a:ln>
        </p:spPr>
      </p:sp>
      <p:sp>
        <p:nvSpPr>
          <p:cNvPr id="40" name="A3_url"/>
          <p:cNvSpPr txBox="1"/>
          <p:nvPr/>
        </p:nvSpPr>
        <p:spPr>
          <a:xfrm>
            <a:off x="8961120" y="2889504"/>
            <a:ext cx="2404872" cy="201168"/>
          </a:xfrm>
          <a:prstGeom prst="roundRect">
            <a:avLst>
              <a:gd name="adj" fmla="val 50000"/>
            </a:avLst>
          </a:prstGeom>
          <a:solidFill>
            <a:srgbClr val="17143F"/>
          </a:solidFill>
          <a:ln w="12700">
            <a:solidFill>
              <a:srgbClr val="3A3580"/>
            </a:solidFill>
            <a:prstDash val="solid"/>
          </a:ln>
        </p:spPr>
        <p:txBody>
          <a:bodyPr wrap="square" lIns="25400" tIns="25400" rIns="25400" bIns="25400" rtlCol="0" anchor="ctr"/>
          <a:lstStyle/>
          <a:p>
            <a:pPr algn="ctr" indent="0" marL="0">
              <a:buNone/>
            </a:pPr>
            <a:r>
              <a:rPr lang="en-US" sz="900" dirty="0">
                <a:solidFill>
                  <a:srgbClr val="A8A5D8"/>
                </a:solidFill>
                <a:latin typeface="Courier New" pitchFamily="34" charset="0"/>
                <a:ea typeface="Courier New" pitchFamily="34" charset="-122"/>
                <a:cs typeface="Courier New" pitchFamily="34" charset="-120"/>
              </a:rPr>
              <a:t>/products</a:t>
            </a:r>
            <a:endParaRPr lang="en-US" sz="900" dirty="0"/>
          </a:p>
        </p:txBody>
      </p:sp>
      <p:sp>
        <p:nvSpPr>
          <p:cNvPr id="41" name="A3_b0"/>
          <p:cNvSpPr txBox="1"/>
          <p:nvPr/>
        </p:nvSpPr>
        <p:spPr>
          <a:xfrm>
            <a:off x="8302752" y="3291840"/>
            <a:ext cx="3172968" cy="429768"/>
          </a:xfrm>
          <a:prstGeom prst="roundRect">
            <a:avLst>
              <a:gd name="adj" fmla="val 21277"/>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Header</a:t>
            </a:r>
            <a:endParaRPr lang="en-US" sz="1200" dirty="0"/>
          </a:p>
        </p:txBody>
      </p:sp>
      <p:sp>
        <p:nvSpPr>
          <p:cNvPr id="42" name="A3_b1"/>
          <p:cNvSpPr txBox="1"/>
          <p:nvPr/>
        </p:nvSpPr>
        <p:spPr>
          <a:xfrm>
            <a:off x="8302752" y="3794760"/>
            <a:ext cx="3172968" cy="429768"/>
          </a:xfrm>
          <a:prstGeom prst="roundRect">
            <a:avLst>
              <a:gd name="adj" fmla="val 21277"/>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Nav</a:t>
            </a:r>
            <a:endParaRPr lang="en-US" sz="1200" dirty="0"/>
          </a:p>
        </p:txBody>
      </p:sp>
      <p:sp>
        <p:nvSpPr>
          <p:cNvPr id="43" name="A3_b2"/>
          <p:cNvSpPr txBox="1"/>
          <p:nvPr/>
        </p:nvSpPr>
        <p:spPr>
          <a:xfrm>
            <a:off x="8302752" y="4297680"/>
            <a:ext cx="3172968" cy="429768"/>
          </a:xfrm>
          <a:prstGeom prst="roundRect">
            <a:avLst>
              <a:gd name="adj" fmla="val 21277"/>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Product list</a:t>
            </a:r>
            <a:endParaRPr lang="en-US" sz="1200" dirty="0"/>
          </a:p>
        </p:txBody>
      </p:sp>
      <p:sp>
        <p:nvSpPr>
          <p:cNvPr id="44" name="A3_b3"/>
          <p:cNvSpPr txBox="1"/>
          <p:nvPr/>
        </p:nvSpPr>
        <p:spPr>
          <a:xfrm>
            <a:off x="8302752" y="4800600"/>
            <a:ext cx="3172968" cy="429768"/>
          </a:xfrm>
          <a:prstGeom prst="roundRect">
            <a:avLst>
              <a:gd name="adj" fmla="val 21277"/>
            </a:avLst>
          </a:prstGeom>
          <a:solidFill>
            <a:srgbClr val="221E58"/>
          </a:solidFill>
          <a:ln w="12700">
            <a:solidFill>
              <a:srgbClr val="34D399"/>
            </a:solidFill>
            <a:prstDash val="solid"/>
          </a:ln>
        </p:spPr>
        <p:txBody>
          <a:bodyPr wrap="square" lIns="50800" tIns="50800" rIns="50800" bIns="50800" rtlCol="0" anchor="ctr"/>
          <a:lstStyle/>
          <a:p>
            <a:pPr algn="ctr" indent="0" marL="0">
              <a:buNone/>
            </a:pPr>
            <a:r>
              <a:rPr lang="en-US" sz="1200" b="1" dirty="0">
                <a:solidFill>
                  <a:srgbClr val="F4F3FF"/>
                </a:solidFill>
                <a:latin typeface="Calibri" pitchFamily="34" charset="0"/>
                <a:ea typeface="Calibri" pitchFamily="34" charset="-122"/>
                <a:cs typeface="Calibri" pitchFamily="34" charset="-120"/>
              </a:rPr>
              <a:t>Reviews</a:t>
            </a:r>
            <a:endParaRPr lang="en-US" sz="1200" dirty="0"/>
          </a:p>
        </p:txBody>
      </p:sp>
      <p:sp>
        <p:nvSpPr>
          <p:cNvPr id="45" name="A3_tm"/>
          <p:cNvSpPr txBox="1"/>
          <p:nvPr/>
        </p:nvSpPr>
        <p:spPr>
          <a:xfrm>
            <a:off x="8138160" y="5440680"/>
            <a:ext cx="3502152" cy="274320"/>
          </a:xfrm>
          <a:prstGeom prst="rect">
            <a:avLst/>
          </a:prstGeom>
          <a:noFill/>
          <a:ln/>
        </p:spPr>
        <p:txBody>
          <a:bodyPr wrap="square" lIns="0" tIns="0" rIns="0" bIns="0" rtlCol="0" anchor="t"/>
          <a:lstStyle/>
          <a:p>
            <a:pPr algn="ctr" indent="0" marL="0">
              <a:buNone/>
            </a:pPr>
            <a:r>
              <a:rPr lang="en-US" sz="1300" b="1" dirty="0">
                <a:solidFill>
                  <a:srgbClr val="A8A5D8"/>
                </a:solidFill>
                <a:latin typeface="Calibri" pitchFamily="34" charset="0"/>
                <a:ea typeface="Calibri" pitchFamily="34" charset="-122"/>
                <a:cs typeface="Calibri" pitchFamily="34" charset="-120"/>
              </a:rPr>
              <a:t>1.2 s</a:t>
            </a:r>
            <a:endParaRPr lang="en-US" sz="1300" dirty="0"/>
          </a:p>
        </p:txBody>
      </p:sp>
      <p:sp>
        <p:nvSpPr>
          <p:cNvPr id="46" name="Text 41"/>
          <p:cNvSpPr txBox="1"/>
          <p:nvPr/>
        </p:nvSpPr>
        <p:spPr>
          <a:xfrm>
            <a:off x="548640" y="5760720"/>
            <a:ext cx="2743200" cy="228600"/>
          </a:xfrm>
          <a:prstGeom prst="rect">
            <a:avLst/>
          </a:prstGeom>
          <a:noFill/>
          <a:ln/>
        </p:spPr>
        <p:txBody>
          <a:bodyPr wrap="square" lIns="0" tIns="0" rIns="0" bIns="0" rtlCol="0" anchor="t"/>
          <a:lstStyle/>
          <a:p>
            <a:pPr indent="0" marL="0">
              <a:buNone/>
            </a:pPr>
            <a:r>
              <a:rPr lang="en-US" sz="1000" i="1" dirty="0">
                <a:solidFill>
                  <a:srgbClr val="A8A5D8"/>
                </a:solidFill>
                <a:latin typeface="Calibri" pitchFamily="34" charset="0"/>
                <a:ea typeface="Calibri" pitchFamily="34" charset="-122"/>
                <a:cs typeface="Calibri" pitchFamily="34" charset="-120"/>
              </a:rPr>
              <a:t>illustrative timings</a:t>
            </a:r>
            <a:endParaRPr lang="en-US" sz="1000" dirty="0"/>
          </a:p>
        </p:txBody>
      </p:sp>
      <p:sp>
        <p:nvSpPr>
          <p:cNvPr id="47" name="Shape 42"/>
          <p:cNvSpPr/>
          <p:nvPr/>
        </p:nvSpPr>
        <p:spPr>
          <a:xfrm>
            <a:off x="548640" y="5943600"/>
            <a:ext cx="11091672" cy="384048"/>
          </a:xfrm>
          <a:prstGeom prst="roundRect">
            <a:avLst>
              <a:gd name="adj" fmla="val 23810"/>
            </a:avLst>
          </a:prstGeom>
          <a:solidFill>
            <a:srgbClr val="17143F"/>
          </a:solidFill>
          <a:ln w="12700">
            <a:solidFill>
              <a:srgbClr val="8B7CFF"/>
            </a:solidFill>
            <a:prstDash val="solid"/>
          </a:ln>
        </p:spPr>
      </p:sp>
      <p:sp>
        <p:nvSpPr>
          <p:cNvPr id="48" name="Text 43"/>
          <p:cNvSpPr txBox="1"/>
          <p:nvPr/>
        </p:nvSpPr>
        <p:spPr>
          <a:xfrm>
            <a:off x="777240" y="5943600"/>
            <a:ext cx="10607040" cy="384048"/>
          </a:xfrm>
          <a:prstGeom prst="rect">
            <a:avLst/>
          </a:prstGeom>
          <a:noFill/>
          <a:ln/>
        </p:spPr>
        <p:txBody>
          <a:bodyPr wrap="square" lIns="0" tIns="0" rIns="0" bIns="0" rtlCol="0" anchor="ctr"/>
          <a:lstStyle/>
          <a:p>
            <a:pPr indent="0" marL="0">
              <a:buNone/>
            </a:pPr>
            <a:r>
              <a:rPr lang="en-US" sz="1400" b="1" dirty="0">
                <a:solidFill>
                  <a:srgbClr val="8B7CFF"/>
                </a:solidFill>
                <a:latin typeface="Calibri" pitchFamily="34" charset="0"/>
                <a:ea typeface="Calibri" pitchFamily="34" charset="-122"/>
                <a:cs typeface="Calibri" pitchFamily="34" charset="-120"/>
              </a:rPr>
              <a:t>Same data, sooner feedback. That is perceived performance.</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50"/>
                                        <p:tgtEl>
                                          <p:spTgt spid="10"/>
                                        </p:tgtEl>
                                      </p:cBhvr>
                                    </p:animEffect>
                                  </p:childTnLst>
                                </p:cTn>
                              </p:par>
                              <p:par>
                                <p:cTn id="6" presetID="10" presetClass="entr" presetSubtype="0" fill="hold" nodeType="withEffect">
                                  <p:stCondLst>
                                    <p:cond delay="0"/>
                                  </p:stCondLst>
                                  <p:childTnLst>
                                    <p:set>
                                      <p:cBhvr>
                                        <p:cTn id="7" dur="1" fill="hold">
                                          <p:stCondLst>
                                            <p:cond delay="0"/>
                                          </p:stCondLst>
                                        </p:cTn>
                                        <p:tgtEl>
                                          <p:spTgt spid="11"/>
                                        </p:tgtEl>
                                        <p:attrNameLst>
                                          <p:attrName>style.visibility</p:attrName>
                                        </p:attrNameLst>
                                      </p:cBhvr>
                                      <p:to>
                                        <p:strVal val="visible"/>
                                      </p:to>
                                    </p:set>
                                    <p:animEffect transition="in" filter="fade">
                                      <p:cBhvr>
                                        <p:cTn id="8" dur="450"/>
                                        <p:tgtEl>
                                          <p:spTgt spid="11"/>
                                        </p:tgtEl>
                                      </p:cBhvr>
                                    </p:animEffect>
                                  </p:childTnLst>
                                </p:cTn>
                              </p:par>
                              <p:par>
                                <p:cTn id="9" presetID="10"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50"/>
                                        <p:tgtEl>
                                          <p:spTgt spid="12"/>
                                        </p:tgtEl>
                                      </p:cBhvr>
                                    </p:animEffect>
                                  </p:childTnLst>
                                </p:cTn>
                              </p:par>
                              <p:par>
                                <p:cTn id="12" presetID="10"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50"/>
                                        <p:tgtEl>
                                          <p:spTgt spid="17"/>
                                        </p:tgtEl>
                                      </p:cBhvr>
                                    </p:animEffect>
                                  </p:childTnLst>
                                </p:cTn>
                              </p:par>
                              <p:par>
                                <p:cTn id="27" presetID="10"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par>
                                <p:cTn id="30" presetID="10"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50"/>
                                        <p:tgtEl>
                                          <p:spTgt spid="19"/>
                                        </p:tgtEl>
                                      </p:cBhvr>
                                    </p:animEffect>
                                  </p:childTnLst>
                                </p:cTn>
                              </p:par>
                              <p:par>
                                <p:cTn id="33" presetID="10"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par>
                                <p:cTn id="36" presetID="10" presetClass="entr" presetSubtype="0" fill="hold"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450"/>
                                        <p:tgtEl>
                                          <p:spTgt spid="22"/>
                                        </p:tgtEl>
                                      </p:cBhvr>
                                    </p:animEffect>
                                  </p:childTnLst>
                                </p:cTn>
                              </p:par>
                              <p:par>
                                <p:cTn id="44" presetID="10" presetClass="entr" presetSubtype="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450"/>
                                        <p:tgtEl>
                                          <p:spTgt spid="23"/>
                                        </p:tgtEl>
                                      </p:cBhvr>
                                    </p:animEffect>
                                  </p:childTnLst>
                                </p:cTn>
                              </p:par>
                              <p:par>
                                <p:cTn id="47" presetID="10" presetClass="entr" presetSubtype="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450"/>
                                        <p:tgtEl>
                                          <p:spTgt spid="24"/>
                                        </p:tgtEl>
                                      </p:cBhvr>
                                    </p:animEffect>
                                  </p:childTnLst>
                                </p:cTn>
                              </p:par>
                              <p:par>
                                <p:cTn id="50" presetID="10" presetClass="entr" presetSubtype="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fade">
                                      <p:cBhvr>
                                        <p:cTn id="52" dur="450"/>
                                        <p:tgtEl>
                                          <p:spTgt spid="25"/>
                                        </p:tgtEl>
                                      </p:cBhvr>
                                    </p:animEffect>
                                  </p:childTnLst>
                                </p:cTn>
                              </p:par>
                              <p:par>
                                <p:cTn id="53" presetID="10"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450"/>
                                        <p:tgtEl>
                                          <p:spTgt spid="26"/>
                                        </p:tgtEl>
                                      </p:cBhvr>
                                    </p:animEffect>
                                  </p:childTnLst>
                                </p:cTn>
                              </p:par>
                              <p:par>
                                <p:cTn id="56" presetID="10"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450"/>
                                        <p:tgtEl>
                                          <p:spTgt spid="27"/>
                                        </p:tgtEl>
                                      </p:cBhvr>
                                    </p:animEffect>
                                  </p:childTnLst>
                                </p:cTn>
                              </p:par>
                              <p:par>
                                <p:cTn id="59" presetID="10" presetClass="entr" presetSubtype="0"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45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450"/>
                                        <p:tgtEl>
                                          <p:spTgt spid="29"/>
                                        </p:tgtEl>
                                      </p:cBhvr>
                                    </p:animEffect>
                                  </p:childTnLst>
                                </p:cTn>
                              </p:par>
                              <p:par>
                                <p:cTn id="65" presetID="10" presetClass="entr" presetSubtype="0" fill="hold"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450"/>
                                        <p:tgtEl>
                                          <p:spTgt spid="30"/>
                                        </p:tgtEl>
                                      </p:cBhvr>
                                    </p:animEffect>
                                  </p:childTnLst>
                                </p:cTn>
                              </p:par>
                              <p:par>
                                <p:cTn id="68" presetID="10" presetClass="entr" presetSubtype="0" fill="hold"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450"/>
                                        <p:tgtEl>
                                          <p:spTgt spid="31"/>
                                        </p:tgtEl>
                                      </p:cBhvr>
                                    </p:animEffect>
                                  </p:childTnLst>
                                </p:cTn>
                              </p:par>
                              <p:par>
                                <p:cTn id="71" presetID="10" presetClass="entr" presetSubtype="0" fill="hold"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450"/>
                                        <p:tgtEl>
                                          <p:spTgt spid="32"/>
                                        </p:tgtEl>
                                      </p:cBhvr>
                                    </p:animEffect>
                                  </p:childTnLst>
                                </p:cTn>
                              </p:par>
                              <p:par>
                                <p:cTn id="74" presetID="10" presetClass="entr" presetSubtype="0" fill="hold" nodeType="withEffect">
                                  <p:stCondLst>
                                    <p:cond delay="0"/>
                                  </p:stCondLst>
                                  <p:childTnLst>
                                    <p:set>
                                      <p:cBhvr>
                                        <p:cTn id="75" dur="1" fill="hold">
                                          <p:stCondLst>
                                            <p:cond delay="0"/>
                                          </p:stCondLst>
                                        </p:cTn>
                                        <p:tgtEl>
                                          <p:spTgt spid="33"/>
                                        </p:tgtEl>
                                        <p:attrNameLst>
                                          <p:attrName>style.visibility</p:attrName>
                                        </p:attrNameLst>
                                      </p:cBhvr>
                                      <p:to>
                                        <p:strVal val="visible"/>
                                      </p:to>
                                    </p:set>
                                    <p:animEffect transition="in" filter="fade">
                                      <p:cBhvr>
                                        <p:cTn id="76" dur="450"/>
                                        <p:tgtEl>
                                          <p:spTgt spid="33"/>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50"/>
                                        <p:tgtEl>
                                          <p:spTgt spid="34"/>
                                        </p:tgtEl>
                                      </p:cBhvr>
                                    </p:animEffect>
                                  </p:childTnLst>
                                </p:cTn>
                              </p:par>
                              <p:par>
                                <p:cTn id="82" presetID="10" presetClass="entr" presetSubtype="0" fill="hold" nodeType="with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450"/>
                                        <p:tgtEl>
                                          <p:spTgt spid="35"/>
                                        </p:tgtEl>
                                      </p:cBhvr>
                                    </p:animEffect>
                                  </p:childTnLst>
                                </p:cTn>
                              </p:par>
                              <p:par>
                                <p:cTn id="85" presetID="10" presetClass="entr" presetSubtype="0" fill="hold" nodeType="withEffect">
                                  <p:stCondLst>
                                    <p:cond delay="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450"/>
                                        <p:tgtEl>
                                          <p:spTgt spid="36"/>
                                        </p:tgtEl>
                                      </p:cBhvr>
                                    </p:animEffect>
                                  </p:childTnLst>
                                </p:cTn>
                              </p:par>
                              <p:par>
                                <p:cTn id="88" presetID="10" presetClass="entr" presetSubtype="0" fill="hold" nodeType="withEffect">
                                  <p:stCondLst>
                                    <p:cond delay="0"/>
                                  </p:stCondLst>
                                  <p:childTnLst>
                                    <p:set>
                                      <p:cBhvr>
                                        <p:cTn id="89" dur="1" fill="hold">
                                          <p:stCondLst>
                                            <p:cond delay="0"/>
                                          </p:stCondLst>
                                        </p:cTn>
                                        <p:tgtEl>
                                          <p:spTgt spid="37"/>
                                        </p:tgtEl>
                                        <p:attrNameLst>
                                          <p:attrName>style.visibility</p:attrName>
                                        </p:attrNameLst>
                                      </p:cBhvr>
                                      <p:to>
                                        <p:strVal val="visible"/>
                                      </p:to>
                                    </p:set>
                                    <p:animEffect transition="in" filter="fade">
                                      <p:cBhvr>
                                        <p:cTn id="90" dur="450"/>
                                        <p:tgtEl>
                                          <p:spTgt spid="37"/>
                                        </p:tgtEl>
                                      </p:cBhvr>
                                    </p:animEffect>
                                  </p:childTnLst>
                                </p:cTn>
                              </p:par>
                              <p:par>
                                <p:cTn id="91" presetID="10" presetClass="entr" presetSubtype="0" fill="hold" nodeType="withEffect">
                                  <p:stCondLst>
                                    <p:cond delay="0"/>
                                  </p:stCondLst>
                                  <p:childTnLst>
                                    <p:set>
                                      <p:cBhvr>
                                        <p:cTn id="92" dur="1" fill="hold">
                                          <p:stCondLst>
                                            <p:cond delay="0"/>
                                          </p:stCondLst>
                                        </p:cTn>
                                        <p:tgtEl>
                                          <p:spTgt spid="38"/>
                                        </p:tgtEl>
                                        <p:attrNameLst>
                                          <p:attrName>style.visibility</p:attrName>
                                        </p:attrNameLst>
                                      </p:cBhvr>
                                      <p:to>
                                        <p:strVal val="visible"/>
                                      </p:to>
                                    </p:set>
                                    <p:animEffect transition="in" filter="fade">
                                      <p:cBhvr>
                                        <p:cTn id="93" dur="450"/>
                                        <p:tgtEl>
                                          <p:spTgt spid="38"/>
                                        </p:tgtEl>
                                      </p:cBhvr>
                                    </p:animEffect>
                                  </p:childTnLst>
                                </p:cTn>
                              </p:par>
                              <p:par>
                                <p:cTn id="94" presetID="10" presetClass="entr" presetSubtype="0" fill="hold" nodeType="withEffect">
                                  <p:stCondLst>
                                    <p:cond delay="0"/>
                                  </p:stCondLst>
                                  <p:childTnLst>
                                    <p:set>
                                      <p:cBhvr>
                                        <p:cTn id="95" dur="1" fill="hold">
                                          <p:stCondLst>
                                            <p:cond delay="0"/>
                                          </p:stCondLst>
                                        </p:cTn>
                                        <p:tgtEl>
                                          <p:spTgt spid="39"/>
                                        </p:tgtEl>
                                        <p:attrNameLst>
                                          <p:attrName>style.visibility</p:attrName>
                                        </p:attrNameLst>
                                      </p:cBhvr>
                                      <p:to>
                                        <p:strVal val="visible"/>
                                      </p:to>
                                    </p:set>
                                    <p:animEffect transition="in" filter="fade">
                                      <p:cBhvr>
                                        <p:cTn id="96" dur="450"/>
                                        <p:tgtEl>
                                          <p:spTgt spid="39"/>
                                        </p:tgtEl>
                                      </p:cBhvr>
                                    </p:animEffect>
                                  </p:childTnLst>
                                </p:cTn>
                              </p:par>
                              <p:par>
                                <p:cTn id="97" presetID="10" presetClass="entr" presetSubtype="0" fill="hold" nodeType="with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fade">
                                      <p:cBhvr>
                                        <p:cTn id="99" dur="450"/>
                                        <p:tgtEl>
                                          <p:spTgt spid="40"/>
                                        </p:tgtEl>
                                      </p:cBhvr>
                                    </p:animEffect>
                                  </p:childTnLst>
                                </p:cTn>
                              </p:par>
                              <p:par>
                                <p:cTn id="100" presetID="10" presetClass="entr" presetSubtype="0" fill="hold" nodeType="with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450"/>
                                        <p:tgtEl>
                                          <p:spTgt spid="41"/>
                                        </p:tgtEl>
                                      </p:cBhvr>
                                    </p:animEffect>
                                  </p:childTnLst>
                                </p:cTn>
                              </p:par>
                              <p:par>
                                <p:cTn id="103" presetID="10" presetClass="entr" presetSubtype="0" fill="hold" nodeType="withEffect">
                                  <p:stCondLst>
                                    <p:cond delay="0"/>
                                  </p:stCondLst>
                                  <p:childTnLst>
                                    <p:set>
                                      <p:cBhvr>
                                        <p:cTn id="104" dur="1" fill="hold">
                                          <p:stCondLst>
                                            <p:cond delay="0"/>
                                          </p:stCondLst>
                                        </p:cTn>
                                        <p:tgtEl>
                                          <p:spTgt spid="42"/>
                                        </p:tgtEl>
                                        <p:attrNameLst>
                                          <p:attrName>style.visibility</p:attrName>
                                        </p:attrNameLst>
                                      </p:cBhvr>
                                      <p:to>
                                        <p:strVal val="visible"/>
                                      </p:to>
                                    </p:set>
                                    <p:animEffect transition="in" filter="fade">
                                      <p:cBhvr>
                                        <p:cTn id="105" dur="450"/>
                                        <p:tgtEl>
                                          <p:spTgt spid="42"/>
                                        </p:tgtEl>
                                      </p:cBhvr>
                                    </p:animEffect>
                                  </p:childTnLst>
                                </p:cTn>
                              </p:par>
                              <p:par>
                                <p:cTn id="106" presetID="10" presetClass="entr" presetSubtype="0" fill="hold" nodeType="withEffect">
                                  <p:stCondLst>
                                    <p:cond delay="0"/>
                                  </p:stCondLst>
                                  <p:childTnLst>
                                    <p:set>
                                      <p:cBhvr>
                                        <p:cTn id="107" dur="1" fill="hold">
                                          <p:stCondLst>
                                            <p:cond delay="0"/>
                                          </p:stCondLst>
                                        </p:cTn>
                                        <p:tgtEl>
                                          <p:spTgt spid="43"/>
                                        </p:tgtEl>
                                        <p:attrNameLst>
                                          <p:attrName>style.visibility</p:attrName>
                                        </p:attrNameLst>
                                      </p:cBhvr>
                                      <p:to>
                                        <p:strVal val="visible"/>
                                      </p:to>
                                    </p:set>
                                    <p:animEffect transition="in" filter="fade">
                                      <p:cBhvr>
                                        <p:cTn id="108" dur="450"/>
                                        <p:tgtEl>
                                          <p:spTgt spid="43"/>
                                        </p:tgtEl>
                                      </p:cBhvr>
                                    </p:animEffect>
                                  </p:childTnLst>
                                </p:cTn>
                              </p:par>
                              <p:par>
                                <p:cTn id="109" presetID="10" presetClass="entr" presetSubtype="0" fill="hold" nodeType="with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450"/>
                                        <p:tgtEl>
                                          <p:spTgt spid="44"/>
                                        </p:tgtEl>
                                      </p:cBhvr>
                                    </p:animEffect>
                                  </p:childTnLst>
                                </p:cTn>
                              </p:par>
                              <p:par>
                                <p:cTn id="112" presetID="10" presetClass="entr" presetSubtype="0" fill="hold" nodeType="withEffect">
                                  <p:stCondLst>
                                    <p:cond delay="0"/>
                                  </p:stCondLst>
                                  <p:childTnLst>
                                    <p:set>
                                      <p:cBhvr>
                                        <p:cTn id="113" dur="1" fill="hold">
                                          <p:stCondLst>
                                            <p:cond delay="0"/>
                                          </p:stCondLst>
                                        </p:cTn>
                                        <p:tgtEl>
                                          <p:spTgt spid="45"/>
                                        </p:tgtEl>
                                        <p:attrNameLst>
                                          <p:attrName>style.visibility</p:attrName>
                                        </p:attrNameLst>
                                      </p:cBhvr>
                                      <p:to>
                                        <p:strVal val="visible"/>
                                      </p:to>
                                    </p:set>
                                    <p:animEffect transition="in" filter="fade">
                                      <p:cBhvr>
                                        <p:cTn id="114" dur="4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THE BIG PICTURE</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How everything connects</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27</a:t>
            </a:r>
            <a:endParaRPr lang="en-US" sz="1100" dirty="0"/>
          </a:p>
        </p:txBody>
      </p:sp>
      <p:sp>
        <p:nvSpPr>
          <p:cNvPr id="7" name="A1_nc"/>
          <p:cNvSpPr/>
          <p:nvPr/>
        </p:nvSpPr>
        <p:spPr>
          <a:xfrm>
            <a:off x="548640" y="1691640"/>
            <a:ext cx="1691640" cy="3566160"/>
          </a:xfrm>
          <a:prstGeom prst="roundRect">
            <a:avLst>
              <a:gd name="adj" fmla="val 6486"/>
            </a:avLst>
          </a:prstGeom>
          <a:solidFill>
            <a:srgbClr val="17143F"/>
          </a:solidFill>
          <a:ln w="19050">
            <a:solidFill>
              <a:srgbClr val="8B7CFF"/>
            </a:solidFill>
            <a:prstDash val="solid"/>
          </a:ln>
        </p:spPr>
      </p:sp>
      <p:sp>
        <p:nvSpPr>
          <p:cNvPr id="8" name="A1_bdg"/>
          <p:cNvSpPr/>
          <p:nvPr/>
        </p:nvSpPr>
        <p:spPr>
          <a:xfrm>
            <a:off x="1005840" y="1943100"/>
            <a:ext cx="777240" cy="777240"/>
          </a:xfrm>
          <a:prstGeom prst="ellipse">
            <a:avLst/>
          </a:prstGeom>
          <a:solidFill>
            <a:srgbClr val="221E58"/>
          </a:solidFill>
          <a:ln w="15875">
            <a:solidFill>
              <a:srgbClr val="8B7CFF"/>
            </a:solidFill>
            <a:prstDash val="solid"/>
          </a:ln>
        </p:spPr>
      </p:sp>
      <p:pic>
        <p:nvPicPr>
          <p:cNvPr id="9" name="A1_bico" descr="preencoded.png">    </p:cNvPr>
          <p:cNvPicPr>
            <a:picLocks noChangeAspect="1"/>
          </p:cNvPicPr>
          <p:nvPr/>
        </p:nvPicPr>
        <p:blipFill>
          <a:blip r:embed="rId3"/>
          <a:stretch>
            <a:fillRect/>
          </a:stretch>
        </p:blipFill>
        <p:spPr>
          <a:xfrm>
            <a:off x="1200150" y="2137410"/>
            <a:ext cx="388620" cy="388620"/>
          </a:xfrm>
          <a:prstGeom prst="rect">
            <a:avLst/>
          </a:prstGeom>
        </p:spPr>
      </p:pic>
      <p:sp>
        <p:nvSpPr>
          <p:cNvPr id="10" name="A1_nt"/>
          <p:cNvSpPr txBox="1"/>
          <p:nvPr/>
        </p:nvSpPr>
        <p:spPr>
          <a:xfrm>
            <a:off x="640080" y="2971800"/>
            <a:ext cx="1508760" cy="502920"/>
          </a:xfrm>
          <a:prstGeom prst="rect">
            <a:avLst/>
          </a:prstGeom>
          <a:noFill/>
          <a:ln/>
        </p:spPr>
        <p:txBody>
          <a:bodyPr wrap="square" lIns="0" tIns="0" rIns="0" bIns="0" rtlCol="0" anchor="t"/>
          <a:lstStyle/>
          <a:p>
            <a:pPr algn="ctr" indent="0" marL="0">
              <a:buNone/>
            </a:pPr>
            <a:r>
              <a:rPr lang="en-US" sz="1500" b="1" dirty="0">
                <a:solidFill>
                  <a:srgbClr val="F4F3FF"/>
                </a:solidFill>
                <a:latin typeface="Calibri" pitchFamily="34" charset="0"/>
                <a:ea typeface="Calibri" pitchFamily="34" charset="-122"/>
                <a:cs typeface="Calibri" pitchFamily="34" charset="-120"/>
              </a:rPr>
              <a:t>Routing</a:t>
            </a:r>
            <a:endParaRPr lang="en-US" sz="1500" dirty="0"/>
          </a:p>
        </p:txBody>
      </p:sp>
      <p:sp>
        <p:nvSpPr>
          <p:cNvPr id="11" name="A1_nd"/>
          <p:cNvSpPr txBox="1"/>
          <p:nvPr/>
        </p:nvSpPr>
        <p:spPr>
          <a:xfrm>
            <a:off x="685800" y="3520440"/>
            <a:ext cx="1417320" cy="1005840"/>
          </a:xfrm>
          <a:prstGeom prst="rect">
            <a:avLst/>
          </a:prstGeom>
          <a:noFill/>
          <a:ln/>
        </p:spPr>
        <p:txBody>
          <a:bodyPr wrap="square" lIns="0" tIns="0" rIns="0" bIns="0" rtlCol="0" anchor="t"/>
          <a:lstStyle/>
          <a:p>
            <a:pPr algn="ctr" indent="0" marL="0">
              <a:buNone/>
            </a:pPr>
            <a:r>
              <a:rPr lang="en-US" sz="1200" dirty="0">
                <a:solidFill>
                  <a:srgbClr val="A8A5D8"/>
                </a:solidFill>
                <a:latin typeface="Calibri" pitchFamily="34" charset="0"/>
                <a:ea typeface="Calibri" pitchFamily="34" charset="-122"/>
                <a:cs typeface="Calibri" pitchFamily="34" charset="-120"/>
              </a:rPr>
              <a:t>The URL picks the page and its layouts.</a:t>
            </a:r>
            <a:endParaRPr lang="en-US" sz="1200" dirty="0"/>
          </a:p>
        </p:txBody>
      </p:sp>
      <p:sp>
        <p:nvSpPr>
          <p:cNvPr id="12" name="A1_ntag"/>
          <p:cNvSpPr txBox="1"/>
          <p:nvPr/>
        </p:nvSpPr>
        <p:spPr>
          <a:xfrm>
            <a:off x="658368" y="4572000"/>
            <a:ext cx="1472184" cy="457200"/>
          </a:xfrm>
          <a:prstGeom prst="roundRect">
            <a:avLst>
              <a:gd name="adj" fmla="val 24000"/>
            </a:avLst>
          </a:prstGeom>
          <a:solidFill>
            <a:srgbClr val="221E58"/>
          </a:solidFill>
          <a:ln w="12700">
            <a:solidFill>
              <a:srgbClr val="8B7CFF"/>
            </a:solidFill>
            <a:prstDash val="solid"/>
          </a:ln>
        </p:spPr>
        <p:txBody>
          <a:bodyPr wrap="square" lIns="25400" tIns="25400" rIns="25400" bIns="25400" rtlCol="0" anchor="ctr"/>
          <a:lstStyle/>
          <a:p>
            <a:pPr algn="ctr" indent="0" marL="0">
              <a:buNone/>
            </a:pPr>
            <a:r>
              <a:rPr lang="en-US" sz="1050" b="1" dirty="0">
                <a:solidFill>
                  <a:srgbClr val="8B7CFF"/>
                </a:solidFill>
                <a:latin typeface="Calibri" pitchFamily="34" charset="0"/>
                <a:ea typeface="Calibri" pitchFamily="34" charset="-122"/>
                <a:cs typeface="Calibri" pitchFamily="34" charset="-120"/>
              </a:rPr>
              <a:t>Folders</a:t>
            </a:r>
            <a:endParaRPr lang="en-US" sz="1050" dirty="0"/>
          </a:p>
        </p:txBody>
      </p:sp>
      <p:sp>
        <p:nvSpPr>
          <p:cNvPr id="13" name="A2_na"/>
          <p:cNvSpPr/>
          <p:nvPr/>
        </p:nvSpPr>
        <p:spPr>
          <a:xfrm>
            <a:off x="2249424" y="3474720"/>
            <a:ext cx="173736" cy="0"/>
          </a:xfrm>
          <a:prstGeom prst="line">
            <a:avLst/>
          </a:prstGeom>
          <a:noFill/>
          <a:ln w="28575">
            <a:solidFill>
              <a:srgbClr val="A8A5D8"/>
            </a:solidFill>
            <a:prstDash val="solid"/>
            <a:tailEnd type="triangle"/>
          </a:ln>
        </p:spPr>
      </p:sp>
      <p:sp>
        <p:nvSpPr>
          <p:cNvPr id="14" name="A2_nc"/>
          <p:cNvSpPr/>
          <p:nvPr/>
        </p:nvSpPr>
        <p:spPr>
          <a:xfrm>
            <a:off x="2432304" y="1691640"/>
            <a:ext cx="1691640" cy="3566160"/>
          </a:xfrm>
          <a:prstGeom prst="roundRect">
            <a:avLst>
              <a:gd name="adj" fmla="val 6486"/>
            </a:avLst>
          </a:prstGeom>
          <a:solidFill>
            <a:srgbClr val="17143F"/>
          </a:solidFill>
          <a:ln w="19050">
            <a:solidFill>
              <a:srgbClr val="8B7CFF"/>
            </a:solidFill>
            <a:prstDash val="solid"/>
          </a:ln>
        </p:spPr>
      </p:sp>
      <p:sp>
        <p:nvSpPr>
          <p:cNvPr id="15" name="A2_bdg"/>
          <p:cNvSpPr/>
          <p:nvPr/>
        </p:nvSpPr>
        <p:spPr>
          <a:xfrm>
            <a:off x="2889504" y="1943100"/>
            <a:ext cx="777240" cy="777240"/>
          </a:xfrm>
          <a:prstGeom prst="ellipse">
            <a:avLst/>
          </a:prstGeom>
          <a:solidFill>
            <a:srgbClr val="221E58"/>
          </a:solidFill>
          <a:ln w="15875">
            <a:solidFill>
              <a:srgbClr val="8B7CFF"/>
            </a:solidFill>
            <a:prstDash val="solid"/>
          </a:ln>
        </p:spPr>
      </p:sp>
      <p:pic>
        <p:nvPicPr>
          <p:cNvPr id="16" name="A2_bico" descr="preencoded.png">    </p:cNvPr>
          <p:cNvPicPr>
            <a:picLocks noChangeAspect="1"/>
          </p:cNvPicPr>
          <p:nvPr/>
        </p:nvPicPr>
        <p:blipFill>
          <a:blip r:embed="rId4"/>
          <a:stretch>
            <a:fillRect/>
          </a:stretch>
        </p:blipFill>
        <p:spPr>
          <a:xfrm>
            <a:off x="3083814" y="2137410"/>
            <a:ext cx="388620" cy="388620"/>
          </a:xfrm>
          <a:prstGeom prst="rect">
            <a:avLst/>
          </a:prstGeom>
        </p:spPr>
      </p:pic>
      <p:sp>
        <p:nvSpPr>
          <p:cNvPr id="17" name="A2_nt"/>
          <p:cNvSpPr txBox="1"/>
          <p:nvPr/>
        </p:nvSpPr>
        <p:spPr>
          <a:xfrm>
            <a:off x="2523744" y="2971800"/>
            <a:ext cx="1508760" cy="502920"/>
          </a:xfrm>
          <a:prstGeom prst="rect">
            <a:avLst/>
          </a:prstGeom>
          <a:noFill/>
          <a:ln/>
        </p:spPr>
        <p:txBody>
          <a:bodyPr wrap="square" lIns="0" tIns="0" rIns="0" bIns="0" rtlCol="0" anchor="t"/>
          <a:lstStyle/>
          <a:p>
            <a:pPr algn="ctr" indent="0" marL="0">
              <a:buNone/>
            </a:pPr>
            <a:r>
              <a:rPr lang="en-US" sz="1500" b="1" dirty="0">
                <a:solidFill>
                  <a:srgbClr val="F4F3FF"/>
                </a:solidFill>
                <a:latin typeface="Calibri" pitchFamily="34" charset="0"/>
                <a:ea typeface="Calibri" pitchFamily="34" charset="-122"/>
                <a:cs typeface="Calibri" pitchFamily="34" charset="-120"/>
              </a:rPr>
              <a:t>Components</a:t>
            </a:r>
            <a:endParaRPr lang="en-US" sz="1500" dirty="0"/>
          </a:p>
        </p:txBody>
      </p:sp>
      <p:sp>
        <p:nvSpPr>
          <p:cNvPr id="18" name="A2_nd"/>
          <p:cNvSpPr txBox="1"/>
          <p:nvPr/>
        </p:nvSpPr>
        <p:spPr>
          <a:xfrm>
            <a:off x="2569464" y="3520440"/>
            <a:ext cx="1417320" cy="1005840"/>
          </a:xfrm>
          <a:prstGeom prst="rect">
            <a:avLst/>
          </a:prstGeom>
          <a:noFill/>
          <a:ln/>
        </p:spPr>
        <p:txBody>
          <a:bodyPr wrap="square" lIns="0" tIns="0" rIns="0" bIns="0" rtlCol="0" anchor="t"/>
          <a:lstStyle/>
          <a:p>
            <a:pPr algn="ctr" indent="0" marL="0">
              <a:buNone/>
            </a:pPr>
            <a:r>
              <a:rPr lang="en-US" sz="1200" dirty="0">
                <a:solidFill>
                  <a:srgbClr val="A8A5D8"/>
                </a:solidFill>
                <a:latin typeface="Calibri" pitchFamily="34" charset="0"/>
                <a:ea typeface="Calibri" pitchFamily="34" charset="-122"/>
                <a:cs typeface="Calibri" pitchFamily="34" charset="-120"/>
              </a:rPr>
              <a:t>Server by default. Client only when needed.</a:t>
            </a:r>
            <a:endParaRPr lang="en-US" sz="1200" dirty="0"/>
          </a:p>
        </p:txBody>
      </p:sp>
      <p:sp>
        <p:nvSpPr>
          <p:cNvPr id="19" name="A2_ntag"/>
          <p:cNvSpPr txBox="1"/>
          <p:nvPr/>
        </p:nvSpPr>
        <p:spPr>
          <a:xfrm>
            <a:off x="2542032" y="4572000"/>
            <a:ext cx="1472184" cy="457200"/>
          </a:xfrm>
          <a:prstGeom prst="roundRect">
            <a:avLst>
              <a:gd name="adj" fmla="val 24000"/>
            </a:avLst>
          </a:prstGeom>
          <a:solidFill>
            <a:srgbClr val="221E58"/>
          </a:solidFill>
          <a:ln w="12700">
            <a:solidFill>
              <a:srgbClr val="8B7CFF"/>
            </a:solidFill>
            <a:prstDash val="solid"/>
          </a:ln>
        </p:spPr>
        <p:txBody>
          <a:bodyPr wrap="square" lIns="25400" tIns="25400" rIns="25400" bIns="25400" rtlCol="0" anchor="ctr"/>
          <a:lstStyle/>
          <a:p>
            <a:pPr algn="ctr" indent="0" marL="0">
              <a:buNone/>
            </a:pPr>
            <a:r>
              <a:rPr lang="en-US" sz="1050" b="1" dirty="0">
                <a:solidFill>
                  <a:srgbClr val="8B7CFF"/>
                </a:solidFill>
                <a:latin typeface="Calibri" pitchFamily="34" charset="0"/>
                <a:ea typeface="Calibri" pitchFamily="34" charset="-122"/>
                <a:cs typeface="Calibri" pitchFamily="34" charset="-120"/>
              </a:rPr>
              <a:t>Server / Client</a:t>
            </a:r>
            <a:endParaRPr lang="en-US" sz="1050" dirty="0"/>
          </a:p>
        </p:txBody>
      </p:sp>
      <p:sp>
        <p:nvSpPr>
          <p:cNvPr id="20" name="A3_na"/>
          <p:cNvSpPr/>
          <p:nvPr/>
        </p:nvSpPr>
        <p:spPr>
          <a:xfrm>
            <a:off x="4133088" y="3474720"/>
            <a:ext cx="173736" cy="0"/>
          </a:xfrm>
          <a:prstGeom prst="line">
            <a:avLst/>
          </a:prstGeom>
          <a:noFill/>
          <a:ln w="28575">
            <a:solidFill>
              <a:srgbClr val="A8A5D8"/>
            </a:solidFill>
            <a:prstDash val="solid"/>
            <a:tailEnd type="triangle"/>
          </a:ln>
        </p:spPr>
      </p:sp>
      <p:sp>
        <p:nvSpPr>
          <p:cNvPr id="21" name="A3_nc"/>
          <p:cNvSpPr/>
          <p:nvPr/>
        </p:nvSpPr>
        <p:spPr>
          <a:xfrm>
            <a:off x="4315968" y="1691640"/>
            <a:ext cx="1691640" cy="3566160"/>
          </a:xfrm>
          <a:prstGeom prst="roundRect">
            <a:avLst>
              <a:gd name="adj" fmla="val 6486"/>
            </a:avLst>
          </a:prstGeom>
          <a:solidFill>
            <a:srgbClr val="17143F"/>
          </a:solidFill>
          <a:ln w="19050">
            <a:solidFill>
              <a:srgbClr val="22D3EE"/>
            </a:solidFill>
            <a:prstDash val="solid"/>
          </a:ln>
        </p:spPr>
      </p:sp>
      <p:sp>
        <p:nvSpPr>
          <p:cNvPr id="22" name="A3_bdg"/>
          <p:cNvSpPr/>
          <p:nvPr/>
        </p:nvSpPr>
        <p:spPr>
          <a:xfrm>
            <a:off x="4773168" y="1943100"/>
            <a:ext cx="777240" cy="777240"/>
          </a:xfrm>
          <a:prstGeom prst="ellipse">
            <a:avLst/>
          </a:prstGeom>
          <a:solidFill>
            <a:srgbClr val="221E58"/>
          </a:solidFill>
          <a:ln w="15875">
            <a:solidFill>
              <a:srgbClr val="22D3EE"/>
            </a:solidFill>
            <a:prstDash val="solid"/>
          </a:ln>
        </p:spPr>
      </p:sp>
      <p:pic>
        <p:nvPicPr>
          <p:cNvPr id="23" name="A3_bico" descr="preencoded.png">    </p:cNvPr>
          <p:cNvPicPr>
            <a:picLocks noChangeAspect="1"/>
          </p:cNvPicPr>
          <p:nvPr/>
        </p:nvPicPr>
        <p:blipFill>
          <a:blip r:embed="rId5"/>
          <a:stretch>
            <a:fillRect/>
          </a:stretch>
        </p:blipFill>
        <p:spPr>
          <a:xfrm>
            <a:off x="4967478" y="2137410"/>
            <a:ext cx="388620" cy="388620"/>
          </a:xfrm>
          <a:prstGeom prst="rect">
            <a:avLst/>
          </a:prstGeom>
        </p:spPr>
      </p:pic>
      <p:sp>
        <p:nvSpPr>
          <p:cNvPr id="24" name="A3_nt"/>
          <p:cNvSpPr txBox="1"/>
          <p:nvPr/>
        </p:nvSpPr>
        <p:spPr>
          <a:xfrm>
            <a:off x="4407408" y="2971800"/>
            <a:ext cx="1508760" cy="502920"/>
          </a:xfrm>
          <a:prstGeom prst="rect">
            <a:avLst/>
          </a:prstGeom>
          <a:noFill/>
          <a:ln/>
        </p:spPr>
        <p:txBody>
          <a:bodyPr wrap="square" lIns="0" tIns="0" rIns="0" bIns="0" rtlCol="0" anchor="t"/>
          <a:lstStyle/>
          <a:p>
            <a:pPr algn="ctr" indent="0" marL="0">
              <a:buNone/>
            </a:pPr>
            <a:r>
              <a:rPr lang="en-US" sz="1500" b="1" dirty="0">
                <a:solidFill>
                  <a:srgbClr val="F4F3FF"/>
                </a:solidFill>
                <a:latin typeface="Calibri" pitchFamily="34" charset="0"/>
                <a:ea typeface="Calibri" pitchFamily="34" charset="-122"/>
                <a:cs typeface="Calibri" pitchFamily="34" charset="-120"/>
              </a:rPr>
              <a:t>Rendering</a:t>
            </a:r>
            <a:endParaRPr lang="en-US" sz="1500" dirty="0"/>
          </a:p>
        </p:txBody>
      </p:sp>
      <p:sp>
        <p:nvSpPr>
          <p:cNvPr id="25" name="A3_nd"/>
          <p:cNvSpPr txBox="1"/>
          <p:nvPr/>
        </p:nvSpPr>
        <p:spPr>
          <a:xfrm>
            <a:off x="4453128" y="3520440"/>
            <a:ext cx="1417320" cy="1005840"/>
          </a:xfrm>
          <a:prstGeom prst="rect">
            <a:avLst/>
          </a:prstGeom>
          <a:noFill/>
          <a:ln/>
        </p:spPr>
        <p:txBody>
          <a:bodyPr wrap="square" lIns="0" tIns="0" rIns="0" bIns="0" rtlCol="0" anchor="t"/>
          <a:lstStyle/>
          <a:p>
            <a:pPr algn="ctr" indent="0" marL="0">
              <a:buNone/>
            </a:pPr>
            <a:r>
              <a:rPr lang="en-US" sz="1200" dirty="0">
                <a:solidFill>
                  <a:srgbClr val="A8A5D8"/>
                </a:solidFill>
                <a:latin typeface="Calibri" pitchFamily="34" charset="0"/>
                <a:ea typeface="Calibri" pitchFamily="34" charset="-122"/>
                <a:cs typeface="Calibri" pitchFamily="34" charset="-120"/>
              </a:rPr>
              <a:t>Where and when HTML is produced.</a:t>
            </a:r>
            <a:endParaRPr lang="en-US" sz="1200" dirty="0"/>
          </a:p>
        </p:txBody>
      </p:sp>
      <p:sp>
        <p:nvSpPr>
          <p:cNvPr id="26" name="A3_ntag"/>
          <p:cNvSpPr txBox="1"/>
          <p:nvPr/>
        </p:nvSpPr>
        <p:spPr>
          <a:xfrm>
            <a:off x="4425696" y="4572000"/>
            <a:ext cx="1472184" cy="457200"/>
          </a:xfrm>
          <a:prstGeom prst="roundRect">
            <a:avLst>
              <a:gd name="adj" fmla="val 24000"/>
            </a:avLst>
          </a:prstGeom>
          <a:solidFill>
            <a:srgbClr val="221E58"/>
          </a:solidFill>
          <a:ln w="12700">
            <a:solidFill>
              <a:srgbClr val="22D3EE"/>
            </a:solidFill>
            <a:prstDash val="solid"/>
          </a:ln>
        </p:spPr>
        <p:txBody>
          <a:bodyPr wrap="square" lIns="25400" tIns="25400" rIns="25400" bIns="25400" rtlCol="0" anchor="ctr"/>
          <a:lstStyle/>
          <a:p>
            <a:pPr algn="ctr" indent="0" marL="0">
              <a:buNone/>
            </a:pPr>
            <a:r>
              <a:rPr lang="en-US" sz="1050" b="1" dirty="0">
                <a:solidFill>
                  <a:srgbClr val="22D3EE"/>
                </a:solidFill>
                <a:latin typeface="Calibri" pitchFamily="34" charset="0"/>
                <a:ea typeface="Calibri" pitchFamily="34" charset="-122"/>
                <a:cs typeface="Calibri" pitchFamily="34" charset="-120"/>
              </a:rPr>
              <a:t>Build, request, browser</a:t>
            </a:r>
            <a:endParaRPr lang="en-US" sz="1050" dirty="0"/>
          </a:p>
        </p:txBody>
      </p:sp>
      <p:sp>
        <p:nvSpPr>
          <p:cNvPr id="27" name="A4_na"/>
          <p:cNvSpPr/>
          <p:nvPr/>
        </p:nvSpPr>
        <p:spPr>
          <a:xfrm>
            <a:off x="6016752" y="3474720"/>
            <a:ext cx="173736" cy="0"/>
          </a:xfrm>
          <a:prstGeom prst="line">
            <a:avLst/>
          </a:prstGeom>
          <a:noFill/>
          <a:ln w="28575">
            <a:solidFill>
              <a:srgbClr val="A8A5D8"/>
            </a:solidFill>
            <a:prstDash val="solid"/>
            <a:tailEnd type="triangle"/>
          </a:ln>
        </p:spPr>
      </p:sp>
      <p:sp>
        <p:nvSpPr>
          <p:cNvPr id="28" name="A4_nc"/>
          <p:cNvSpPr/>
          <p:nvPr/>
        </p:nvSpPr>
        <p:spPr>
          <a:xfrm>
            <a:off x="6199632" y="1691640"/>
            <a:ext cx="1691640" cy="3566160"/>
          </a:xfrm>
          <a:prstGeom prst="roundRect">
            <a:avLst>
              <a:gd name="adj" fmla="val 6486"/>
            </a:avLst>
          </a:prstGeom>
          <a:solidFill>
            <a:srgbClr val="17143F"/>
          </a:solidFill>
          <a:ln w="19050">
            <a:solidFill>
              <a:srgbClr val="22D3EE"/>
            </a:solidFill>
            <a:prstDash val="solid"/>
          </a:ln>
        </p:spPr>
      </p:sp>
      <p:sp>
        <p:nvSpPr>
          <p:cNvPr id="29" name="A4_bdg"/>
          <p:cNvSpPr/>
          <p:nvPr/>
        </p:nvSpPr>
        <p:spPr>
          <a:xfrm>
            <a:off x="6656832" y="1943100"/>
            <a:ext cx="777240" cy="777240"/>
          </a:xfrm>
          <a:prstGeom prst="ellipse">
            <a:avLst/>
          </a:prstGeom>
          <a:solidFill>
            <a:srgbClr val="221E58"/>
          </a:solidFill>
          <a:ln w="15875">
            <a:solidFill>
              <a:srgbClr val="22D3EE"/>
            </a:solidFill>
            <a:prstDash val="solid"/>
          </a:ln>
        </p:spPr>
      </p:sp>
      <p:pic>
        <p:nvPicPr>
          <p:cNvPr id="30" name="A4_bico" descr="preencoded.png">    </p:cNvPr>
          <p:cNvPicPr>
            <a:picLocks noChangeAspect="1"/>
          </p:cNvPicPr>
          <p:nvPr/>
        </p:nvPicPr>
        <p:blipFill>
          <a:blip r:embed="rId6"/>
          <a:stretch>
            <a:fillRect/>
          </a:stretch>
        </p:blipFill>
        <p:spPr>
          <a:xfrm>
            <a:off x="6851142" y="2137410"/>
            <a:ext cx="388620" cy="388620"/>
          </a:xfrm>
          <a:prstGeom prst="rect">
            <a:avLst/>
          </a:prstGeom>
        </p:spPr>
      </p:pic>
      <p:sp>
        <p:nvSpPr>
          <p:cNvPr id="31" name="A4_nt"/>
          <p:cNvSpPr txBox="1"/>
          <p:nvPr/>
        </p:nvSpPr>
        <p:spPr>
          <a:xfrm>
            <a:off x="6291072" y="2971800"/>
            <a:ext cx="1508760" cy="502920"/>
          </a:xfrm>
          <a:prstGeom prst="rect">
            <a:avLst/>
          </a:prstGeom>
          <a:noFill/>
          <a:ln/>
        </p:spPr>
        <p:txBody>
          <a:bodyPr wrap="square" lIns="0" tIns="0" rIns="0" bIns="0" rtlCol="0" anchor="t"/>
          <a:lstStyle/>
          <a:p>
            <a:pPr algn="ctr" indent="0" marL="0">
              <a:buNone/>
            </a:pPr>
            <a:r>
              <a:rPr lang="en-US" sz="1500" b="1" dirty="0">
                <a:solidFill>
                  <a:srgbClr val="F4F3FF"/>
                </a:solidFill>
                <a:latin typeface="Calibri" pitchFamily="34" charset="0"/>
                <a:ea typeface="Calibri" pitchFamily="34" charset="-122"/>
                <a:cs typeface="Calibri" pitchFamily="34" charset="-120"/>
              </a:rPr>
              <a:t>Data fetching</a:t>
            </a:r>
            <a:endParaRPr lang="en-US" sz="1500" dirty="0"/>
          </a:p>
        </p:txBody>
      </p:sp>
      <p:sp>
        <p:nvSpPr>
          <p:cNvPr id="32" name="A4_nd"/>
          <p:cNvSpPr txBox="1"/>
          <p:nvPr/>
        </p:nvSpPr>
        <p:spPr>
          <a:xfrm>
            <a:off x="6336792" y="3520440"/>
            <a:ext cx="1417320" cy="1005840"/>
          </a:xfrm>
          <a:prstGeom prst="rect">
            <a:avLst/>
          </a:prstGeom>
          <a:noFill/>
          <a:ln/>
        </p:spPr>
        <p:txBody>
          <a:bodyPr wrap="square" lIns="0" tIns="0" rIns="0" bIns="0" rtlCol="0" anchor="t"/>
          <a:lstStyle/>
          <a:p>
            <a:pPr algn="ctr" indent="0" marL="0">
              <a:buNone/>
            </a:pPr>
            <a:r>
              <a:rPr lang="en-US" sz="1200" dirty="0">
                <a:solidFill>
                  <a:srgbClr val="A8A5D8"/>
                </a:solidFill>
                <a:latin typeface="Calibri" pitchFamily="34" charset="0"/>
                <a:ea typeface="Calibri" pitchFamily="34" charset="-122"/>
                <a:cs typeface="Calibri" pitchFamily="34" charset="-120"/>
              </a:rPr>
              <a:t>Runs on the server, close to the data.</a:t>
            </a:r>
            <a:endParaRPr lang="en-US" sz="1200" dirty="0"/>
          </a:p>
        </p:txBody>
      </p:sp>
      <p:sp>
        <p:nvSpPr>
          <p:cNvPr id="33" name="A4_ntag"/>
          <p:cNvSpPr txBox="1"/>
          <p:nvPr/>
        </p:nvSpPr>
        <p:spPr>
          <a:xfrm>
            <a:off x="6309360" y="4572000"/>
            <a:ext cx="1472184" cy="457200"/>
          </a:xfrm>
          <a:prstGeom prst="roundRect">
            <a:avLst>
              <a:gd name="adj" fmla="val 24000"/>
            </a:avLst>
          </a:prstGeom>
          <a:solidFill>
            <a:srgbClr val="221E58"/>
          </a:solidFill>
          <a:ln w="12700">
            <a:solidFill>
              <a:srgbClr val="22D3EE"/>
            </a:solidFill>
            <a:prstDash val="solid"/>
          </a:ln>
        </p:spPr>
        <p:txBody>
          <a:bodyPr wrap="square" lIns="25400" tIns="25400" rIns="25400" bIns="25400" rtlCol="0" anchor="ctr"/>
          <a:lstStyle/>
          <a:p>
            <a:pPr algn="ctr" indent="0" marL="0">
              <a:buNone/>
            </a:pPr>
            <a:r>
              <a:rPr lang="en-US" sz="1050" b="1" dirty="0">
                <a:solidFill>
                  <a:srgbClr val="22D3EE"/>
                </a:solidFill>
                <a:latin typeface="Calibri" pitchFamily="34" charset="0"/>
                <a:ea typeface="Calibri" pitchFamily="34" charset="-122"/>
                <a:cs typeface="Calibri" pitchFamily="34" charset="-120"/>
              </a:rPr>
              <a:t>Server first</a:t>
            </a:r>
            <a:endParaRPr lang="en-US" sz="1050" dirty="0"/>
          </a:p>
        </p:txBody>
      </p:sp>
      <p:sp>
        <p:nvSpPr>
          <p:cNvPr id="34" name="A5_na"/>
          <p:cNvSpPr/>
          <p:nvPr/>
        </p:nvSpPr>
        <p:spPr>
          <a:xfrm>
            <a:off x="7900416" y="3474720"/>
            <a:ext cx="173736" cy="0"/>
          </a:xfrm>
          <a:prstGeom prst="line">
            <a:avLst/>
          </a:prstGeom>
          <a:noFill/>
          <a:ln w="28575">
            <a:solidFill>
              <a:srgbClr val="A8A5D8"/>
            </a:solidFill>
            <a:prstDash val="solid"/>
            <a:tailEnd type="triangle"/>
          </a:ln>
        </p:spPr>
      </p:sp>
      <p:sp>
        <p:nvSpPr>
          <p:cNvPr id="35" name="A5_nc"/>
          <p:cNvSpPr/>
          <p:nvPr/>
        </p:nvSpPr>
        <p:spPr>
          <a:xfrm>
            <a:off x="8083296" y="1691640"/>
            <a:ext cx="1691640" cy="3566160"/>
          </a:xfrm>
          <a:prstGeom prst="roundRect">
            <a:avLst>
              <a:gd name="adj" fmla="val 6486"/>
            </a:avLst>
          </a:prstGeom>
          <a:solidFill>
            <a:srgbClr val="17143F"/>
          </a:solidFill>
          <a:ln w="19050">
            <a:solidFill>
              <a:srgbClr val="34D399"/>
            </a:solidFill>
            <a:prstDash val="solid"/>
          </a:ln>
        </p:spPr>
      </p:sp>
      <p:sp>
        <p:nvSpPr>
          <p:cNvPr id="36" name="A5_bdg"/>
          <p:cNvSpPr/>
          <p:nvPr/>
        </p:nvSpPr>
        <p:spPr>
          <a:xfrm>
            <a:off x="8540496" y="1943100"/>
            <a:ext cx="777240" cy="777240"/>
          </a:xfrm>
          <a:prstGeom prst="ellipse">
            <a:avLst/>
          </a:prstGeom>
          <a:solidFill>
            <a:srgbClr val="221E58"/>
          </a:solidFill>
          <a:ln w="15875">
            <a:solidFill>
              <a:srgbClr val="34D399"/>
            </a:solidFill>
            <a:prstDash val="solid"/>
          </a:ln>
        </p:spPr>
      </p:sp>
      <p:pic>
        <p:nvPicPr>
          <p:cNvPr id="37" name="A5_bico" descr="preencoded.png">    </p:cNvPr>
          <p:cNvPicPr>
            <a:picLocks noChangeAspect="1"/>
          </p:cNvPicPr>
          <p:nvPr/>
        </p:nvPicPr>
        <p:blipFill>
          <a:blip r:embed="rId7"/>
          <a:stretch>
            <a:fillRect/>
          </a:stretch>
        </p:blipFill>
        <p:spPr>
          <a:xfrm>
            <a:off x="8734806" y="2137410"/>
            <a:ext cx="388620" cy="388620"/>
          </a:xfrm>
          <a:prstGeom prst="rect">
            <a:avLst/>
          </a:prstGeom>
        </p:spPr>
      </p:pic>
      <p:sp>
        <p:nvSpPr>
          <p:cNvPr id="38" name="A5_nt"/>
          <p:cNvSpPr txBox="1"/>
          <p:nvPr/>
        </p:nvSpPr>
        <p:spPr>
          <a:xfrm>
            <a:off x="8174736" y="2971800"/>
            <a:ext cx="1508760" cy="502920"/>
          </a:xfrm>
          <a:prstGeom prst="rect">
            <a:avLst/>
          </a:prstGeom>
          <a:noFill/>
          <a:ln/>
        </p:spPr>
        <p:txBody>
          <a:bodyPr wrap="square" lIns="0" tIns="0" rIns="0" bIns="0" rtlCol="0" anchor="t"/>
          <a:lstStyle/>
          <a:p>
            <a:pPr algn="ctr" indent="0" marL="0">
              <a:buNone/>
            </a:pPr>
            <a:r>
              <a:rPr lang="en-US" sz="1500" b="1" dirty="0">
                <a:solidFill>
                  <a:srgbClr val="F4F3FF"/>
                </a:solidFill>
                <a:latin typeface="Calibri" pitchFamily="34" charset="0"/>
                <a:ea typeface="Calibri" pitchFamily="34" charset="-122"/>
                <a:cs typeface="Calibri" pitchFamily="34" charset="-120"/>
              </a:rPr>
              <a:t>Caching</a:t>
            </a:r>
            <a:endParaRPr lang="en-US" sz="1500" dirty="0"/>
          </a:p>
        </p:txBody>
      </p:sp>
      <p:sp>
        <p:nvSpPr>
          <p:cNvPr id="39" name="A5_nd"/>
          <p:cNvSpPr txBox="1"/>
          <p:nvPr/>
        </p:nvSpPr>
        <p:spPr>
          <a:xfrm>
            <a:off x="8220456" y="3520440"/>
            <a:ext cx="1417320" cy="1005840"/>
          </a:xfrm>
          <a:prstGeom prst="rect">
            <a:avLst/>
          </a:prstGeom>
          <a:noFill/>
          <a:ln/>
        </p:spPr>
        <p:txBody>
          <a:bodyPr wrap="square" lIns="0" tIns="0" rIns="0" bIns="0" rtlCol="0" anchor="t"/>
          <a:lstStyle/>
          <a:p>
            <a:pPr algn="ctr" indent="0" marL="0">
              <a:buNone/>
            </a:pPr>
            <a:r>
              <a:rPr lang="en-US" sz="1200" dirty="0">
                <a:solidFill>
                  <a:srgbClr val="A8A5D8"/>
                </a:solidFill>
                <a:latin typeface="Calibri" pitchFamily="34" charset="0"/>
                <a:ea typeface="Calibri" pitchFamily="34" charset="-122"/>
                <a:cs typeface="Calibri" pitchFamily="34" charset="-120"/>
              </a:rPr>
              <a:t>Saves results to skip repeat work.</a:t>
            </a:r>
            <a:endParaRPr lang="en-US" sz="1200" dirty="0"/>
          </a:p>
        </p:txBody>
      </p:sp>
      <p:sp>
        <p:nvSpPr>
          <p:cNvPr id="40" name="A5_ntag"/>
          <p:cNvSpPr txBox="1"/>
          <p:nvPr/>
        </p:nvSpPr>
        <p:spPr>
          <a:xfrm>
            <a:off x="8193024" y="4572000"/>
            <a:ext cx="1472184" cy="457200"/>
          </a:xfrm>
          <a:prstGeom prst="roundRect">
            <a:avLst>
              <a:gd name="adj" fmla="val 24000"/>
            </a:avLst>
          </a:prstGeom>
          <a:solidFill>
            <a:srgbClr val="221E58"/>
          </a:solidFill>
          <a:ln w="12700">
            <a:solidFill>
              <a:srgbClr val="34D399"/>
            </a:solidFill>
            <a:prstDash val="solid"/>
          </a:ln>
        </p:spPr>
        <p:txBody>
          <a:bodyPr wrap="square" lIns="25400" tIns="25400" rIns="25400" bIns="25400" rtlCol="0" anchor="ctr"/>
          <a:lstStyle/>
          <a:p>
            <a:pPr algn="ctr" indent="0" marL="0">
              <a:buNone/>
            </a:pPr>
            <a:r>
              <a:rPr lang="en-US" sz="1050" b="1" dirty="0">
                <a:solidFill>
                  <a:srgbClr val="34D399"/>
                </a:solidFill>
                <a:latin typeface="Calibri" pitchFamily="34" charset="0"/>
                <a:ea typeface="Calibri" pitchFamily="34" charset="-122"/>
                <a:cs typeface="Calibri" pitchFamily="34" charset="-120"/>
              </a:rPr>
              <a:t>Reuse</a:t>
            </a:r>
            <a:endParaRPr lang="en-US" sz="1050" dirty="0"/>
          </a:p>
        </p:txBody>
      </p:sp>
      <p:sp>
        <p:nvSpPr>
          <p:cNvPr id="41" name="A6_na"/>
          <p:cNvSpPr/>
          <p:nvPr/>
        </p:nvSpPr>
        <p:spPr>
          <a:xfrm>
            <a:off x="9784080" y="3474720"/>
            <a:ext cx="173736" cy="0"/>
          </a:xfrm>
          <a:prstGeom prst="line">
            <a:avLst/>
          </a:prstGeom>
          <a:noFill/>
          <a:ln w="28575">
            <a:solidFill>
              <a:srgbClr val="A8A5D8"/>
            </a:solidFill>
            <a:prstDash val="solid"/>
            <a:tailEnd type="triangle"/>
          </a:ln>
        </p:spPr>
      </p:sp>
      <p:sp>
        <p:nvSpPr>
          <p:cNvPr id="42" name="A6_nc"/>
          <p:cNvSpPr/>
          <p:nvPr/>
        </p:nvSpPr>
        <p:spPr>
          <a:xfrm>
            <a:off x="9966960" y="1691640"/>
            <a:ext cx="1691640" cy="3566160"/>
          </a:xfrm>
          <a:prstGeom prst="roundRect">
            <a:avLst>
              <a:gd name="adj" fmla="val 6486"/>
            </a:avLst>
          </a:prstGeom>
          <a:solidFill>
            <a:srgbClr val="17143F"/>
          </a:solidFill>
          <a:ln w="19050">
            <a:solidFill>
              <a:srgbClr val="E64BDA"/>
            </a:solidFill>
            <a:prstDash val="solid"/>
          </a:ln>
        </p:spPr>
      </p:sp>
      <p:sp>
        <p:nvSpPr>
          <p:cNvPr id="43" name="A6_bdg"/>
          <p:cNvSpPr/>
          <p:nvPr/>
        </p:nvSpPr>
        <p:spPr>
          <a:xfrm>
            <a:off x="10424160" y="1943100"/>
            <a:ext cx="777240" cy="777240"/>
          </a:xfrm>
          <a:prstGeom prst="ellipse">
            <a:avLst/>
          </a:prstGeom>
          <a:solidFill>
            <a:srgbClr val="221E58"/>
          </a:solidFill>
          <a:ln w="15875">
            <a:solidFill>
              <a:srgbClr val="E64BDA"/>
            </a:solidFill>
            <a:prstDash val="solid"/>
          </a:ln>
        </p:spPr>
      </p:sp>
      <p:pic>
        <p:nvPicPr>
          <p:cNvPr id="44" name="A6_bico" descr="preencoded.png">    </p:cNvPr>
          <p:cNvPicPr>
            <a:picLocks noChangeAspect="1"/>
          </p:cNvPicPr>
          <p:nvPr/>
        </p:nvPicPr>
        <p:blipFill>
          <a:blip r:embed="rId8"/>
          <a:stretch>
            <a:fillRect/>
          </a:stretch>
        </p:blipFill>
        <p:spPr>
          <a:xfrm>
            <a:off x="10618470" y="2137410"/>
            <a:ext cx="388620" cy="388620"/>
          </a:xfrm>
          <a:prstGeom prst="rect">
            <a:avLst/>
          </a:prstGeom>
        </p:spPr>
      </p:pic>
      <p:sp>
        <p:nvSpPr>
          <p:cNvPr id="45" name="A6_nt"/>
          <p:cNvSpPr txBox="1"/>
          <p:nvPr/>
        </p:nvSpPr>
        <p:spPr>
          <a:xfrm>
            <a:off x="10058400" y="2971800"/>
            <a:ext cx="1508760" cy="502920"/>
          </a:xfrm>
          <a:prstGeom prst="rect">
            <a:avLst/>
          </a:prstGeom>
          <a:noFill/>
          <a:ln/>
        </p:spPr>
        <p:txBody>
          <a:bodyPr wrap="square" lIns="0" tIns="0" rIns="0" bIns="0" rtlCol="0" anchor="t"/>
          <a:lstStyle/>
          <a:p>
            <a:pPr algn="ctr" indent="0" marL="0">
              <a:buNone/>
            </a:pPr>
            <a:r>
              <a:rPr lang="en-US" sz="1500" b="1" dirty="0">
                <a:solidFill>
                  <a:srgbClr val="F4F3FF"/>
                </a:solidFill>
                <a:latin typeface="Calibri" pitchFamily="34" charset="0"/>
                <a:ea typeface="Calibri" pitchFamily="34" charset="-122"/>
                <a:cs typeface="Calibri" pitchFamily="34" charset="-120"/>
              </a:rPr>
              <a:t>User experience</a:t>
            </a:r>
            <a:endParaRPr lang="en-US" sz="1500" dirty="0"/>
          </a:p>
        </p:txBody>
      </p:sp>
      <p:sp>
        <p:nvSpPr>
          <p:cNvPr id="46" name="A6_nd"/>
          <p:cNvSpPr txBox="1"/>
          <p:nvPr/>
        </p:nvSpPr>
        <p:spPr>
          <a:xfrm>
            <a:off x="10104120" y="3520440"/>
            <a:ext cx="1417320" cy="1005840"/>
          </a:xfrm>
          <a:prstGeom prst="rect">
            <a:avLst/>
          </a:prstGeom>
          <a:noFill/>
          <a:ln/>
        </p:spPr>
        <p:txBody>
          <a:bodyPr wrap="square" lIns="0" tIns="0" rIns="0" bIns="0" rtlCol="0" anchor="t"/>
          <a:lstStyle/>
          <a:p>
            <a:pPr algn="ctr" indent="0" marL="0">
              <a:buNone/>
            </a:pPr>
            <a:r>
              <a:rPr lang="en-US" sz="1200" dirty="0">
                <a:solidFill>
                  <a:srgbClr val="A8A5D8"/>
                </a:solidFill>
                <a:latin typeface="Calibri" pitchFamily="34" charset="0"/>
                <a:ea typeface="Calibri" pitchFamily="34" charset="-122"/>
                <a:cs typeface="Calibri" pitchFamily="34" charset="-120"/>
              </a:rPr>
              <a:t>Fast first paint, streaming, no reloads.</a:t>
            </a:r>
            <a:endParaRPr lang="en-US" sz="1200" dirty="0"/>
          </a:p>
        </p:txBody>
      </p:sp>
      <p:sp>
        <p:nvSpPr>
          <p:cNvPr id="47" name="A6_ntag"/>
          <p:cNvSpPr txBox="1"/>
          <p:nvPr/>
        </p:nvSpPr>
        <p:spPr>
          <a:xfrm>
            <a:off x="10076688" y="4572000"/>
            <a:ext cx="1472184" cy="457200"/>
          </a:xfrm>
          <a:prstGeom prst="roundRect">
            <a:avLst>
              <a:gd name="adj" fmla="val 24000"/>
            </a:avLst>
          </a:prstGeom>
          <a:solidFill>
            <a:srgbClr val="221E58"/>
          </a:solidFill>
          <a:ln w="12700">
            <a:solidFill>
              <a:srgbClr val="E64BDA"/>
            </a:solidFill>
            <a:prstDash val="solid"/>
          </a:ln>
        </p:spPr>
        <p:txBody>
          <a:bodyPr wrap="square" lIns="25400" tIns="25400" rIns="25400" bIns="25400" rtlCol="0" anchor="ctr"/>
          <a:lstStyle/>
          <a:p>
            <a:pPr algn="ctr" indent="0" marL="0">
              <a:buNone/>
            </a:pPr>
            <a:r>
              <a:rPr lang="en-US" sz="1050" b="1" dirty="0">
                <a:solidFill>
                  <a:srgbClr val="E64BDA"/>
                </a:solidFill>
                <a:latin typeface="Calibri" pitchFamily="34" charset="0"/>
                <a:ea typeface="Calibri" pitchFamily="34" charset="-122"/>
                <a:cs typeface="Calibri" pitchFamily="34" charset="-120"/>
              </a:rPr>
              <a:t>Speed</a:t>
            </a:r>
            <a:endParaRPr lang="en-US" sz="1050" dirty="0"/>
          </a:p>
        </p:txBody>
      </p:sp>
      <p:sp>
        <p:nvSpPr>
          <p:cNvPr id="48" name="Shape 38"/>
          <p:cNvSpPr/>
          <p:nvPr/>
        </p:nvSpPr>
        <p:spPr>
          <a:xfrm>
            <a:off x="548640" y="5486400"/>
            <a:ext cx="11091672" cy="685800"/>
          </a:xfrm>
          <a:prstGeom prst="roundRect">
            <a:avLst>
              <a:gd name="adj" fmla="val 16000"/>
            </a:avLst>
          </a:prstGeom>
          <a:solidFill>
            <a:srgbClr val="221E58"/>
          </a:solidFill>
          <a:ln w="12700">
            <a:solidFill>
              <a:srgbClr val="8B7CFF"/>
            </a:solidFill>
            <a:prstDash val="solid"/>
          </a:ln>
        </p:spPr>
      </p:sp>
      <p:sp>
        <p:nvSpPr>
          <p:cNvPr id="49" name="Text 39"/>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700" b="1" dirty="0">
                <a:solidFill>
                  <a:srgbClr val="F4F3FF"/>
                </a:solidFill>
                <a:latin typeface="Calibri" pitchFamily="34" charset="0"/>
                <a:ea typeface="Calibri" pitchFamily="34" charset="-122"/>
                <a:cs typeface="Calibri" pitchFamily="34" charset="-120"/>
              </a:rPr>
              <a:t>Every choice changes the same thing: how fast users see something useful.</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5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50"/>
                                        <p:tgtEl>
                                          <p:spTgt spid="10"/>
                                        </p:tgtEl>
                                      </p:cBhvr>
                                    </p:animEffect>
                                  </p:childTnLst>
                                </p:cTn>
                              </p:par>
                              <p:par>
                                <p:cTn id="15" presetID="10"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5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450"/>
                                        <p:tgtEl>
                                          <p:spTgt spid="12"/>
                                        </p:tgtEl>
                                      </p:cBhvr>
                                    </p:animEffect>
                                  </p:childTnLst>
                                </p:cTn>
                              </p:par>
                            </p:childTnLst>
                          </p:cTn>
                        </p:par>
                      </p:childTnLst>
                    </p:cTn>
                  </p:par>
                  <p:par>
                    <p:cTn id="44" fill="hold">
                      <p:stCondLst>
                        <p:cond delay="indefinite"/>
                      </p:stCondLst>
                      <p:childTnLst>
                        <p:par>
                          <p:cTn id="45"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5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5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50"/>
                                        <p:tgtEl>
                                          <p:spTgt spid="15"/>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50"/>
                                        <p:tgtEl>
                                          <p:spTgt spid="16"/>
                                        </p:tgtEl>
                                      </p:cBhvr>
                                    </p:animEffect>
                                  </p:childTnLst>
                                </p:cTn>
                              </p:par>
                              <p:par>
                                <p:cTn id="35" presetID="10"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450"/>
                                        <p:tgtEl>
                                          <p:spTgt spid="17"/>
                                        </p:tgtEl>
                                      </p:cBhvr>
                                    </p:animEffect>
                                  </p:childTnLst>
                                </p:cTn>
                              </p:par>
                              <p:par>
                                <p:cTn id="38" presetID="10" presetClass="entr" presetSubtype="0"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50"/>
                                        <p:tgtEl>
                                          <p:spTgt spid="18"/>
                                        </p:tgtEl>
                                      </p:cBhvr>
                                    </p:animEffect>
                                  </p:childTnLst>
                                </p:cTn>
                              </p:par>
                              <p:par>
                                <p:cTn id="41" presetID="10"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50"/>
                                        <p:tgtEl>
                                          <p:spTgt spid="19"/>
                                        </p:tgtEl>
                                      </p:cBhvr>
                                    </p:animEffect>
                                  </p:childTnLst>
                                </p:cTn>
                              </p:par>
                            </p:childTnLst>
                          </p:cTn>
                        </p:par>
                      </p:childTnLst>
                    </p:cTn>
                  </p:par>
                  <p:par>
                    <p:cTn id="67" fill="hold">
                      <p:stCondLst>
                        <p:cond delay="indefinite"/>
                      </p:stCondLst>
                      <p:childTnLst>
                        <p:par>
                          <p:cTn id="68"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450"/>
                                        <p:tgtEl>
                                          <p:spTgt spid="20"/>
                                        </p:tgtEl>
                                      </p:cBhvr>
                                    </p:animEffect>
                                  </p:childTnLst>
                                </p:cTn>
                              </p:par>
                              <p:par>
                                <p:cTn id="49" presetID="10"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450"/>
                                        <p:tgtEl>
                                          <p:spTgt spid="21"/>
                                        </p:tgtEl>
                                      </p:cBhvr>
                                    </p:animEffect>
                                  </p:childTnLst>
                                </p:cTn>
                              </p:par>
                              <p:par>
                                <p:cTn id="52" presetID="10" presetClass="entr" presetSubtype="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450"/>
                                        <p:tgtEl>
                                          <p:spTgt spid="22"/>
                                        </p:tgtEl>
                                      </p:cBhvr>
                                    </p:animEffect>
                                  </p:childTnLst>
                                </p:cTn>
                              </p:par>
                              <p:par>
                                <p:cTn id="55" presetID="10" presetClass="entr" presetSubtype="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450"/>
                                        <p:tgtEl>
                                          <p:spTgt spid="23"/>
                                        </p:tgtEl>
                                      </p:cBhvr>
                                    </p:animEffect>
                                  </p:childTnLst>
                                </p:cTn>
                              </p:par>
                              <p:par>
                                <p:cTn id="58" presetID="10" presetClass="entr" presetSubtype="0" fill="hold"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450"/>
                                        <p:tgtEl>
                                          <p:spTgt spid="24"/>
                                        </p:tgtEl>
                                      </p:cBhvr>
                                    </p:animEffect>
                                  </p:childTnLst>
                                </p:cTn>
                              </p:par>
                              <p:par>
                                <p:cTn id="61" presetID="10" presetClass="entr" presetSubtype="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50"/>
                                        <p:tgtEl>
                                          <p:spTgt spid="25"/>
                                        </p:tgtEl>
                                      </p:cBhvr>
                                    </p:animEffect>
                                  </p:childTnLst>
                                </p:cTn>
                              </p:par>
                              <p:par>
                                <p:cTn id="64" presetID="10" presetClass="entr" presetSubtype="0" fill="hold"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450"/>
                                        <p:tgtEl>
                                          <p:spTgt spid="26"/>
                                        </p:tgtEl>
                                      </p:cBhvr>
                                    </p:animEffect>
                                  </p:childTnLst>
                                </p:cTn>
                              </p:par>
                            </p:childTnLst>
                          </p:cTn>
                        </p:par>
                      </p:childTnLst>
                    </p:cTn>
                  </p:par>
                  <p:par>
                    <p:cTn id="90" fill="hold">
                      <p:stCondLst>
                        <p:cond delay="indefinite"/>
                      </p:stCondLst>
                      <p:childTnLst>
                        <p:par>
                          <p:cTn id="91"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50"/>
                                        <p:tgtEl>
                                          <p:spTgt spid="27"/>
                                        </p:tgtEl>
                                      </p:cBhvr>
                                    </p:animEffect>
                                  </p:childTnLst>
                                </p:cTn>
                              </p:par>
                              <p:par>
                                <p:cTn id="72" presetID="10" presetClass="entr" presetSubtype="0" fill="hold"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50"/>
                                        <p:tgtEl>
                                          <p:spTgt spid="28"/>
                                        </p:tgtEl>
                                      </p:cBhvr>
                                    </p:animEffect>
                                  </p:childTnLst>
                                </p:cTn>
                              </p:par>
                              <p:par>
                                <p:cTn id="75" presetID="10" presetClass="entr" presetSubtype="0" fill="hold"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50"/>
                                        <p:tgtEl>
                                          <p:spTgt spid="29"/>
                                        </p:tgtEl>
                                      </p:cBhvr>
                                    </p:animEffect>
                                  </p:childTnLst>
                                </p:cTn>
                              </p:par>
                              <p:par>
                                <p:cTn id="78" presetID="10" presetClass="entr" presetSubtype="0" fill="hold"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450"/>
                                        <p:tgtEl>
                                          <p:spTgt spid="30"/>
                                        </p:tgtEl>
                                      </p:cBhvr>
                                    </p:animEffect>
                                  </p:childTnLst>
                                </p:cTn>
                              </p:par>
                              <p:par>
                                <p:cTn id="81" presetID="10" presetClass="entr" presetSubtype="0" fill="hold"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450"/>
                                        <p:tgtEl>
                                          <p:spTgt spid="31"/>
                                        </p:tgtEl>
                                      </p:cBhvr>
                                    </p:animEffect>
                                  </p:childTnLst>
                                </p:cTn>
                              </p:par>
                              <p:par>
                                <p:cTn id="84" presetID="10" presetClass="entr" presetSubtype="0" fill="hold"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450"/>
                                        <p:tgtEl>
                                          <p:spTgt spid="32"/>
                                        </p:tgtEl>
                                      </p:cBhvr>
                                    </p:animEffect>
                                  </p:childTnLst>
                                </p:cTn>
                              </p:par>
                              <p:par>
                                <p:cTn id="87" presetID="10" presetClass="entr" presetSubtype="0" fill="hold"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450"/>
                                        <p:tgtEl>
                                          <p:spTgt spid="33"/>
                                        </p:tgtEl>
                                      </p:cBhvr>
                                    </p:animEffect>
                                  </p:childTnLst>
                                </p:cTn>
                              </p:par>
                            </p:childTnLst>
                          </p:cTn>
                        </p:par>
                      </p:childTnLst>
                    </p:cTn>
                  </p:par>
                  <p:par>
                    <p:cTn id="113" fill="hold">
                      <p:stCondLst>
                        <p:cond delay="indefinite"/>
                      </p:stCondLst>
                      <p:childTnLst>
                        <p:par>
                          <p:cTn id="114"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50"/>
                                        <p:tgtEl>
                                          <p:spTgt spid="34"/>
                                        </p:tgtEl>
                                      </p:cBhvr>
                                    </p:animEffect>
                                  </p:childTnLst>
                                </p:cTn>
                              </p:par>
                              <p:par>
                                <p:cTn id="95" presetID="10" presetClass="entr" presetSubtype="0" fill="hold"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450"/>
                                        <p:tgtEl>
                                          <p:spTgt spid="35"/>
                                        </p:tgtEl>
                                      </p:cBhvr>
                                    </p:animEffect>
                                  </p:childTnLst>
                                </p:cTn>
                              </p:par>
                              <p:par>
                                <p:cTn id="98" presetID="10" presetClass="entr" presetSubtype="0" fill="hold"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450"/>
                                        <p:tgtEl>
                                          <p:spTgt spid="36"/>
                                        </p:tgtEl>
                                      </p:cBhvr>
                                    </p:animEffect>
                                  </p:childTnLst>
                                </p:cTn>
                              </p:par>
                              <p:par>
                                <p:cTn id="101" presetID="10" presetClass="entr" presetSubtype="0" fill="hold"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450"/>
                                        <p:tgtEl>
                                          <p:spTgt spid="37"/>
                                        </p:tgtEl>
                                      </p:cBhvr>
                                    </p:animEffect>
                                  </p:childTnLst>
                                </p:cTn>
                              </p:par>
                              <p:par>
                                <p:cTn id="104" presetID="10" presetClass="entr" presetSubtype="0" fill="hold"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450"/>
                                        <p:tgtEl>
                                          <p:spTgt spid="38"/>
                                        </p:tgtEl>
                                      </p:cBhvr>
                                    </p:animEffect>
                                  </p:childTnLst>
                                </p:cTn>
                              </p:par>
                              <p:par>
                                <p:cTn id="107" presetID="10" presetClass="entr" presetSubtype="0" fill="hold" nodeType="with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450"/>
                                        <p:tgtEl>
                                          <p:spTgt spid="39"/>
                                        </p:tgtEl>
                                      </p:cBhvr>
                                    </p:animEffect>
                                  </p:childTnLst>
                                </p:cTn>
                              </p:par>
                              <p:par>
                                <p:cTn id="110" presetID="10" presetClass="entr" presetSubtype="0" fill="hold" nodeType="with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450"/>
                                        <p:tgtEl>
                                          <p:spTgt spid="40"/>
                                        </p:tgtEl>
                                      </p:cBhvr>
                                    </p:animEffect>
                                  </p:childTnLst>
                                </p:cTn>
                              </p:par>
                            </p:childTnLst>
                          </p:cTn>
                        </p:par>
                      </p:childTnLst>
                    </p:cTn>
                  </p:par>
                  <p:par>
                    <p:cTn id="136" fill="hold">
                      <p:stCondLst>
                        <p:cond delay="indefinite"/>
                      </p:stCondLst>
                      <p:childTnLst>
                        <p:par>
                          <p:cTn id="137"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41"/>
                                        </p:tgtEl>
                                        <p:attrNameLst>
                                          <p:attrName>style.visibility</p:attrName>
                                        </p:attrNameLst>
                                      </p:cBhvr>
                                      <p:to>
                                        <p:strVal val="visible"/>
                                      </p:to>
                                    </p:set>
                                    <p:animEffect transition="in" filter="fade">
                                      <p:cBhvr>
                                        <p:cTn id="117" dur="450"/>
                                        <p:tgtEl>
                                          <p:spTgt spid="41"/>
                                        </p:tgtEl>
                                      </p:cBhvr>
                                    </p:animEffect>
                                  </p:childTnLst>
                                </p:cTn>
                              </p:par>
                              <p:par>
                                <p:cTn id="118" presetID="10" presetClass="entr" presetSubtype="0" fill="hold" nodeType="withEffect">
                                  <p:stCondLst>
                                    <p:cond delay="0"/>
                                  </p:stCondLst>
                                  <p:childTnLst>
                                    <p:set>
                                      <p:cBhvr>
                                        <p:cTn id="119" dur="1" fill="hold">
                                          <p:stCondLst>
                                            <p:cond delay="0"/>
                                          </p:stCondLst>
                                        </p:cTn>
                                        <p:tgtEl>
                                          <p:spTgt spid="42"/>
                                        </p:tgtEl>
                                        <p:attrNameLst>
                                          <p:attrName>style.visibility</p:attrName>
                                        </p:attrNameLst>
                                      </p:cBhvr>
                                      <p:to>
                                        <p:strVal val="visible"/>
                                      </p:to>
                                    </p:set>
                                    <p:animEffect transition="in" filter="fade">
                                      <p:cBhvr>
                                        <p:cTn id="120" dur="450"/>
                                        <p:tgtEl>
                                          <p:spTgt spid="42"/>
                                        </p:tgtEl>
                                      </p:cBhvr>
                                    </p:animEffect>
                                  </p:childTnLst>
                                </p:cTn>
                              </p:par>
                              <p:par>
                                <p:cTn id="121" presetID="10" presetClass="entr" presetSubtype="0" fill="hold" nodeType="withEffect">
                                  <p:stCondLst>
                                    <p:cond delay="0"/>
                                  </p:stCondLst>
                                  <p:childTnLst>
                                    <p:set>
                                      <p:cBhvr>
                                        <p:cTn id="122" dur="1" fill="hold">
                                          <p:stCondLst>
                                            <p:cond delay="0"/>
                                          </p:stCondLst>
                                        </p:cTn>
                                        <p:tgtEl>
                                          <p:spTgt spid="43"/>
                                        </p:tgtEl>
                                        <p:attrNameLst>
                                          <p:attrName>style.visibility</p:attrName>
                                        </p:attrNameLst>
                                      </p:cBhvr>
                                      <p:to>
                                        <p:strVal val="visible"/>
                                      </p:to>
                                    </p:set>
                                    <p:animEffect transition="in" filter="fade">
                                      <p:cBhvr>
                                        <p:cTn id="123" dur="450"/>
                                        <p:tgtEl>
                                          <p:spTgt spid="43"/>
                                        </p:tgtEl>
                                      </p:cBhvr>
                                    </p:animEffect>
                                  </p:childTnLst>
                                </p:cTn>
                              </p:par>
                              <p:par>
                                <p:cTn id="124" presetID="10" presetClass="entr" presetSubtype="0" fill="hold" nodeType="withEffect">
                                  <p:stCondLst>
                                    <p:cond delay="0"/>
                                  </p:stCondLst>
                                  <p:childTnLst>
                                    <p:set>
                                      <p:cBhvr>
                                        <p:cTn id="125" dur="1" fill="hold">
                                          <p:stCondLst>
                                            <p:cond delay="0"/>
                                          </p:stCondLst>
                                        </p:cTn>
                                        <p:tgtEl>
                                          <p:spTgt spid="44"/>
                                        </p:tgtEl>
                                        <p:attrNameLst>
                                          <p:attrName>style.visibility</p:attrName>
                                        </p:attrNameLst>
                                      </p:cBhvr>
                                      <p:to>
                                        <p:strVal val="visible"/>
                                      </p:to>
                                    </p:set>
                                    <p:animEffect transition="in" filter="fade">
                                      <p:cBhvr>
                                        <p:cTn id="126" dur="450"/>
                                        <p:tgtEl>
                                          <p:spTgt spid="44"/>
                                        </p:tgtEl>
                                      </p:cBhvr>
                                    </p:animEffect>
                                  </p:childTnLst>
                                </p:cTn>
                              </p:par>
                              <p:par>
                                <p:cTn id="127" presetID="10" presetClass="entr" presetSubtype="0" fill="hold" nodeType="withEffect">
                                  <p:stCondLst>
                                    <p:cond delay="0"/>
                                  </p:stCondLst>
                                  <p:childTnLst>
                                    <p:set>
                                      <p:cBhvr>
                                        <p:cTn id="128" dur="1" fill="hold">
                                          <p:stCondLst>
                                            <p:cond delay="0"/>
                                          </p:stCondLst>
                                        </p:cTn>
                                        <p:tgtEl>
                                          <p:spTgt spid="45"/>
                                        </p:tgtEl>
                                        <p:attrNameLst>
                                          <p:attrName>style.visibility</p:attrName>
                                        </p:attrNameLst>
                                      </p:cBhvr>
                                      <p:to>
                                        <p:strVal val="visible"/>
                                      </p:to>
                                    </p:set>
                                    <p:animEffect transition="in" filter="fade">
                                      <p:cBhvr>
                                        <p:cTn id="129" dur="450"/>
                                        <p:tgtEl>
                                          <p:spTgt spid="45"/>
                                        </p:tgtEl>
                                      </p:cBhvr>
                                    </p:animEffect>
                                  </p:childTnLst>
                                </p:cTn>
                              </p:par>
                              <p:par>
                                <p:cTn id="130" presetID="10" presetClass="entr" presetSubtype="0" fill="hold" nodeType="withEffect">
                                  <p:stCondLst>
                                    <p:cond delay="0"/>
                                  </p:stCondLst>
                                  <p:childTnLst>
                                    <p:set>
                                      <p:cBhvr>
                                        <p:cTn id="131" dur="1" fill="hold">
                                          <p:stCondLst>
                                            <p:cond delay="0"/>
                                          </p:stCondLst>
                                        </p:cTn>
                                        <p:tgtEl>
                                          <p:spTgt spid="46"/>
                                        </p:tgtEl>
                                        <p:attrNameLst>
                                          <p:attrName>style.visibility</p:attrName>
                                        </p:attrNameLst>
                                      </p:cBhvr>
                                      <p:to>
                                        <p:strVal val="visible"/>
                                      </p:to>
                                    </p:set>
                                    <p:animEffect transition="in" filter="fade">
                                      <p:cBhvr>
                                        <p:cTn id="132" dur="450"/>
                                        <p:tgtEl>
                                          <p:spTgt spid="46"/>
                                        </p:tgtEl>
                                      </p:cBhvr>
                                    </p:animEffect>
                                  </p:childTnLst>
                                </p:cTn>
                              </p:par>
                              <p:par>
                                <p:cTn id="133" presetID="10" presetClass="entr" presetSubtype="0" fill="hold" nodeType="withEffect">
                                  <p:stCondLst>
                                    <p:cond delay="0"/>
                                  </p:stCondLst>
                                  <p:childTnLst>
                                    <p:set>
                                      <p:cBhvr>
                                        <p:cTn id="134" dur="1" fill="hold">
                                          <p:stCondLst>
                                            <p:cond delay="0"/>
                                          </p:stCondLst>
                                        </p:cTn>
                                        <p:tgtEl>
                                          <p:spTgt spid="47"/>
                                        </p:tgtEl>
                                        <p:attrNameLst>
                                          <p:attrName>style.visibility</p:attrName>
                                        </p:attrNameLst>
                                      </p:cBhvr>
                                      <p:to>
                                        <p:strVal val="visible"/>
                                      </p:to>
                                    </p:set>
                                    <p:animEffect transition="in" filter="fade">
                                      <p:cBhvr>
                                        <p:cTn id="135" dur="4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THE BIG PICTURE</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Follow one request: /products/42</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28</a:t>
            </a:r>
            <a:endParaRPr lang="en-US" sz="1100" dirty="0"/>
          </a:p>
        </p:txBody>
      </p:sp>
      <p:sp>
        <p:nvSpPr>
          <p:cNvPr id="7" name="A1_sc"/>
          <p:cNvSpPr/>
          <p:nvPr/>
        </p:nvSpPr>
        <p:spPr>
          <a:xfrm>
            <a:off x="548640" y="1600200"/>
            <a:ext cx="2606040" cy="2103120"/>
          </a:xfrm>
          <a:prstGeom prst="roundRect">
            <a:avLst>
              <a:gd name="adj" fmla="val 5217"/>
            </a:avLst>
          </a:prstGeom>
          <a:solidFill>
            <a:srgbClr val="17143F"/>
          </a:solidFill>
          <a:ln w="12700">
            <a:solidFill>
              <a:srgbClr val="8B7CFF"/>
            </a:solidFill>
            <a:prstDash val="solid"/>
          </a:ln>
        </p:spPr>
      </p:sp>
      <p:sp>
        <p:nvSpPr>
          <p:cNvPr id="8" name="A1_sn"/>
          <p:cNvSpPr txBox="1"/>
          <p:nvPr/>
        </p:nvSpPr>
        <p:spPr>
          <a:xfrm>
            <a:off x="749808" y="1783080"/>
            <a:ext cx="457200" cy="457200"/>
          </a:xfrm>
          <a:prstGeom prst="roundRect">
            <a:avLst>
              <a:gd name="adj" fmla="val 50000"/>
            </a:avLst>
          </a:prstGeom>
          <a:solidFill>
            <a:srgbClr val="8B7CFF"/>
          </a:solidFill>
          <a:ln w="12700">
            <a:solidFill>
              <a:srgbClr val="8B7CFF"/>
            </a:solidFill>
            <a:prstDash val="solid"/>
          </a:ln>
        </p:spPr>
        <p:txBody>
          <a:bodyPr wrap="square" lIns="0" tIns="0" rIns="0" bIns="0" rtlCol="0" anchor="ctr"/>
          <a:lstStyle/>
          <a:p>
            <a:pPr algn="ctr" indent="0" marL="0">
              <a:buNone/>
            </a:pPr>
            <a:r>
              <a:rPr lang="en-US" sz="1600" b="1" dirty="0">
                <a:solidFill>
                  <a:srgbClr val="0C0A20"/>
                </a:solidFill>
                <a:latin typeface="Calibri" pitchFamily="34" charset="0"/>
                <a:ea typeface="Calibri" pitchFamily="34" charset="-122"/>
                <a:cs typeface="Calibri" pitchFamily="34" charset="-120"/>
              </a:rPr>
              <a:t>1</a:t>
            </a:r>
            <a:endParaRPr lang="en-US" sz="1600" dirty="0"/>
          </a:p>
        </p:txBody>
      </p:sp>
      <p:sp>
        <p:nvSpPr>
          <p:cNvPr id="9" name="A1_sh"/>
          <p:cNvSpPr txBox="1"/>
          <p:nvPr/>
        </p:nvSpPr>
        <p:spPr>
          <a:xfrm>
            <a:off x="1325880" y="1783080"/>
            <a:ext cx="1737360" cy="457200"/>
          </a:xfrm>
          <a:prstGeom prst="rect">
            <a:avLst/>
          </a:prstGeom>
          <a:noFill/>
          <a:ln/>
        </p:spPr>
        <p:txBody>
          <a:bodyPr wrap="square" lIns="0" tIns="0" rIns="0" bIns="0" rtlCol="0" anchor="ctr"/>
          <a:lstStyle/>
          <a:p>
            <a:pPr indent="0" marL="0">
              <a:buNone/>
            </a:pPr>
            <a:r>
              <a:rPr lang="en-US" sz="1500" b="1" dirty="0">
                <a:solidFill>
                  <a:srgbClr val="8B7CFF"/>
                </a:solidFill>
                <a:latin typeface="Calibri" pitchFamily="34" charset="0"/>
                <a:ea typeface="Calibri" pitchFamily="34" charset="-122"/>
                <a:cs typeface="Calibri" pitchFamily="34" charset="-120"/>
              </a:rPr>
              <a:t>Routing</a:t>
            </a:r>
            <a:endParaRPr lang="en-US" sz="1500" dirty="0"/>
          </a:p>
        </p:txBody>
      </p:sp>
      <p:sp>
        <p:nvSpPr>
          <p:cNvPr id="10" name="A1_sd"/>
          <p:cNvSpPr txBox="1"/>
          <p:nvPr/>
        </p:nvSpPr>
        <p:spPr>
          <a:xfrm>
            <a:off x="749808" y="2423160"/>
            <a:ext cx="2203704" cy="1188720"/>
          </a:xfrm>
          <a:prstGeom prst="rect">
            <a:avLst/>
          </a:prstGeom>
          <a:noFill/>
          <a:ln/>
        </p:spPr>
        <p:txBody>
          <a:bodyPr wrap="square" lIns="0" tIns="0" rIns="0" bIns="0" rtlCol="0" anchor="t"/>
          <a:lstStyle/>
          <a:p>
            <a:pPr indent="0" marL="0">
              <a:buNone/>
            </a:pPr>
            <a:r>
              <a:rPr lang="en-US" sz="1500" dirty="0">
                <a:solidFill>
                  <a:srgbClr val="F4F3FF"/>
                </a:solidFill>
                <a:latin typeface="Calibri" pitchFamily="34" charset="0"/>
                <a:ea typeface="Calibri" pitchFamily="34" charset="-122"/>
                <a:cs typeface="Calibri" pitchFamily="34" charset="-120"/>
              </a:rPr>
              <a:t>/products/42 matches app/products/[id]/page.tsx</a:t>
            </a:r>
            <a:endParaRPr lang="en-US" sz="1500" dirty="0"/>
          </a:p>
        </p:txBody>
      </p:sp>
      <p:sp>
        <p:nvSpPr>
          <p:cNvPr id="11" name="A2_sc"/>
          <p:cNvSpPr/>
          <p:nvPr/>
        </p:nvSpPr>
        <p:spPr>
          <a:xfrm>
            <a:off x="3374136" y="1600200"/>
            <a:ext cx="2606040" cy="2103120"/>
          </a:xfrm>
          <a:prstGeom prst="roundRect">
            <a:avLst>
              <a:gd name="adj" fmla="val 5217"/>
            </a:avLst>
          </a:prstGeom>
          <a:solidFill>
            <a:srgbClr val="17143F"/>
          </a:solidFill>
          <a:ln w="12700">
            <a:solidFill>
              <a:srgbClr val="8B7CFF"/>
            </a:solidFill>
            <a:prstDash val="solid"/>
          </a:ln>
        </p:spPr>
      </p:sp>
      <p:sp>
        <p:nvSpPr>
          <p:cNvPr id="12" name="A2_sn"/>
          <p:cNvSpPr txBox="1"/>
          <p:nvPr/>
        </p:nvSpPr>
        <p:spPr>
          <a:xfrm>
            <a:off x="3575304" y="1783080"/>
            <a:ext cx="457200" cy="457200"/>
          </a:xfrm>
          <a:prstGeom prst="roundRect">
            <a:avLst>
              <a:gd name="adj" fmla="val 50000"/>
            </a:avLst>
          </a:prstGeom>
          <a:solidFill>
            <a:srgbClr val="8B7CFF"/>
          </a:solidFill>
          <a:ln w="12700">
            <a:solidFill>
              <a:srgbClr val="8B7CFF"/>
            </a:solidFill>
            <a:prstDash val="solid"/>
          </a:ln>
        </p:spPr>
        <p:txBody>
          <a:bodyPr wrap="square" lIns="0" tIns="0" rIns="0" bIns="0" rtlCol="0" anchor="ctr"/>
          <a:lstStyle/>
          <a:p>
            <a:pPr algn="ctr" indent="0" marL="0">
              <a:buNone/>
            </a:pPr>
            <a:r>
              <a:rPr lang="en-US" sz="1600" b="1" dirty="0">
                <a:solidFill>
                  <a:srgbClr val="0C0A20"/>
                </a:solidFill>
                <a:latin typeface="Calibri" pitchFamily="34" charset="0"/>
                <a:ea typeface="Calibri" pitchFamily="34" charset="-122"/>
                <a:cs typeface="Calibri" pitchFamily="34" charset="-120"/>
              </a:rPr>
              <a:t>2</a:t>
            </a:r>
            <a:endParaRPr lang="en-US" sz="1600" dirty="0"/>
          </a:p>
        </p:txBody>
      </p:sp>
      <p:sp>
        <p:nvSpPr>
          <p:cNvPr id="13" name="A2_sh"/>
          <p:cNvSpPr txBox="1"/>
          <p:nvPr/>
        </p:nvSpPr>
        <p:spPr>
          <a:xfrm>
            <a:off x="4151376" y="1783080"/>
            <a:ext cx="1737360" cy="457200"/>
          </a:xfrm>
          <a:prstGeom prst="rect">
            <a:avLst/>
          </a:prstGeom>
          <a:noFill/>
          <a:ln/>
        </p:spPr>
        <p:txBody>
          <a:bodyPr wrap="square" lIns="0" tIns="0" rIns="0" bIns="0" rtlCol="0" anchor="ctr"/>
          <a:lstStyle/>
          <a:p>
            <a:pPr indent="0" marL="0">
              <a:buNone/>
            </a:pPr>
            <a:r>
              <a:rPr lang="en-US" sz="1500" b="1" dirty="0">
                <a:solidFill>
                  <a:srgbClr val="8B7CFF"/>
                </a:solidFill>
                <a:latin typeface="Calibri" pitchFamily="34" charset="0"/>
                <a:ea typeface="Calibri" pitchFamily="34" charset="-122"/>
                <a:cs typeface="Calibri" pitchFamily="34" charset="-120"/>
              </a:rPr>
              <a:t>Layouts</a:t>
            </a:r>
            <a:endParaRPr lang="en-US" sz="1500" dirty="0"/>
          </a:p>
        </p:txBody>
      </p:sp>
      <p:sp>
        <p:nvSpPr>
          <p:cNvPr id="14" name="A2_sd"/>
          <p:cNvSpPr txBox="1"/>
          <p:nvPr/>
        </p:nvSpPr>
        <p:spPr>
          <a:xfrm>
            <a:off x="3575304" y="2423160"/>
            <a:ext cx="2203704" cy="1188720"/>
          </a:xfrm>
          <a:prstGeom prst="rect">
            <a:avLst/>
          </a:prstGeom>
          <a:noFill/>
          <a:ln/>
        </p:spPr>
        <p:txBody>
          <a:bodyPr wrap="square" lIns="0" tIns="0" rIns="0" bIns="0" rtlCol="0" anchor="t"/>
          <a:lstStyle/>
          <a:p>
            <a:pPr indent="0" marL="0">
              <a:buNone/>
            </a:pPr>
            <a:r>
              <a:rPr lang="en-US" sz="1500" dirty="0">
                <a:solidFill>
                  <a:srgbClr val="F4F3FF"/>
                </a:solidFill>
                <a:latin typeface="Calibri" pitchFamily="34" charset="0"/>
                <a:ea typeface="Calibri" pitchFamily="34" charset="-122"/>
                <a:cs typeface="Calibri" pitchFamily="34" charset="-120"/>
              </a:rPr>
              <a:t>Root and products layouts wrap the page</a:t>
            </a:r>
            <a:endParaRPr lang="en-US" sz="1500" dirty="0"/>
          </a:p>
        </p:txBody>
      </p:sp>
      <p:sp>
        <p:nvSpPr>
          <p:cNvPr id="15" name="A3_sc"/>
          <p:cNvSpPr/>
          <p:nvPr/>
        </p:nvSpPr>
        <p:spPr>
          <a:xfrm>
            <a:off x="6199632" y="1600200"/>
            <a:ext cx="2606040" cy="2103120"/>
          </a:xfrm>
          <a:prstGeom prst="roundRect">
            <a:avLst>
              <a:gd name="adj" fmla="val 5217"/>
            </a:avLst>
          </a:prstGeom>
          <a:solidFill>
            <a:srgbClr val="17143F"/>
          </a:solidFill>
          <a:ln w="12700">
            <a:solidFill>
              <a:srgbClr val="22D3EE"/>
            </a:solidFill>
            <a:prstDash val="solid"/>
          </a:ln>
        </p:spPr>
      </p:sp>
      <p:sp>
        <p:nvSpPr>
          <p:cNvPr id="16" name="A3_sn"/>
          <p:cNvSpPr txBox="1"/>
          <p:nvPr/>
        </p:nvSpPr>
        <p:spPr>
          <a:xfrm>
            <a:off x="6400800" y="1783080"/>
            <a:ext cx="457200" cy="457200"/>
          </a:xfrm>
          <a:prstGeom prst="roundRect">
            <a:avLst>
              <a:gd name="adj" fmla="val 50000"/>
            </a:avLst>
          </a:prstGeom>
          <a:solidFill>
            <a:srgbClr val="22D3EE"/>
          </a:solidFill>
          <a:ln w="12700">
            <a:solidFill>
              <a:srgbClr val="22D3EE"/>
            </a:solidFill>
            <a:prstDash val="solid"/>
          </a:ln>
        </p:spPr>
        <p:txBody>
          <a:bodyPr wrap="square" lIns="0" tIns="0" rIns="0" bIns="0" rtlCol="0" anchor="ctr"/>
          <a:lstStyle/>
          <a:p>
            <a:pPr algn="ctr" indent="0" marL="0">
              <a:buNone/>
            </a:pPr>
            <a:r>
              <a:rPr lang="en-US" sz="1600" b="1" dirty="0">
                <a:solidFill>
                  <a:srgbClr val="0C0A20"/>
                </a:solidFill>
                <a:latin typeface="Calibri" pitchFamily="34" charset="0"/>
                <a:ea typeface="Calibri" pitchFamily="34" charset="-122"/>
                <a:cs typeface="Calibri" pitchFamily="34" charset="-120"/>
              </a:rPr>
              <a:t>3</a:t>
            </a:r>
            <a:endParaRPr lang="en-US" sz="1600" dirty="0"/>
          </a:p>
        </p:txBody>
      </p:sp>
      <p:sp>
        <p:nvSpPr>
          <p:cNvPr id="17" name="A3_sh"/>
          <p:cNvSpPr txBox="1"/>
          <p:nvPr/>
        </p:nvSpPr>
        <p:spPr>
          <a:xfrm>
            <a:off x="6976872" y="1783080"/>
            <a:ext cx="173736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Components + data</a:t>
            </a:r>
            <a:endParaRPr lang="en-US" sz="1500" dirty="0"/>
          </a:p>
        </p:txBody>
      </p:sp>
      <p:sp>
        <p:nvSpPr>
          <p:cNvPr id="18" name="A3_sd"/>
          <p:cNvSpPr txBox="1"/>
          <p:nvPr/>
        </p:nvSpPr>
        <p:spPr>
          <a:xfrm>
            <a:off x="6400800" y="2423160"/>
            <a:ext cx="2203704" cy="1188720"/>
          </a:xfrm>
          <a:prstGeom prst="rect">
            <a:avLst/>
          </a:prstGeom>
          <a:noFill/>
          <a:ln/>
        </p:spPr>
        <p:txBody>
          <a:bodyPr wrap="square" lIns="0" tIns="0" rIns="0" bIns="0" rtlCol="0" anchor="t"/>
          <a:lstStyle/>
          <a:p>
            <a:pPr indent="0" marL="0">
              <a:buNone/>
            </a:pPr>
            <a:r>
              <a:rPr lang="en-US" sz="1500" dirty="0">
                <a:solidFill>
                  <a:srgbClr val="F4F3FF"/>
                </a:solidFill>
                <a:latin typeface="Calibri" pitchFamily="34" charset="0"/>
                <a:ea typeface="Calibri" pitchFamily="34" charset="-122"/>
                <a:cs typeface="Calibri" pitchFamily="34" charset="-120"/>
              </a:rPr>
              <a:t>A Server Component fetches the product directly</a:t>
            </a:r>
            <a:endParaRPr lang="en-US" sz="1500" dirty="0"/>
          </a:p>
        </p:txBody>
      </p:sp>
      <p:sp>
        <p:nvSpPr>
          <p:cNvPr id="19" name="A4_sc"/>
          <p:cNvSpPr/>
          <p:nvPr/>
        </p:nvSpPr>
        <p:spPr>
          <a:xfrm>
            <a:off x="9025128" y="1600200"/>
            <a:ext cx="2606040" cy="2103120"/>
          </a:xfrm>
          <a:prstGeom prst="roundRect">
            <a:avLst>
              <a:gd name="adj" fmla="val 5217"/>
            </a:avLst>
          </a:prstGeom>
          <a:solidFill>
            <a:srgbClr val="17143F"/>
          </a:solidFill>
          <a:ln w="12700">
            <a:solidFill>
              <a:srgbClr val="22D3EE"/>
            </a:solidFill>
            <a:prstDash val="solid"/>
          </a:ln>
        </p:spPr>
      </p:sp>
      <p:sp>
        <p:nvSpPr>
          <p:cNvPr id="20" name="A4_sn"/>
          <p:cNvSpPr txBox="1"/>
          <p:nvPr/>
        </p:nvSpPr>
        <p:spPr>
          <a:xfrm>
            <a:off x="9226296" y="1783080"/>
            <a:ext cx="457200" cy="457200"/>
          </a:xfrm>
          <a:prstGeom prst="roundRect">
            <a:avLst>
              <a:gd name="adj" fmla="val 50000"/>
            </a:avLst>
          </a:prstGeom>
          <a:solidFill>
            <a:srgbClr val="22D3EE"/>
          </a:solidFill>
          <a:ln w="12700">
            <a:solidFill>
              <a:srgbClr val="22D3EE"/>
            </a:solidFill>
            <a:prstDash val="solid"/>
          </a:ln>
        </p:spPr>
        <p:txBody>
          <a:bodyPr wrap="square" lIns="0" tIns="0" rIns="0" bIns="0" rtlCol="0" anchor="ctr"/>
          <a:lstStyle/>
          <a:p>
            <a:pPr algn="ctr" indent="0" marL="0">
              <a:buNone/>
            </a:pPr>
            <a:r>
              <a:rPr lang="en-US" sz="1600" b="1" dirty="0">
                <a:solidFill>
                  <a:srgbClr val="0C0A20"/>
                </a:solidFill>
                <a:latin typeface="Calibri" pitchFamily="34" charset="0"/>
                <a:ea typeface="Calibri" pitchFamily="34" charset="-122"/>
                <a:cs typeface="Calibri" pitchFamily="34" charset="-120"/>
              </a:rPr>
              <a:t>4</a:t>
            </a:r>
            <a:endParaRPr lang="en-US" sz="1600" dirty="0"/>
          </a:p>
        </p:txBody>
      </p:sp>
      <p:sp>
        <p:nvSpPr>
          <p:cNvPr id="21" name="A4_sh"/>
          <p:cNvSpPr txBox="1"/>
          <p:nvPr/>
        </p:nvSpPr>
        <p:spPr>
          <a:xfrm>
            <a:off x="9802368" y="1783080"/>
            <a:ext cx="1737360" cy="457200"/>
          </a:xfrm>
          <a:prstGeom prst="rect">
            <a:avLst/>
          </a:prstGeom>
          <a:noFill/>
          <a:ln/>
        </p:spPr>
        <p:txBody>
          <a:bodyPr wrap="square" lIns="0" tIns="0" rIns="0" bIns="0" rtlCol="0" anchor="ctr"/>
          <a:lstStyle/>
          <a:p>
            <a:pPr indent="0" marL="0">
              <a:buNone/>
            </a:pPr>
            <a:r>
              <a:rPr lang="en-US" sz="1500" b="1" dirty="0">
                <a:solidFill>
                  <a:srgbClr val="22D3EE"/>
                </a:solidFill>
                <a:latin typeface="Calibri" pitchFamily="34" charset="0"/>
                <a:ea typeface="Calibri" pitchFamily="34" charset="-122"/>
                <a:cs typeface="Calibri" pitchFamily="34" charset="-120"/>
              </a:rPr>
              <a:t>Rendering</a:t>
            </a:r>
            <a:endParaRPr lang="en-US" sz="1500" dirty="0"/>
          </a:p>
        </p:txBody>
      </p:sp>
      <p:sp>
        <p:nvSpPr>
          <p:cNvPr id="22" name="A4_sd"/>
          <p:cNvSpPr txBox="1"/>
          <p:nvPr/>
        </p:nvSpPr>
        <p:spPr>
          <a:xfrm>
            <a:off x="9226296" y="2423160"/>
            <a:ext cx="2203704" cy="1188720"/>
          </a:xfrm>
          <a:prstGeom prst="rect">
            <a:avLst/>
          </a:prstGeom>
          <a:noFill/>
          <a:ln/>
        </p:spPr>
        <p:txBody>
          <a:bodyPr wrap="square" lIns="0" tIns="0" rIns="0" bIns="0" rtlCol="0" anchor="t"/>
          <a:lstStyle/>
          <a:p>
            <a:pPr indent="0" marL="0">
              <a:buNone/>
            </a:pPr>
            <a:r>
              <a:rPr lang="en-US" sz="1500" dirty="0">
                <a:solidFill>
                  <a:srgbClr val="F4F3FF"/>
                </a:solidFill>
                <a:latin typeface="Calibri" pitchFamily="34" charset="0"/>
                <a:ea typeface="Calibri" pitchFamily="34" charset="-122"/>
                <a:cs typeface="Calibri" pitchFamily="34" charset="-120"/>
              </a:rPr>
              <a:t>generateStaticParams pre-built it. revalidate keeps it fresh</a:t>
            </a:r>
            <a:endParaRPr lang="en-US" sz="1500" dirty="0"/>
          </a:p>
        </p:txBody>
      </p:sp>
      <p:sp>
        <p:nvSpPr>
          <p:cNvPr id="23" name="A5_sc"/>
          <p:cNvSpPr/>
          <p:nvPr/>
        </p:nvSpPr>
        <p:spPr>
          <a:xfrm>
            <a:off x="1961388" y="3931920"/>
            <a:ext cx="2606040" cy="2103120"/>
          </a:xfrm>
          <a:prstGeom prst="roundRect">
            <a:avLst>
              <a:gd name="adj" fmla="val 5217"/>
            </a:avLst>
          </a:prstGeom>
          <a:solidFill>
            <a:srgbClr val="17143F"/>
          </a:solidFill>
          <a:ln w="12700">
            <a:solidFill>
              <a:srgbClr val="34D399"/>
            </a:solidFill>
            <a:prstDash val="solid"/>
          </a:ln>
        </p:spPr>
      </p:sp>
      <p:sp>
        <p:nvSpPr>
          <p:cNvPr id="24" name="A5_sn"/>
          <p:cNvSpPr txBox="1"/>
          <p:nvPr/>
        </p:nvSpPr>
        <p:spPr>
          <a:xfrm>
            <a:off x="2162556" y="4114800"/>
            <a:ext cx="457200" cy="457200"/>
          </a:xfrm>
          <a:prstGeom prst="roundRect">
            <a:avLst>
              <a:gd name="adj" fmla="val 50000"/>
            </a:avLst>
          </a:prstGeom>
          <a:solidFill>
            <a:srgbClr val="34D399"/>
          </a:solidFill>
          <a:ln w="12700">
            <a:solidFill>
              <a:srgbClr val="34D399"/>
            </a:solidFill>
            <a:prstDash val="solid"/>
          </a:ln>
        </p:spPr>
        <p:txBody>
          <a:bodyPr wrap="square" lIns="0" tIns="0" rIns="0" bIns="0" rtlCol="0" anchor="ctr"/>
          <a:lstStyle/>
          <a:p>
            <a:pPr algn="ctr" indent="0" marL="0">
              <a:buNone/>
            </a:pPr>
            <a:r>
              <a:rPr lang="en-US" sz="1600" b="1" dirty="0">
                <a:solidFill>
                  <a:srgbClr val="0C0A20"/>
                </a:solidFill>
                <a:latin typeface="Calibri" pitchFamily="34" charset="0"/>
                <a:ea typeface="Calibri" pitchFamily="34" charset="-122"/>
                <a:cs typeface="Calibri" pitchFamily="34" charset="-120"/>
              </a:rPr>
              <a:t>5</a:t>
            </a:r>
            <a:endParaRPr lang="en-US" sz="1600" dirty="0"/>
          </a:p>
        </p:txBody>
      </p:sp>
      <p:sp>
        <p:nvSpPr>
          <p:cNvPr id="25" name="A5_sh"/>
          <p:cNvSpPr txBox="1"/>
          <p:nvPr/>
        </p:nvSpPr>
        <p:spPr>
          <a:xfrm>
            <a:off x="2738628" y="4114800"/>
            <a:ext cx="1737360" cy="457200"/>
          </a:xfrm>
          <a:prstGeom prst="rect">
            <a:avLst/>
          </a:prstGeom>
          <a:noFill/>
          <a:ln/>
        </p:spPr>
        <p:txBody>
          <a:bodyPr wrap="square" lIns="0" tIns="0" rIns="0" bIns="0" rtlCol="0" anchor="ctr"/>
          <a:lstStyle/>
          <a:p>
            <a:pPr indent="0" marL="0">
              <a:buNone/>
            </a:pPr>
            <a:r>
              <a:rPr lang="en-US" sz="1500" b="1" dirty="0">
                <a:solidFill>
                  <a:srgbClr val="34D399"/>
                </a:solidFill>
                <a:latin typeface="Calibri" pitchFamily="34" charset="0"/>
                <a:ea typeface="Calibri" pitchFamily="34" charset="-122"/>
                <a:cs typeface="Calibri" pitchFamily="34" charset="-120"/>
              </a:rPr>
              <a:t>Caching</a:t>
            </a:r>
            <a:endParaRPr lang="en-US" sz="1500" dirty="0"/>
          </a:p>
        </p:txBody>
      </p:sp>
      <p:sp>
        <p:nvSpPr>
          <p:cNvPr id="26" name="A5_sd"/>
          <p:cNvSpPr txBox="1"/>
          <p:nvPr/>
        </p:nvSpPr>
        <p:spPr>
          <a:xfrm>
            <a:off x="2162556" y="4754880"/>
            <a:ext cx="2203704" cy="1188720"/>
          </a:xfrm>
          <a:prstGeom prst="rect">
            <a:avLst/>
          </a:prstGeom>
          <a:noFill/>
          <a:ln/>
        </p:spPr>
        <p:txBody>
          <a:bodyPr wrap="square" lIns="0" tIns="0" rIns="0" bIns="0" rtlCol="0" anchor="t"/>
          <a:lstStyle/>
          <a:p>
            <a:pPr indent="0" marL="0">
              <a:buNone/>
            </a:pPr>
            <a:r>
              <a:rPr lang="en-US" sz="1500" dirty="0">
                <a:solidFill>
                  <a:srgbClr val="F4F3FF"/>
                </a:solidFill>
                <a:latin typeface="Calibri" pitchFamily="34" charset="0"/>
                <a:ea typeface="Calibri" pitchFamily="34" charset="-122"/>
                <a:cs typeface="Calibri" pitchFamily="34" charset="-120"/>
              </a:rPr>
              <a:t>The page and its data are saved for the next visitor</a:t>
            </a:r>
            <a:endParaRPr lang="en-US" sz="1500" dirty="0"/>
          </a:p>
        </p:txBody>
      </p:sp>
      <p:sp>
        <p:nvSpPr>
          <p:cNvPr id="27" name="A6_sc"/>
          <p:cNvSpPr/>
          <p:nvPr/>
        </p:nvSpPr>
        <p:spPr>
          <a:xfrm>
            <a:off x="4786884" y="3931920"/>
            <a:ext cx="2606040" cy="2103120"/>
          </a:xfrm>
          <a:prstGeom prst="roundRect">
            <a:avLst>
              <a:gd name="adj" fmla="val 5217"/>
            </a:avLst>
          </a:prstGeom>
          <a:solidFill>
            <a:srgbClr val="17143F"/>
          </a:solidFill>
          <a:ln w="12700">
            <a:solidFill>
              <a:srgbClr val="FBBF24"/>
            </a:solidFill>
            <a:prstDash val="solid"/>
          </a:ln>
        </p:spPr>
      </p:sp>
      <p:sp>
        <p:nvSpPr>
          <p:cNvPr id="28" name="A6_sn"/>
          <p:cNvSpPr txBox="1"/>
          <p:nvPr/>
        </p:nvSpPr>
        <p:spPr>
          <a:xfrm>
            <a:off x="4988052" y="4114800"/>
            <a:ext cx="457200" cy="457200"/>
          </a:xfrm>
          <a:prstGeom prst="roundRect">
            <a:avLst>
              <a:gd name="adj" fmla="val 50000"/>
            </a:avLst>
          </a:prstGeom>
          <a:solidFill>
            <a:srgbClr val="FBBF24"/>
          </a:solidFill>
          <a:ln w="12700">
            <a:solidFill>
              <a:srgbClr val="FBBF24"/>
            </a:solidFill>
            <a:prstDash val="solid"/>
          </a:ln>
        </p:spPr>
        <p:txBody>
          <a:bodyPr wrap="square" lIns="0" tIns="0" rIns="0" bIns="0" rtlCol="0" anchor="ctr"/>
          <a:lstStyle/>
          <a:p>
            <a:pPr algn="ctr" indent="0" marL="0">
              <a:buNone/>
            </a:pPr>
            <a:r>
              <a:rPr lang="en-US" sz="1600" b="1" dirty="0">
                <a:solidFill>
                  <a:srgbClr val="0C0A20"/>
                </a:solidFill>
                <a:latin typeface="Calibri" pitchFamily="34" charset="0"/>
                <a:ea typeface="Calibri" pitchFamily="34" charset="-122"/>
                <a:cs typeface="Calibri" pitchFamily="34" charset="-120"/>
              </a:rPr>
              <a:t>6</a:t>
            </a:r>
            <a:endParaRPr lang="en-US" sz="1600" dirty="0"/>
          </a:p>
        </p:txBody>
      </p:sp>
      <p:sp>
        <p:nvSpPr>
          <p:cNvPr id="29" name="A6_sh"/>
          <p:cNvSpPr txBox="1"/>
          <p:nvPr/>
        </p:nvSpPr>
        <p:spPr>
          <a:xfrm>
            <a:off x="5564124" y="4114800"/>
            <a:ext cx="1737360" cy="457200"/>
          </a:xfrm>
          <a:prstGeom prst="rect">
            <a:avLst/>
          </a:prstGeom>
          <a:noFill/>
          <a:ln/>
        </p:spPr>
        <p:txBody>
          <a:bodyPr wrap="square" lIns="0" tIns="0" rIns="0" bIns="0" rtlCol="0" anchor="ctr"/>
          <a:lstStyle/>
          <a:p>
            <a:pPr indent="0" marL="0">
              <a:buNone/>
            </a:pPr>
            <a:r>
              <a:rPr lang="en-US" sz="1500" b="1" dirty="0">
                <a:solidFill>
                  <a:srgbClr val="FBBF24"/>
                </a:solidFill>
                <a:latin typeface="Calibri" pitchFamily="34" charset="0"/>
                <a:ea typeface="Calibri" pitchFamily="34" charset="-122"/>
                <a:cs typeface="Calibri" pitchFamily="34" charset="-120"/>
              </a:rPr>
              <a:t>Streaming</a:t>
            </a:r>
            <a:endParaRPr lang="en-US" sz="1500" dirty="0"/>
          </a:p>
        </p:txBody>
      </p:sp>
      <p:sp>
        <p:nvSpPr>
          <p:cNvPr id="30" name="A6_sd"/>
          <p:cNvSpPr txBox="1"/>
          <p:nvPr/>
        </p:nvSpPr>
        <p:spPr>
          <a:xfrm>
            <a:off x="4988052" y="4754880"/>
            <a:ext cx="2203704" cy="1188720"/>
          </a:xfrm>
          <a:prstGeom prst="rect">
            <a:avLst/>
          </a:prstGeom>
          <a:noFill/>
          <a:ln/>
        </p:spPr>
        <p:txBody>
          <a:bodyPr wrap="square" lIns="0" tIns="0" rIns="0" bIns="0" rtlCol="0" anchor="t"/>
          <a:lstStyle/>
          <a:p>
            <a:pPr indent="0" marL="0">
              <a:buNone/>
            </a:pPr>
            <a:r>
              <a:rPr lang="en-US" sz="1500" dirty="0">
                <a:solidFill>
                  <a:srgbClr val="F4F3FF"/>
                </a:solidFill>
                <a:latin typeface="Calibri" pitchFamily="34" charset="0"/>
                <a:ea typeface="Calibri" pitchFamily="34" charset="-122"/>
                <a:cs typeface="Calibri" pitchFamily="34" charset="-120"/>
              </a:rPr>
              <a:t>Slow reviews stream in behind a Suspense fallback</a:t>
            </a:r>
            <a:endParaRPr lang="en-US" sz="1500" dirty="0"/>
          </a:p>
        </p:txBody>
      </p:sp>
      <p:sp>
        <p:nvSpPr>
          <p:cNvPr id="31" name="A7_sc"/>
          <p:cNvSpPr/>
          <p:nvPr/>
        </p:nvSpPr>
        <p:spPr>
          <a:xfrm>
            <a:off x="7612380" y="3931920"/>
            <a:ext cx="2606040" cy="2103120"/>
          </a:xfrm>
          <a:prstGeom prst="roundRect">
            <a:avLst>
              <a:gd name="adj" fmla="val 5217"/>
            </a:avLst>
          </a:prstGeom>
          <a:solidFill>
            <a:srgbClr val="17143F"/>
          </a:solidFill>
          <a:ln w="12700">
            <a:solidFill>
              <a:srgbClr val="E64BDA"/>
            </a:solidFill>
            <a:prstDash val="solid"/>
          </a:ln>
        </p:spPr>
      </p:sp>
      <p:sp>
        <p:nvSpPr>
          <p:cNvPr id="32" name="A7_sn"/>
          <p:cNvSpPr txBox="1"/>
          <p:nvPr/>
        </p:nvSpPr>
        <p:spPr>
          <a:xfrm>
            <a:off x="7813548" y="4114800"/>
            <a:ext cx="457200" cy="457200"/>
          </a:xfrm>
          <a:prstGeom prst="roundRect">
            <a:avLst>
              <a:gd name="adj" fmla="val 50000"/>
            </a:avLst>
          </a:prstGeom>
          <a:solidFill>
            <a:srgbClr val="E64BDA"/>
          </a:solidFill>
          <a:ln w="12700">
            <a:solidFill>
              <a:srgbClr val="E64BDA"/>
            </a:solidFill>
            <a:prstDash val="solid"/>
          </a:ln>
        </p:spPr>
        <p:txBody>
          <a:bodyPr wrap="square" lIns="0" tIns="0" rIns="0" bIns="0" rtlCol="0" anchor="ctr"/>
          <a:lstStyle/>
          <a:p>
            <a:pPr algn="ctr" indent="0" marL="0">
              <a:buNone/>
            </a:pPr>
            <a:r>
              <a:rPr lang="en-US" sz="1600" b="1" dirty="0">
                <a:solidFill>
                  <a:srgbClr val="0C0A20"/>
                </a:solidFill>
                <a:latin typeface="Calibri" pitchFamily="34" charset="0"/>
                <a:ea typeface="Calibri" pitchFamily="34" charset="-122"/>
                <a:cs typeface="Calibri" pitchFamily="34" charset="-120"/>
              </a:rPr>
              <a:t>7</a:t>
            </a:r>
            <a:endParaRPr lang="en-US" sz="1600" dirty="0"/>
          </a:p>
        </p:txBody>
      </p:sp>
      <p:sp>
        <p:nvSpPr>
          <p:cNvPr id="33" name="A7_sh"/>
          <p:cNvSpPr txBox="1"/>
          <p:nvPr/>
        </p:nvSpPr>
        <p:spPr>
          <a:xfrm>
            <a:off x="8389620" y="4114800"/>
            <a:ext cx="1737360" cy="457200"/>
          </a:xfrm>
          <a:prstGeom prst="rect">
            <a:avLst/>
          </a:prstGeom>
          <a:noFill/>
          <a:ln/>
        </p:spPr>
        <p:txBody>
          <a:bodyPr wrap="square" lIns="0" tIns="0" rIns="0" bIns="0" rtlCol="0" anchor="ctr"/>
          <a:lstStyle/>
          <a:p>
            <a:pPr indent="0" marL="0">
              <a:buNone/>
            </a:pPr>
            <a:r>
              <a:rPr lang="en-US" sz="1500" b="1" dirty="0">
                <a:solidFill>
                  <a:srgbClr val="E64BDA"/>
                </a:solidFill>
                <a:latin typeface="Calibri" pitchFamily="34" charset="0"/>
                <a:ea typeface="Calibri" pitchFamily="34" charset="-122"/>
                <a:cs typeface="Calibri" pitchFamily="34" charset="-120"/>
              </a:rPr>
              <a:t>Client island</a:t>
            </a:r>
            <a:endParaRPr lang="en-US" sz="1500" dirty="0"/>
          </a:p>
        </p:txBody>
      </p:sp>
      <p:sp>
        <p:nvSpPr>
          <p:cNvPr id="34" name="A7_sd"/>
          <p:cNvSpPr txBox="1"/>
          <p:nvPr/>
        </p:nvSpPr>
        <p:spPr>
          <a:xfrm>
            <a:off x="7813548" y="4754880"/>
            <a:ext cx="2203704" cy="1188720"/>
          </a:xfrm>
          <a:prstGeom prst="rect">
            <a:avLst/>
          </a:prstGeom>
          <a:noFill/>
          <a:ln/>
        </p:spPr>
        <p:txBody>
          <a:bodyPr wrap="square" lIns="0" tIns="0" rIns="0" bIns="0" rtlCol="0" anchor="t"/>
          <a:lstStyle/>
          <a:p>
            <a:pPr indent="0" marL="0">
              <a:buNone/>
            </a:pPr>
            <a:r>
              <a:rPr lang="en-US" sz="1500" dirty="0">
                <a:solidFill>
                  <a:srgbClr val="F4F3FF"/>
                </a:solidFill>
                <a:latin typeface="Calibri" pitchFamily="34" charset="0"/>
                <a:ea typeface="Calibri" pitchFamily="34" charset="-122"/>
                <a:cs typeface="Calibri" pitchFamily="34" charset="-120"/>
              </a:rPr>
              <a:t>AddToCartButton uses "use client" to handle clicks</a:t>
            </a:r>
            <a:endParaRPr lang="en-US" sz="1500" dirty="0"/>
          </a:p>
        </p:txBody>
      </p:sp>
      <p:sp>
        <p:nvSpPr>
          <p:cNvPr id="35" name="Text 31"/>
          <p:cNvSpPr txBox="1"/>
          <p:nvPr/>
        </p:nvSpPr>
        <p:spPr>
          <a:xfrm>
            <a:off x="548640" y="6080760"/>
            <a:ext cx="10972800" cy="274320"/>
          </a:xfrm>
          <a:prstGeom prst="rect">
            <a:avLst/>
          </a:prstGeom>
          <a:noFill/>
          <a:ln/>
        </p:spPr>
        <p:txBody>
          <a:bodyPr wrap="square" lIns="0" tIns="0" rIns="0" bIns="0" rtlCol="0" anchor="t"/>
          <a:lstStyle/>
          <a:p>
            <a:pPr indent="0" marL="0">
              <a:buNone/>
            </a:pPr>
            <a:r>
              <a:rPr lang="en-US" sz="1300" b="1" dirty="0">
                <a:solidFill>
                  <a:srgbClr val="8B7CFF"/>
                </a:solidFill>
                <a:latin typeface="Calibri" pitchFamily="34" charset="0"/>
                <a:ea typeface="Calibri" pitchFamily="34" charset="-122"/>
                <a:cs typeface="Calibri" pitchFamily="34" charset="-120"/>
              </a:rPr>
              <a:t>Routing → Component → Rendering → Data → Caching → User experience</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5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50"/>
                                        <p:tgtEl>
                                          <p:spTgt spid="8"/>
                                        </p:tgtEl>
                                      </p:cBhvr>
                                    </p:animEffect>
                                  </p:childTnLst>
                                </p:cTn>
                              </p:par>
                              <p:par>
                                <p:cTn id="9" presetID="10"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50"/>
                                        <p:tgtEl>
                                          <p:spTgt spid="9"/>
                                        </p:tgtEl>
                                      </p:cBhvr>
                                    </p:animEffect>
                                  </p:childTnLst>
                                </p:cTn>
                              </p:par>
                              <p:par>
                                <p:cTn id="12" presetID="10" presetClass="entr" presetSubtype="0"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50"/>
                                        <p:tgtEl>
                                          <p:spTgt spid="10"/>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5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5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50"/>
                                        <p:tgtEl>
                                          <p:spTgt spid="14"/>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50"/>
                                        <p:tgtEl>
                                          <p:spTgt spid="15"/>
                                        </p:tgtEl>
                                      </p:cBhvr>
                                    </p:animEffect>
                                  </p:childTnLst>
                                </p:cTn>
                              </p:par>
                              <p:par>
                                <p:cTn id="34" presetID="10" presetClass="entr" presetSubtype="0"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450"/>
                                        <p:tgtEl>
                                          <p:spTgt spid="16"/>
                                        </p:tgtEl>
                                      </p:cBhvr>
                                    </p:animEffect>
                                  </p:childTnLst>
                                </p:cTn>
                              </p:par>
                              <p:par>
                                <p:cTn id="37" presetID="10"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50"/>
                                        <p:tgtEl>
                                          <p:spTgt spid="17"/>
                                        </p:tgtEl>
                                      </p:cBhvr>
                                    </p:animEffect>
                                  </p:childTnLst>
                                </p:cTn>
                              </p:par>
                              <p:par>
                                <p:cTn id="40" presetID="10"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450"/>
                                        <p:tgtEl>
                                          <p:spTgt spid="18"/>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450"/>
                                        <p:tgtEl>
                                          <p:spTgt spid="19"/>
                                        </p:tgtEl>
                                      </p:cBhvr>
                                    </p:animEffect>
                                  </p:childTnLst>
                                </p:cTn>
                              </p:par>
                              <p:par>
                                <p:cTn id="48" presetID="10" presetClass="entr" presetSubtype="0" fill="hold"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450"/>
                                        <p:tgtEl>
                                          <p:spTgt spid="20"/>
                                        </p:tgtEl>
                                      </p:cBhvr>
                                    </p:animEffect>
                                  </p:childTnLst>
                                </p:cTn>
                              </p:par>
                              <p:par>
                                <p:cTn id="51" presetID="10"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450"/>
                                        <p:tgtEl>
                                          <p:spTgt spid="21"/>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450"/>
                                        <p:tgtEl>
                                          <p:spTgt spid="22"/>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50"/>
                                        <p:tgtEl>
                                          <p:spTgt spid="23"/>
                                        </p:tgtEl>
                                      </p:cBhvr>
                                    </p:animEffect>
                                  </p:childTnLst>
                                </p:cTn>
                              </p:par>
                              <p:par>
                                <p:cTn id="62" presetID="10" presetClass="entr" presetSubtype="0" fill="hold"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50"/>
                                        <p:tgtEl>
                                          <p:spTgt spid="24"/>
                                        </p:tgtEl>
                                      </p:cBhvr>
                                    </p:animEffect>
                                  </p:childTnLst>
                                </p:cTn>
                              </p:par>
                              <p:par>
                                <p:cTn id="65" presetID="10" presetClass="entr" presetSubtype="0"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50"/>
                                        <p:tgtEl>
                                          <p:spTgt spid="25"/>
                                        </p:tgtEl>
                                      </p:cBhvr>
                                    </p:animEffect>
                                  </p:childTnLst>
                                </p:cTn>
                              </p:par>
                              <p:par>
                                <p:cTn id="68" presetID="10" presetClass="entr" presetSubtype="0" fill="hold"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50"/>
                                        <p:tgtEl>
                                          <p:spTgt spid="26"/>
                                        </p:tgtEl>
                                      </p:cBhvr>
                                    </p:animEffect>
                                  </p:childTnLst>
                                </p:cTn>
                              </p:par>
                            </p:childTnLst>
                          </p:cTn>
                        </p:par>
                      </p:childTnLst>
                    </p:cTn>
                  </p:par>
                  <p:par>
                    <p:cTn id="85" fill="hold">
                      <p:stCondLst>
                        <p:cond delay="indefinite"/>
                      </p:stCondLst>
                      <p:childTnLst>
                        <p:par>
                          <p:cTn id="86"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50"/>
                                        <p:tgtEl>
                                          <p:spTgt spid="27"/>
                                        </p:tgtEl>
                                      </p:cBhvr>
                                    </p:animEffect>
                                  </p:childTnLst>
                                </p:cTn>
                              </p:par>
                              <p:par>
                                <p:cTn id="76" presetID="10" presetClass="entr" presetSubtype="0" fill="hold"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50"/>
                                        <p:tgtEl>
                                          <p:spTgt spid="28"/>
                                        </p:tgtEl>
                                      </p:cBhvr>
                                    </p:animEffect>
                                  </p:childTnLst>
                                </p:cTn>
                              </p:par>
                              <p:par>
                                <p:cTn id="79" presetID="10"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50"/>
                                        <p:tgtEl>
                                          <p:spTgt spid="29"/>
                                        </p:tgtEl>
                                      </p:cBhvr>
                                    </p:animEffect>
                                  </p:childTnLst>
                                </p:cTn>
                              </p:par>
                              <p:par>
                                <p:cTn id="82" presetID="10" presetClass="entr" presetSubtype="0" fill="hold"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50"/>
                                        <p:tgtEl>
                                          <p:spTgt spid="30"/>
                                        </p:tgtEl>
                                      </p:cBhvr>
                                    </p:animEffect>
                                  </p:childTnLst>
                                </p:cTn>
                              </p:par>
                            </p:childTnLst>
                          </p:cTn>
                        </p:par>
                      </p:childTnLst>
                    </p:cTn>
                  </p:par>
                  <p:par>
                    <p:cTn id="99" fill="hold">
                      <p:stCondLst>
                        <p:cond delay="indefinite"/>
                      </p:stCondLst>
                      <p:childTnLst>
                        <p:par>
                          <p:cTn id="100"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450"/>
                                        <p:tgtEl>
                                          <p:spTgt spid="31"/>
                                        </p:tgtEl>
                                      </p:cBhvr>
                                    </p:animEffect>
                                  </p:childTnLst>
                                </p:cTn>
                              </p:par>
                              <p:par>
                                <p:cTn id="90" presetID="10" presetClass="entr" presetSubtype="0" fill="hold"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450"/>
                                        <p:tgtEl>
                                          <p:spTgt spid="32"/>
                                        </p:tgtEl>
                                      </p:cBhvr>
                                    </p:animEffect>
                                  </p:childTnLst>
                                </p:cTn>
                              </p:par>
                              <p:par>
                                <p:cTn id="93" presetID="10" presetClass="entr" presetSubtype="0" fill="hold"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450"/>
                                        <p:tgtEl>
                                          <p:spTgt spid="33"/>
                                        </p:tgtEl>
                                      </p:cBhvr>
                                    </p:animEffect>
                                  </p:childTnLst>
                                </p:cTn>
                              </p:par>
                              <p:par>
                                <p:cTn id="96" presetID="10" presetClass="entr" presetSubtype="0" fill="hold" nodeType="withEffect">
                                  <p:stCondLst>
                                    <p:cond delay="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4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ctr"/>
          <a:lstStyle/>
          <a:p>
            <a:pPr indent="0" marL="0">
              <a:buNone/>
            </a:pPr>
            <a:r>
              <a:rPr lang="en-US" sz="1200" b="1" spc="300" kern="0" dirty="0">
                <a:solidFill>
                  <a:srgbClr val="E64BDA"/>
                </a:solidFill>
                <a:latin typeface="Calibri" pitchFamily="34" charset="0"/>
                <a:ea typeface="Calibri" pitchFamily="34" charset="-122"/>
                <a:cs typeface="Calibri" pitchFamily="34" charset="-120"/>
              </a:rPr>
              <a:t>MENTAL MODEL</a:t>
            </a:r>
            <a:endParaRPr lang="en-US" sz="1200" dirty="0"/>
          </a:p>
        </p:txBody>
      </p:sp>
      <p:sp>
        <p:nvSpPr>
          <p:cNvPr id="3" name="Text 1"/>
          <p:cNvSpPr txBox="1"/>
          <p:nvPr/>
        </p:nvSpPr>
        <p:spPr>
          <a:xfrm>
            <a:off x="548640" y="658368"/>
            <a:ext cx="11064240" cy="731520"/>
          </a:xfrm>
          <a:prstGeom prst="rect">
            <a:avLst/>
          </a:prstGeom>
          <a:noFill/>
          <a:ln/>
        </p:spPr>
        <p:txBody>
          <a:bodyPr wrap="square" lIns="0" tIns="0" rIns="0" bIns="0" rtlCol="0" anchor="t"/>
          <a:lstStyle/>
          <a:p>
            <a:pPr indent="0" marL="0">
              <a:buNone/>
            </a:pPr>
            <a:r>
              <a:rPr lang="en-US" sz="3400" b="1" dirty="0">
                <a:solidFill>
                  <a:srgbClr val="F4F3FF"/>
                </a:solidFill>
                <a:latin typeface="Calibri" pitchFamily="34" charset="0"/>
                <a:ea typeface="Calibri" pitchFamily="34" charset="-122"/>
                <a:cs typeface="Calibri" pitchFamily="34" charset="-120"/>
              </a:rPr>
              <a:t>Questions to ask when building a feature</a:t>
            </a:r>
            <a:endParaRPr lang="en-US" sz="3400" dirty="0"/>
          </a:p>
        </p:txBody>
      </p:sp>
      <p:pic>
        <p:nvPicPr>
          <p:cNvPr id="4" name="Image 0" descr="assets/logo_full_white.png">    </p:cNvPr>
          <p:cNvPicPr>
            <a:picLocks noChangeAspect="1"/>
          </p:cNvPicPr>
          <p:nvPr/>
        </p:nvPicPr>
        <p:blipFill>
          <a:blip r:embed="rId2"/>
          <a:stretch>
            <a:fillRect/>
          </a:stretch>
        </p:blipFill>
        <p:spPr>
          <a:xfrm>
            <a:off x="548640" y="6400800"/>
            <a:ext cx="1316736" cy="256032"/>
          </a:xfrm>
          <a:prstGeom prst="rect">
            <a:avLst/>
          </a:prstGeom>
        </p:spPr>
      </p:pic>
      <p:sp>
        <p:nvSpPr>
          <p:cNvPr id="5" name="Text 2"/>
          <p:cNvSpPr txBox="1"/>
          <p:nvPr/>
        </p:nvSpPr>
        <p:spPr>
          <a:xfrm>
            <a:off x="10881360" y="6400800"/>
            <a:ext cx="758952" cy="256032"/>
          </a:xfrm>
          <a:prstGeom prst="rect">
            <a:avLst/>
          </a:prstGeom>
          <a:noFill/>
          <a:ln/>
        </p:spPr>
        <p:txBody>
          <a:bodyPr wrap="square" lIns="0" tIns="0" rIns="0" bIns="0" rtlCol="0" anchor="ctr"/>
          <a:lstStyle/>
          <a:p>
            <a:pPr algn="r" indent="0" marL="0">
              <a:buNone/>
            </a:pPr>
            <a:r>
              <a:rPr lang="en-US" sz="1100" dirty="0">
                <a:solidFill>
                  <a:srgbClr val="A8A5D8"/>
                </a:solidFill>
                <a:latin typeface="Calibri" pitchFamily="34" charset="0"/>
                <a:ea typeface="Calibri" pitchFamily="34" charset="-122"/>
                <a:cs typeface="Calibri" pitchFamily="34" charset="-120"/>
              </a:rPr>
              <a:t>29</a:t>
            </a:r>
            <a:endParaRPr lang="en-US" sz="1100" dirty="0"/>
          </a:p>
        </p:txBody>
      </p:sp>
      <p:sp>
        <p:nvSpPr>
          <p:cNvPr id="7" name="Shape 3"/>
          <p:cNvSpPr/>
          <p:nvPr/>
        </p:nvSpPr>
        <p:spPr>
          <a:xfrm>
            <a:off x="548640" y="1600200"/>
            <a:ext cx="5468112" cy="1188720"/>
          </a:xfrm>
          <a:prstGeom prst="roundRect">
            <a:avLst>
              <a:gd name="adj" fmla="val 9231"/>
            </a:avLst>
          </a:prstGeom>
          <a:solidFill>
            <a:srgbClr val="17143F"/>
          </a:solidFill>
          <a:ln w="12700">
            <a:solidFill>
              <a:srgbClr val="8B7CFF"/>
            </a:solidFill>
            <a:prstDash val="solid"/>
          </a:ln>
        </p:spPr>
      </p:sp>
      <p:sp>
        <p:nvSpPr>
          <p:cNvPr id="8" name="Text 4"/>
          <p:cNvSpPr txBox="1"/>
          <p:nvPr/>
        </p:nvSpPr>
        <p:spPr>
          <a:xfrm>
            <a:off x="777240" y="1920240"/>
            <a:ext cx="548640" cy="548640"/>
          </a:xfrm>
          <a:prstGeom prst="roundRect">
            <a:avLst>
              <a:gd name="adj" fmla="val 50000"/>
            </a:avLst>
          </a:prstGeom>
          <a:solidFill>
            <a:srgbClr val="8B7CFF"/>
          </a:solidFill>
          <a:ln w="12700">
            <a:solidFill>
              <a:srgbClr val="8B7CFF"/>
            </a:solidFill>
            <a:prstDash val="solid"/>
          </a:ln>
        </p:spPr>
        <p:txBody>
          <a:bodyPr wrap="square" lIns="0" tIns="0" rIns="0" bIns="0" rtlCol="0" anchor="ctr"/>
          <a:lstStyle/>
          <a:p>
            <a:pPr algn="ctr" indent="0" marL="0">
              <a:buNone/>
            </a:pPr>
            <a:r>
              <a:rPr lang="en-US" sz="2000" b="1" dirty="0">
                <a:solidFill>
                  <a:srgbClr val="0C0A20"/>
                </a:solidFill>
                <a:latin typeface="Calibri" pitchFamily="34" charset="0"/>
                <a:ea typeface="Calibri" pitchFamily="34" charset="-122"/>
                <a:cs typeface="Calibri" pitchFamily="34" charset="-120"/>
              </a:rPr>
              <a:t>1</a:t>
            </a:r>
            <a:endParaRPr lang="en-US" sz="2000" dirty="0"/>
          </a:p>
        </p:txBody>
      </p:sp>
      <p:sp>
        <p:nvSpPr>
          <p:cNvPr id="9" name="Text 5"/>
          <p:cNvSpPr txBox="1"/>
          <p:nvPr/>
        </p:nvSpPr>
        <p:spPr>
          <a:xfrm>
            <a:off x="1554480" y="1783080"/>
            <a:ext cx="4297680" cy="365760"/>
          </a:xfrm>
          <a:prstGeom prst="rect">
            <a:avLst/>
          </a:prstGeom>
          <a:noFill/>
          <a:ln/>
        </p:spPr>
        <p:txBody>
          <a:bodyPr wrap="square" lIns="0" tIns="0" rIns="0" bIns="0" rtlCol="0" anchor="t"/>
          <a:lstStyle/>
          <a:p>
            <a:pPr indent="0" marL="0">
              <a:buNone/>
            </a:pPr>
            <a:r>
              <a:rPr lang="en-US" sz="1700" b="1" dirty="0">
                <a:solidFill>
                  <a:srgbClr val="F4F3FF"/>
                </a:solidFill>
                <a:latin typeface="Calibri" pitchFamily="34" charset="0"/>
                <a:ea typeface="Calibri" pitchFamily="34" charset="-122"/>
                <a:cs typeface="Calibri" pitchFamily="34" charset="-120"/>
              </a:rPr>
              <a:t>What URL is this?</a:t>
            </a:r>
            <a:endParaRPr lang="en-US" sz="1700" dirty="0"/>
          </a:p>
        </p:txBody>
      </p:sp>
      <p:sp>
        <p:nvSpPr>
          <p:cNvPr id="10" name="Text 6"/>
          <p:cNvSpPr txBox="1"/>
          <p:nvPr/>
        </p:nvSpPr>
        <p:spPr>
          <a:xfrm>
            <a:off x="1554480" y="2194560"/>
            <a:ext cx="4297680" cy="5486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A folder with page.tsx. Use [id] for dynamic values.</a:t>
            </a:r>
            <a:endParaRPr lang="en-US" sz="1300" dirty="0"/>
          </a:p>
        </p:txBody>
      </p:sp>
      <p:sp>
        <p:nvSpPr>
          <p:cNvPr id="11" name="Shape 7"/>
          <p:cNvSpPr/>
          <p:nvPr/>
        </p:nvSpPr>
        <p:spPr>
          <a:xfrm>
            <a:off x="6172200" y="1600200"/>
            <a:ext cx="5468112" cy="1188720"/>
          </a:xfrm>
          <a:prstGeom prst="roundRect">
            <a:avLst>
              <a:gd name="adj" fmla="val 9231"/>
            </a:avLst>
          </a:prstGeom>
          <a:solidFill>
            <a:srgbClr val="17143F"/>
          </a:solidFill>
          <a:ln w="12700">
            <a:solidFill>
              <a:srgbClr val="8B7CFF"/>
            </a:solidFill>
            <a:prstDash val="solid"/>
          </a:ln>
        </p:spPr>
      </p:sp>
      <p:sp>
        <p:nvSpPr>
          <p:cNvPr id="12" name="Text 8"/>
          <p:cNvSpPr txBox="1"/>
          <p:nvPr/>
        </p:nvSpPr>
        <p:spPr>
          <a:xfrm>
            <a:off x="6400800" y="1920240"/>
            <a:ext cx="548640" cy="548640"/>
          </a:xfrm>
          <a:prstGeom prst="roundRect">
            <a:avLst>
              <a:gd name="adj" fmla="val 50000"/>
            </a:avLst>
          </a:prstGeom>
          <a:solidFill>
            <a:srgbClr val="8B7CFF"/>
          </a:solidFill>
          <a:ln w="12700">
            <a:solidFill>
              <a:srgbClr val="8B7CFF"/>
            </a:solidFill>
            <a:prstDash val="solid"/>
          </a:ln>
        </p:spPr>
        <p:txBody>
          <a:bodyPr wrap="square" lIns="0" tIns="0" rIns="0" bIns="0" rtlCol="0" anchor="ctr"/>
          <a:lstStyle/>
          <a:p>
            <a:pPr algn="ctr" indent="0" marL="0">
              <a:buNone/>
            </a:pPr>
            <a:r>
              <a:rPr lang="en-US" sz="2000" b="1" dirty="0">
                <a:solidFill>
                  <a:srgbClr val="0C0A20"/>
                </a:solidFill>
                <a:latin typeface="Calibri" pitchFamily="34" charset="0"/>
                <a:ea typeface="Calibri" pitchFamily="34" charset="-122"/>
                <a:cs typeface="Calibri" pitchFamily="34" charset="-120"/>
              </a:rPr>
              <a:t>2</a:t>
            </a:r>
            <a:endParaRPr lang="en-US" sz="2000" dirty="0"/>
          </a:p>
        </p:txBody>
      </p:sp>
      <p:sp>
        <p:nvSpPr>
          <p:cNvPr id="13" name="Text 9"/>
          <p:cNvSpPr txBox="1"/>
          <p:nvPr/>
        </p:nvSpPr>
        <p:spPr>
          <a:xfrm>
            <a:off x="7178040" y="1783080"/>
            <a:ext cx="4297680" cy="365760"/>
          </a:xfrm>
          <a:prstGeom prst="rect">
            <a:avLst/>
          </a:prstGeom>
          <a:noFill/>
          <a:ln/>
        </p:spPr>
        <p:txBody>
          <a:bodyPr wrap="square" lIns="0" tIns="0" rIns="0" bIns="0" rtlCol="0" anchor="t"/>
          <a:lstStyle/>
          <a:p>
            <a:pPr indent="0" marL="0">
              <a:buNone/>
            </a:pPr>
            <a:r>
              <a:rPr lang="en-US" sz="1700" b="1" dirty="0">
                <a:solidFill>
                  <a:srgbClr val="F4F3FF"/>
                </a:solidFill>
                <a:latin typeface="Calibri" pitchFamily="34" charset="0"/>
                <a:ea typeface="Calibri" pitchFamily="34" charset="-122"/>
                <a:cs typeface="Calibri" pitchFamily="34" charset="-120"/>
              </a:rPr>
              <a:t>Does UI repeat across pages?</a:t>
            </a:r>
            <a:endParaRPr lang="en-US" sz="1700" dirty="0"/>
          </a:p>
        </p:txBody>
      </p:sp>
      <p:sp>
        <p:nvSpPr>
          <p:cNvPr id="14" name="Text 10"/>
          <p:cNvSpPr txBox="1"/>
          <p:nvPr/>
        </p:nvSpPr>
        <p:spPr>
          <a:xfrm>
            <a:off x="7178040" y="2194560"/>
            <a:ext cx="4297680" cy="5486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Put it in a layout.tsx so it persists.</a:t>
            </a:r>
            <a:endParaRPr lang="en-US" sz="1300" dirty="0"/>
          </a:p>
        </p:txBody>
      </p:sp>
      <p:sp>
        <p:nvSpPr>
          <p:cNvPr id="15" name="Shape 11"/>
          <p:cNvSpPr/>
          <p:nvPr/>
        </p:nvSpPr>
        <p:spPr>
          <a:xfrm>
            <a:off x="548640" y="2971800"/>
            <a:ext cx="5468112" cy="1188720"/>
          </a:xfrm>
          <a:prstGeom prst="roundRect">
            <a:avLst>
              <a:gd name="adj" fmla="val 9231"/>
            </a:avLst>
          </a:prstGeom>
          <a:solidFill>
            <a:srgbClr val="17143F"/>
          </a:solidFill>
          <a:ln w="12700">
            <a:solidFill>
              <a:srgbClr val="22D3EE"/>
            </a:solidFill>
            <a:prstDash val="solid"/>
          </a:ln>
        </p:spPr>
      </p:sp>
      <p:sp>
        <p:nvSpPr>
          <p:cNvPr id="16" name="Text 12"/>
          <p:cNvSpPr txBox="1"/>
          <p:nvPr/>
        </p:nvSpPr>
        <p:spPr>
          <a:xfrm>
            <a:off x="777240" y="3291840"/>
            <a:ext cx="548640" cy="548640"/>
          </a:xfrm>
          <a:prstGeom prst="roundRect">
            <a:avLst>
              <a:gd name="adj" fmla="val 50000"/>
            </a:avLst>
          </a:prstGeom>
          <a:solidFill>
            <a:srgbClr val="22D3EE"/>
          </a:solidFill>
          <a:ln w="12700">
            <a:solidFill>
              <a:srgbClr val="22D3EE"/>
            </a:solidFill>
            <a:prstDash val="solid"/>
          </a:ln>
        </p:spPr>
        <p:txBody>
          <a:bodyPr wrap="square" lIns="0" tIns="0" rIns="0" bIns="0" rtlCol="0" anchor="ctr"/>
          <a:lstStyle/>
          <a:p>
            <a:pPr algn="ctr" indent="0" marL="0">
              <a:buNone/>
            </a:pPr>
            <a:r>
              <a:rPr lang="en-US" sz="2000" b="1" dirty="0">
                <a:solidFill>
                  <a:srgbClr val="0C0A20"/>
                </a:solidFill>
                <a:latin typeface="Calibri" pitchFamily="34" charset="0"/>
                <a:ea typeface="Calibri" pitchFamily="34" charset="-122"/>
                <a:cs typeface="Calibri" pitchFamily="34" charset="-120"/>
              </a:rPr>
              <a:t>3</a:t>
            </a:r>
            <a:endParaRPr lang="en-US" sz="2000" dirty="0"/>
          </a:p>
        </p:txBody>
      </p:sp>
      <p:sp>
        <p:nvSpPr>
          <p:cNvPr id="17" name="Text 13"/>
          <p:cNvSpPr txBox="1"/>
          <p:nvPr/>
        </p:nvSpPr>
        <p:spPr>
          <a:xfrm>
            <a:off x="1554480" y="3154680"/>
            <a:ext cx="4297680" cy="365760"/>
          </a:xfrm>
          <a:prstGeom prst="rect">
            <a:avLst/>
          </a:prstGeom>
          <a:noFill/>
          <a:ln/>
        </p:spPr>
        <p:txBody>
          <a:bodyPr wrap="square" lIns="0" tIns="0" rIns="0" bIns="0" rtlCol="0" anchor="t"/>
          <a:lstStyle/>
          <a:p>
            <a:pPr indent="0" marL="0">
              <a:buNone/>
            </a:pPr>
            <a:r>
              <a:rPr lang="en-US" sz="1700" b="1" dirty="0">
                <a:solidFill>
                  <a:srgbClr val="F4F3FF"/>
                </a:solidFill>
                <a:latin typeface="Calibri" pitchFamily="34" charset="0"/>
                <a:ea typeface="Calibri" pitchFamily="34" charset="-122"/>
                <a:cs typeface="Calibri" pitchFamily="34" charset="-120"/>
              </a:rPr>
              <a:t>Needs state, events or browser APIs?</a:t>
            </a:r>
            <a:endParaRPr lang="en-US" sz="1700" dirty="0"/>
          </a:p>
        </p:txBody>
      </p:sp>
      <p:sp>
        <p:nvSpPr>
          <p:cNvPr id="18" name="Text 14"/>
          <p:cNvSpPr txBox="1"/>
          <p:nvPr/>
        </p:nvSpPr>
        <p:spPr>
          <a:xfrm>
            <a:off x="1554480" y="3566160"/>
            <a:ext cx="4297680" cy="5486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Yes: "use client". No: stay on the server.</a:t>
            </a:r>
            <a:endParaRPr lang="en-US" sz="1300" dirty="0"/>
          </a:p>
        </p:txBody>
      </p:sp>
      <p:sp>
        <p:nvSpPr>
          <p:cNvPr id="19" name="Shape 15"/>
          <p:cNvSpPr/>
          <p:nvPr/>
        </p:nvSpPr>
        <p:spPr>
          <a:xfrm>
            <a:off x="6172200" y="2971800"/>
            <a:ext cx="5468112" cy="1188720"/>
          </a:xfrm>
          <a:prstGeom prst="roundRect">
            <a:avLst>
              <a:gd name="adj" fmla="val 9231"/>
            </a:avLst>
          </a:prstGeom>
          <a:solidFill>
            <a:srgbClr val="17143F"/>
          </a:solidFill>
          <a:ln w="12700">
            <a:solidFill>
              <a:srgbClr val="22D3EE"/>
            </a:solidFill>
            <a:prstDash val="solid"/>
          </a:ln>
        </p:spPr>
      </p:sp>
      <p:sp>
        <p:nvSpPr>
          <p:cNvPr id="20" name="Text 16"/>
          <p:cNvSpPr txBox="1"/>
          <p:nvPr/>
        </p:nvSpPr>
        <p:spPr>
          <a:xfrm>
            <a:off x="6400800" y="3291840"/>
            <a:ext cx="548640" cy="548640"/>
          </a:xfrm>
          <a:prstGeom prst="roundRect">
            <a:avLst>
              <a:gd name="adj" fmla="val 50000"/>
            </a:avLst>
          </a:prstGeom>
          <a:solidFill>
            <a:srgbClr val="22D3EE"/>
          </a:solidFill>
          <a:ln w="12700">
            <a:solidFill>
              <a:srgbClr val="22D3EE"/>
            </a:solidFill>
            <a:prstDash val="solid"/>
          </a:ln>
        </p:spPr>
        <p:txBody>
          <a:bodyPr wrap="square" lIns="0" tIns="0" rIns="0" bIns="0" rtlCol="0" anchor="ctr"/>
          <a:lstStyle/>
          <a:p>
            <a:pPr algn="ctr" indent="0" marL="0">
              <a:buNone/>
            </a:pPr>
            <a:r>
              <a:rPr lang="en-US" sz="2000" b="1" dirty="0">
                <a:solidFill>
                  <a:srgbClr val="0C0A20"/>
                </a:solidFill>
                <a:latin typeface="Calibri" pitchFamily="34" charset="0"/>
                <a:ea typeface="Calibri" pitchFamily="34" charset="-122"/>
                <a:cs typeface="Calibri" pitchFamily="34" charset="-120"/>
              </a:rPr>
              <a:t>4</a:t>
            </a:r>
            <a:endParaRPr lang="en-US" sz="2000" dirty="0"/>
          </a:p>
        </p:txBody>
      </p:sp>
      <p:sp>
        <p:nvSpPr>
          <p:cNvPr id="21" name="Text 17"/>
          <p:cNvSpPr txBox="1"/>
          <p:nvPr/>
        </p:nvSpPr>
        <p:spPr>
          <a:xfrm>
            <a:off x="7178040" y="3154680"/>
            <a:ext cx="4297680" cy="365760"/>
          </a:xfrm>
          <a:prstGeom prst="rect">
            <a:avLst/>
          </a:prstGeom>
          <a:noFill/>
          <a:ln/>
        </p:spPr>
        <p:txBody>
          <a:bodyPr wrap="square" lIns="0" tIns="0" rIns="0" bIns="0" rtlCol="0" anchor="t"/>
          <a:lstStyle/>
          <a:p>
            <a:pPr indent="0" marL="0">
              <a:buNone/>
            </a:pPr>
            <a:r>
              <a:rPr lang="en-US" sz="1700" b="1" dirty="0">
                <a:solidFill>
                  <a:srgbClr val="F4F3FF"/>
                </a:solidFill>
                <a:latin typeface="Calibri" pitchFamily="34" charset="0"/>
                <a:ea typeface="Calibri" pitchFamily="34" charset="-122"/>
                <a:cs typeface="Calibri" pitchFamily="34" charset="-120"/>
              </a:rPr>
              <a:t>How often does the data change?</a:t>
            </a:r>
            <a:endParaRPr lang="en-US" sz="1700" dirty="0"/>
          </a:p>
        </p:txBody>
      </p:sp>
      <p:sp>
        <p:nvSpPr>
          <p:cNvPr id="22" name="Text 18"/>
          <p:cNvSpPr txBox="1"/>
          <p:nvPr/>
        </p:nvSpPr>
        <p:spPr>
          <a:xfrm>
            <a:off x="7178040" y="3566160"/>
            <a:ext cx="4297680" cy="5486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Rarely: static. Sometimes: revalidate. Always: dynamic.</a:t>
            </a:r>
            <a:endParaRPr lang="en-US" sz="1300" dirty="0"/>
          </a:p>
        </p:txBody>
      </p:sp>
      <p:sp>
        <p:nvSpPr>
          <p:cNvPr id="23" name="Shape 19"/>
          <p:cNvSpPr/>
          <p:nvPr/>
        </p:nvSpPr>
        <p:spPr>
          <a:xfrm>
            <a:off x="548640" y="4343400"/>
            <a:ext cx="5468112" cy="1188720"/>
          </a:xfrm>
          <a:prstGeom prst="roundRect">
            <a:avLst>
              <a:gd name="adj" fmla="val 9231"/>
            </a:avLst>
          </a:prstGeom>
          <a:solidFill>
            <a:srgbClr val="17143F"/>
          </a:solidFill>
          <a:ln w="12700">
            <a:solidFill>
              <a:srgbClr val="FBBF24"/>
            </a:solidFill>
            <a:prstDash val="solid"/>
          </a:ln>
        </p:spPr>
      </p:sp>
      <p:sp>
        <p:nvSpPr>
          <p:cNvPr id="24" name="Text 20"/>
          <p:cNvSpPr txBox="1"/>
          <p:nvPr/>
        </p:nvSpPr>
        <p:spPr>
          <a:xfrm>
            <a:off x="777240" y="4663440"/>
            <a:ext cx="548640" cy="548640"/>
          </a:xfrm>
          <a:prstGeom prst="roundRect">
            <a:avLst>
              <a:gd name="adj" fmla="val 50000"/>
            </a:avLst>
          </a:prstGeom>
          <a:solidFill>
            <a:srgbClr val="FBBF24"/>
          </a:solidFill>
          <a:ln w="12700">
            <a:solidFill>
              <a:srgbClr val="FBBF24"/>
            </a:solidFill>
            <a:prstDash val="solid"/>
          </a:ln>
        </p:spPr>
        <p:txBody>
          <a:bodyPr wrap="square" lIns="0" tIns="0" rIns="0" bIns="0" rtlCol="0" anchor="ctr"/>
          <a:lstStyle/>
          <a:p>
            <a:pPr algn="ctr" indent="0" marL="0">
              <a:buNone/>
            </a:pPr>
            <a:r>
              <a:rPr lang="en-US" sz="2000" b="1" dirty="0">
                <a:solidFill>
                  <a:srgbClr val="0C0A20"/>
                </a:solidFill>
                <a:latin typeface="Calibri" pitchFamily="34" charset="0"/>
                <a:ea typeface="Calibri" pitchFamily="34" charset="-122"/>
                <a:cs typeface="Calibri" pitchFamily="34" charset="-120"/>
              </a:rPr>
              <a:t>5</a:t>
            </a:r>
            <a:endParaRPr lang="en-US" sz="2000" dirty="0"/>
          </a:p>
        </p:txBody>
      </p:sp>
      <p:sp>
        <p:nvSpPr>
          <p:cNvPr id="25" name="Text 21"/>
          <p:cNvSpPr txBox="1"/>
          <p:nvPr/>
        </p:nvSpPr>
        <p:spPr>
          <a:xfrm>
            <a:off x="1554480" y="4526280"/>
            <a:ext cx="4297680" cy="365760"/>
          </a:xfrm>
          <a:prstGeom prst="rect">
            <a:avLst/>
          </a:prstGeom>
          <a:noFill/>
          <a:ln/>
        </p:spPr>
        <p:txBody>
          <a:bodyPr wrap="square" lIns="0" tIns="0" rIns="0" bIns="0" rtlCol="0" anchor="t"/>
          <a:lstStyle/>
          <a:p>
            <a:pPr indent="0" marL="0">
              <a:buNone/>
            </a:pPr>
            <a:r>
              <a:rPr lang="en-US" sz="1700" b="1" dirty="0">
                <a:solidFill>
                  <a:srgbClr val="F4F3FF"/>
                </a:solidFill>
                <a:latin typeface="Calibri" pitchFamily="34" charset="0"/>
                <a:ea typeface="Calibri" pitchFamily="34" charset="-122"/>
                <a:cs typeface="Calibri" pitchFamily="34" charset="-120"/>
              </a:rPr>
              <a:t>Which part is slow?</a:t>
            </a:r>
            <a:endParaRPr lang="en-US" sz="1700" dirty="0"/>
          </a:p>
        </p:txBody>
      </p:sp>
      <p:sp>
        <p:nvSpPr>
          <p:cNvPr id="26" name="Text 22"/>
          <p:cNvSpPr txBox="1"/>
          <p:nvPr/>
        </p:nvSpPr>
        <p:spPr>
          <a:xfrm>
            <a:off x="1554480" y="4937760"/>
            <a:ext cx="4297680" cy="5486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Wrap it in Suspense and stream it.</a:t>
            </a:r>
            <a:endParaRPr lang="en-US" sz="1300" dirty="0"/>
          </a:p>
        </p:txBody>
      </p:sp>
      <p:sp>
        <p:nvSpPr>
          <p:cNvPr id="27" name="Shape 23"/>
          <p:cNvSpPr/>
          <p:nvPr/>
        </p:nvSpPr>
        <p:spPr>
          <a:xfrm>
            <a:off x="6172200" y="4343400"/>
            <a:ext cx="5468112" cy="1188720"/>
          </a:xfrm>
          <a:prstGeom prst="roundRect">
            <a:avLst>
              <a:gd name="adj" fmla="val 9231"/>
            </a:avLst>
          </a:prstGeom>
          <a:solidFill>
            <a:srgbClr val="17143F"/>
          </a:solidFill>
          <a:ln w="12700">
            <a:solidFill>
              <a:srgbClr val="34D399"/>
            </a:solidFill>
            <a:prstDash val="solid"/>
          </a:ln>
        </p:spPr>
      </p:sp>
      <p:sp>
        <p:nvSpPr>
          <p:cNvPr id="28" name="Text 24"/>
          <p:cNvSpPr txBox="1"/>
          <p:nvPr/>
        </p:nvSpPr>
        <p:spPr>
          <a:xfrm>
            <a:off x="6400800" y="4663440"/>
            <a:ext cx="548640" cy="548640"/>
          </a:xfrm>
          <a:prstGeom prst="roundRect">
            <a:avLst>
              <a:gd name="adj" fmla="val 50000"/>
            </a:avLst>
          </a:prstGeom>
          <a:solidFill>
            <a:srgbClr val="34D399"/>
          </a:solidFill>
          <a:ln w="12700">
            <a:solidFill>
              <a:srgbClr val="34D399"/>
            </a:solidFill>
            <a:prstDash val="solid"/>
          </a:ln>
        </p:spPr>
        <p:txBody>
          <a:bodyPr wrap="square" lIns="0" tIns="0" rIns="0" bIns="0" rtlCol="0" anchor="ctr"/>
          <a:lstStyle/>
          <a:p>
            <a:pPr algn="ctr" indent="0" marL="0">
              <a:buNone/>
            </a:pPr>
            <a:r>
              <a:rPr lang="en-US" sz="2000" b="1" dirty="0">
                <a:solidFill>
                  <a:srgbClr val="0C0A20"/>
                </a:solidFill>
                <a:latin typeface="Calibri" pitchFamily="34" charset="0"/>
                <a:ea typeface="Calibri" pitchFamily="34" charset="-122"/>
                <a:cs typeface="Calibri" pitchFamily="34" charset="-120"/>
              </a:rPr>
              <a:t>6</a:t>
            </a:r>
            <a:endParaRPr lang="en-US" sz="2000" dirty="0"/>
          </a:p>
        </p:txBody>
      </p:sp>
      <p:sp>
        <p:nvSpPr>
          <p:cNvPr id="29" name="Text 25"/>
          <p:cNvSpPr txBox="1"/>
          <p:nvPr/>
        </p:nvSpPr>
        <p:spPr>
          <a:xfrm>
            <a:off x="7178040" y="4526280"/>
            <a:ext cx="4297680" cy="365760"/>
          </a:xfrm>
          <a:prstGeom prst="rect">
            <a:avLst/>
          </a:prstGeom>
          <a:noFill/>
          <a:ln/>
        </p:spPr>
        <p:txBody>
          <a:bodyPr wrap="square" lIns="0" tIns="0" rIns="0" bIns="0" rtlCol="0" anchor="t"/>
          <a:lstStyle/>
          <a:p>
            <a:pPr indent="0" marL="0">
              <a:buNone/>
            </a:pPr>
            <a:r>
              <a:rPr lang="en-US" sz="1700" b="1" dirty="0">
                <a:solidFill>
                  <a:srgbClr val="F4F3FF"/>
                </a:solidFill>
                <a:latin typeface="Calibri" pitchFamily="34" charset="0"/>
                <a:ea typeface="Calibri" pitchFamily="34" charset="-122"/>
                <a:cs typeface="Calibri" pitchFamily="34" charset="-120"/>
              </a:rPr>
              <a:t>Dynamic route with known pages?</a:t>
            </a:r>
            <a:endParaRPr lang="en-US" sz="1700" dirty="0"/>
          </a:p>
        </p:txBody>
      </p:sp>
      <p:sp>
        <p:nvSpPr>
          <p:cNvPr id="30" name="Text 26"/>
          <p:cNvSpPr txBox="1"/>
          <p:nvPr/>
        </p:nvSpPr>
        <p:spPr>
          <a:xfrm>
            <a:off x="7178040" y="4937760"/>
            <a:ext cx="4297680" cy="548640"/>
          </a:xfrm>
          <a:prstGeom prst="rect">
            <a:avLst/>
          </a:prstGeom>
          <a:noFill/>
          <a:ln/>
        </p:spPr>
        <p:txBody>
          <a:bodyPr wrap="square" lIns="0" tIns="0" rIns="0" bIns="0" rtlCol="0" anchor="t"/>
          <a:lstStyle/>
          <a:p>
            <a:pPr indent="0" marL="0">
              <a:buNone/>
            </a:pPr>
            <a:r>
              <a:rPr lang="en-US" sz="1300" dirty="0">
                <a:solidFill>
                  <a:srgbClr val="A8A5D8"/>
                </a:solidFill>
                <a:latin typeface="Calibri" pitchFamily="34" charset="0"/>
                <a:ea typeface="Calibri" pitchFamily="34" charset="-122"/>
                <a:cs typeface="Calibri" pitchFamily="34" charset="-120"/>
              </a:rPr>
              <a:t>Add generateStaticParams to pre-build them.</a:t>
            </a:r>
            <a:endParaRPr lang="en-US" sz="1300" dirty="0"/>
          </a:p>
        </p:txBody>
      </p:sp>
      <p:sp>
        <p:nvSpPr>
          <p:cNvPr id="31" name="Shape 27"/>
          <p:cNvSpPr/>
          <p:nvPr/>
        </p:nvSpPr>
        <p:spPr>
          <a:xfrm>
            <a:off x="548640" y="5669280"/>
            <a:ext cx="11091672" cy="548640"/>
          </a:xfrm>
          <a:prstGeom prst="roundRect">
            <a:avLst>
              <a:gd name="adj" fmla="val 20000"/>
            </a:avLst>
          </a:prstGeom>
          <a:solidFill>
            <a:srgbClr val="221E58"/>
          </a:solidFill>
          <a:ln w="12700">
            <a:solidFill>
              <a:srgbClr val="8B7CFF"/>
            </a:solidFill>
            <a:prstDash val="solid"/>
          </a:ln>
        </p:spPr>
      </p:sp>
      <p:pic>
        <p:nvPicPr>
          <p:cNvPr id="32" name="Image 1" descr="preencoded.png">    </p:cNvPr>
          <p:cNvPicPr>
            <a:picLocks noChangeAspect="1"/>
          </p:cNvPicPr>
          <p:nvPr/>
        </p:nvPicPr>
        <p:blipFill>
          <a:blip r:embed="rId3"/>
          <a:stretch>
            <a:fillRect/>
          </a:stretch>
        </p:blipFill>
        <p:spPr>
          <a:xfrm>
            <a:off x="777240" y="5788152"/>
            <a:ext cx="310896" cy="310896"/>
          </a:xfrm>
          <a:prstGeom prst="rect">
            <a:avLst/>
          </a:prstGeom>
        </p:spPr>
      </p:pic>
      <p:sp>
        <p:nvSpPr>
          <p:cNvPr id="33" name="Text 28"/>
          <p:cNvSpPr txBox="1"/>
          <p:nvPr/>
        </p:nvSpPr>
        <p:spPr>
          <a:xfrm>
            <a:off x="1280160" y="5669280"/>
            <a:ext cx="10058400" cy="548640"/>
          </a:xfrm>
          <a:prstGeom prst="rect">
            <a:avLst/>
          </a:prstGeom>
          <a:noFill/>
          <a:ln/>
        </p:spPr>
        <p:txBody>
          <a:bodyPr wrap="square" lIns="0" tIns="0" rIns="0" bIns="0" rtlCol="0" anchor="ctr"/>
          <a:lstStyle/>
          <a:p>
            <a:pPr indent="0" marL="0">
              <a:buNone/>
            </a:pPr>
            <a:r>
              <a:rPr lang="en-US" sz="1600" b="1" dirty="0">
                <a:solidFill>
                  <a:srgbClr val="F4F3FF"/>
                </a:solidFill>
                <a:latin typeface="Calibri" pitchFamily="34" charset="0"/>
                <a:ea typeface="Calibri" pitchFamily="34" charset="-122"/>
                <a:cs typeface="Calibri" pitchFamily="34" charset="-120"/>
              </a:rPr>
              <a:t>Self-check: can you explain how routing, rendering, data and caching connect?</a:t>
            </a:r>
            <a:endParaRPr lang="en-US" sz="16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PH-Full-Logo-Glow.png">    </p:cNvPr>
          <p:cNvPicPr>
            <a:picLocks noChangeAspect="1"/>
          </p:cNvPicPr>
          <p:nvPr/>
        </p:nvPicPr>
        <p:blipFill>
          <a:blip r:embed="rId2"/>
          <a:stretch>
            <a:fillRect/>
          </a:stretch>
        </p:blipFill>
        <p:spPr>
          <a:xfrm>
            <a:off x="502920" y="457200"/>
            <a:ext cx="2651760" cy="847649"/>
          </a:xfrm>
          <a:prstGeom prst="rect">
            <a:avLst/>
          </a:prstGeom>
        </p:spPr>
      </p:pic>
      <p:sp>
        <p:nvSpPr>
          <p:cNvPr id="3" name="Text 0"/>
          <p:cNvSpPr txBox="1"/>
          <p:nvPr/>
        </p:nvSpPr>
        <p:spPr>
          <a:xfrm>
            <a:off x="548640" y="2103120"/>
            <a:ext cx="7315200" cy="274320"/>
          </a:xfrm>
          <a:prstGeom prst="rect">
            <a:avLst/>
          </a:prstGeom>
          <a:noFill/>
          <a:ln/>
        </p:spPr>
        <p:txBody>
          <a:bodyPr wrap="square" lIns="0" tIns="0" rIns="0" bIns="0" rtlCol="0" anchor="t"/>
          <a:lstStyle/>
          <a:p>
            <a:pPr indent="0" marL="0">
              <a:buNone/>
            </a:pPr>
            <a:r>
              <a:rPr lang="en-US" sz="1300" b="1" spc="300" kern="0" dirty="0">
                <a:solidFill>
                  <a:srgbClr val="E64BDA"/>
                </a:solidFill>
                <a:latin typeface="Calibri" pitchFamily="34" charset="0"/>
                <a:ea typeface="Calibri" pitchFamily="34" charset="-122"/>
                <a:cs typeface="Calibri" pitchFamily="34" charset="-120"/>
              </a:rPr>
              <a:t>ONE CONNECTED SYSTEM</a:t>
            </a:r>
            <a:endParaRPr lang="en-US" sz="1300" dirty="0"/>
          </a:p>
        </p:txBody>
      </p:sp>
      <p:sp>
        <p:nvSpPr>
          <p:cNvPr id="4" name="Text 1"/>
          <p:cNvSpPr txBox="1"/>
          <p:nvPr/>
        </p:nvSpPr>
        <p:spPr>
          <a:xfrm>
            <a:off x="548640" y="2468880"/>
            <a:ext cx="8686800" cy="2377440"/>
          </a:xfrm>
          <a:prstGeom prst="rect">
            <a:avLst/>
          </a:prstGeom>
          <a:noFill/>
          <a:ln/>
        </p:spPr>
        <p:txBody>
          <a:bodyPr wrap="square" lIns="0" tIns="0" rIns="0" bIns="0" rtlCol="0" anchor="t"/>
          <a:lstStyle/>
          <a:p>
            <a:pPr indent="0" marL="0">
              <a:buNone/>
            </a:pPr>
            <a:r>
              <a:rPr lang="en-US" sz="4600" b="1" dirty="0">
                <a:solidFill>
                  <a:srgbClr val="F4F3FF"/>
                </a:solidFill>
                <a:latin typeface="Calibri" pitchFamily="34" charset="0"/>
                <a:ea typeface="Calibri" pitchFamily="34" charset="-122"/>
                <a:cs typeface="Calibri" pitchFamily="34" charset="-120"/>
              </a:rPr>
              <a:t>Route it. Componentize it.</a:t>
            </a:r>
            <a:endParaRPr lang="en-US" sz="4600" dirty="0"/>
          </a:p>
          <a:p>
            <a:pPr indent="0" marL="0">
              <a:buNone/>
            </a:pPr>
            <a:r>
              <a:rPr lang="en-US" sz="4600" b="1" dirty="0">
                <a:solidFill>
                  <a:srgbClr val="F4F3FF"/>
                </a:solidFill>
                <a:latin typeface="Calibri" pitchFamily="34" charset="0"/>
                <a:ea typeface="Calibri" pitchFamily="34" charset="-122"/>
                <a:cs typeface="Calibri" pitchFamily="34" charset="-120"/>
              </a:rPr>
              <a:t>Render it. Feed it.</a:t>
            </a:r>
            <a:endParaRPr lang="en-US" sz="4600" dirty="0"/>
          </a:p>
          <a:p>
            <a:pPr indent="0" marL="0">
              <a:buNone/>
            </a:pPr>
            <a:r>
              <a:rPr lang="en-US" sz="4600" b="1" dirty="0">
                <a:solidFill>
                  <a:srgbClr val="B7AEFF"/>
                </a:solidFill>
                <a:latin typeface="Calibri" pitchFamily="34" charset="0"/>
                <a:ea typeface="Calibri" pitchFamily="34" charset="-122"/>
                <a:cs typeface="Calibri" pitchFamily="34" charset="-120"/>
              </a:rPr>
              <a:t>Cache it. Stream it.</a:t>
            </a:r>
            <a:endParaRPr lang="en-US" sz="4600" dirty="0"/>
          </a:p>
        </p:txBody>
      </p:sp>
      <p:sp>
        <p:nvSpPr>
          <p:cNvPr id="5" name="Text 2"/>
          <p:cNvSpPr txBox="1"/>
          <p:nvPr/>
        </p:nvSpPr>
        <p:spPr>
          <a:xfrm>
            <a:off x="548640" y="5120640"/>
            <a:ext cx="8229600" cy="731520"/>
          </a:xfrm>
          <a:prstGeom prst="rect">
            <a:avLst/>
          </a:prstGeom>
          <a:noFill/>
          <a:ln/>
        </p:spPr>
        <p:txBody>
          <a:bodyPr wrap="square" lIns="0" tIns="0" rIns="0" bIns="0" rtlCol="0" anchor="t"/>
          <a:lstStyle/>
          <a:p>
            <a:pPr indent="0" marL="0">
              <a:buNone/>
            </a:pPr>
            <a:r>
              <a:rPr lang="en-US" sz="1800" dirty="0">
                <a:solidFill>
                  <a:srgbClr val="A8A5D8"/>
                </a:solidFill>
                <a:latin typeface="Calibri" pitchFamily="34" charset="0"/>
                <a:ea typeface="Calibri" pitchFamily="34" charset="-122"/>
                <a:cs typeface="Calibri" pitchFamily="34" charset="-120"/>
              </a:rPr>
              <a:t>Now go build something and ask: where, when, why, and how does it connect?</a:t>
            </a:r>
            <a:endParaRPr lang="en-US" sz="1800" dirty="0"/>
          </a:p>
        </p:txBody>
      </p:sp>
      <p:pic>
        <p:nvPicPr>
          <p:cNvPr id="6" name="Image 1" descr="assets/Glow-PH-Logomark.png">    </p:cNvPr>
          <p:cNvPicPr>
            <a:picLocks noChangeAspect="1"/>
          </p:cNvPicPr>
          <p:nvPr/>
        </p:nvPicPr>
        <p:blipFill>
          <a:blip r:embed="rId3"/>
          <a:stretch>
            <a:fillRect/>
          </a:stretch>
        </p:blipFill>
        <p:spPr>
          <a:xfrm>
            <a:off x="8778240" y="2103120"/>
            <a:ext cx="2743200" cy="2670048"/>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Next.js: The Mental Model</dc:title>
  <dc:subject>PptxGenJS Presentation</dc:subject>
  <dc:creator>Programming Hero</dc:creator>
  <cp:lastModifiedBy>Programming Hero</cp:lastModifiedBy>
  <cp:revision>1</cp:revision>
  <dcterms:created xsi:type="dcterms:W3CDTF">2026-09-20T11:19:20Z</dcterms:created>
  <dcterms:modified xsi:type="dcterms:W3CDTF">2026-09-20T11:19:20Z</dcterms:modified>
</cp:coreProperties>
</file>